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9" r:id="rId4"/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Raleway"/>
      <p:regular r:id="rId20"/>
      <p:bold r:id="rId21"/>
      <p:italic r:id="rId22"/>
      <p:boldItalic r:id="rId23"/>
    </p:embeddedFont>
    <p:embeddedFont>
      <p:font typeface="Open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22" Type="http://schemas.openxmlformats.org/officeDocument/2006/relationships/font" Target="fonts/Raleway-italic.fntdata"/><Relationship Id="rId21" Type="http://schemas.openxmlformats.org/officeDocument/2006/relationships/font" Target="fonts/Raleway-bold.fntdata"/><Relationship Id="rId24" Type="http://schemas.openxmlformats.org/officeDocument/2006/relationships/font" Target="fonts/OpenSans-regular.fntdata"/><Relationship Id="rId23" Type="http://schemas.openxmlformats.org/officeDocument/2006/relationships/font" Target="fonts/Raleway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OpenSans-italic.fntdata"/><Relationship Id="rId25" Type="http://schemas.openxmlformats.org/officeDocument/2006/relationships/font" Target="fonts/OpenSans-bold.fntdata"/><Relationship Id="rId27" Type="http://schemas.openxmlformats.org/officeDocument/2006/relationships/font" Target="fonts/Open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321d75206_2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e321d75206_2_7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321d75206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e321d75206_4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321d75206_4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e321d75206_4_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e321d75206_4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e321d75206_4_6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321d75206_4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e321d75206_4_9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e321d75206_4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e321d75206_4_1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e321d75206_4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e321d75206_4_16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e321d75206_4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e321d75206_4_18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e3428fa05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e3428fa05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e321d75206_4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3e321d75206_4_20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e321d75206_4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g3e321d75206_4_2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e3428fa05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3e3428fa05c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e321d75206_4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g3e321d75206_4_3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4500"/>
              <a:buFont typeface="Ralew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9898C"/>
              </a:buClr>
              <a:buSzPts val="1800"/>
              <a:buNone/>
              <a:defRPr sz="1800">
                <a:solidFill>
                  <a:srgbClr val="89898C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9898C"/>
              </a:buClr>
              <a:buSzPts val="1500"/>
              <a:buNone/>
              <a:defRPr sz="1500">
                <a:solidFill>
                  <a:srgbClr val="89898C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9898C"/>
              </a:buClr>
              <a:buSzPts val="1400"/>
              <a:buNone/>
              <a:defRPr sz="1400">
                <a:solidFill>
                  <a:srgbClr val="89898C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9898C"/>
              </a:buClr>
              <a:buSzPts val="1200"/>
              <a:buNone/>
              <a:defRPr sz="1200">
                <a:solidFill>
                  <a:srgbClr val="89898C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9898C"/>
              </a:buClr>
              <a:buSzPts val="1200"/>
              <a:buNone/>
              <a:defRPr sz="1200">
                <a:solidFill>
                  <a:srgbClr val="89898C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9898C"/>
              </a:buClr>
              <a:buSzPts val="1200"/>
              <a:buNone/>
              <a:defRPr sz="1200">
                <a:solidFill>
                  <a:srgbClr val="89898C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9898C"/>
              </a:buClr>
              <a:buSzPts val="1200"/>
              <a:buNone/>
              <a:defRPr sz="1200">
                <a:solidFill>
                  <a:srgbClr val="89898C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9898C"/>
              </a:buClr>
              <a:buSzPts val="1200"/>
              <a:buNone/>
              <a:defRPr sz="1200">
                <a:solidFill>
                  <a:srgbClr val="89898C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9898C"/>
              </a:buClr>
              <a:buSzPts val="1200"/>
              <a:buNone/>
              <a:defRPr sz="1200">
                <a:solidFill>
                  <a:srgbClr val="89898C"/>
                </a:solidFill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D2D44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D2D44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Ralew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D2D44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97" name="Google Shape;97;p20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D2D44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98" name="Google Shape;98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Ralew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1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D2D44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5" name="Google Shape;105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300"/>
              <a:buFont typeface="Raleway"/>
              <a:buNone/>
              <a:defRPr b="0" i="0" sz="3300" u="none" cap="none" strike="noStrike">
                <a:solidFill>
                  <a:srgbClr val="1A1A2E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D2D44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2D2D4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2D2D44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rgbClr val="2D2D44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D2D44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D2D44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D2D44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D2D44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D2D44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D2D44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D2D44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9898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9898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9898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9898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9898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9898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9898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9898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9898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9898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9898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0" y="4937288"/>
            <a:ext cx="2743200" cy="34290"/>
          </a:xfrm>
          <a:prstGeom prst="rect">
            <a:avLst/>
          </a:prstGeom>
          <a:solidFill>
            <a:srgbClr val="D4785C">
              <a:alpha val="4000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/>
        </p:nvSpPr>
        <p:spPr>
          <a:xfrm>
            <a:off x="-75" y="1581149"/>
            <a:ext cx="9144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Claude 101 </a:t>
            </a: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🎉</a:t>
            </a:r>
            <a:endParaRPr sz="1100"/>
          </a:p>
        </p:txBody>
      </p:sp>
      <p:sp>
        <p:nvSpPr>
          <p:cNvPr id="125" name="Google Shape;125;p24"/>
          <p:cNvSpPr txBox="1"/>
          <p:nvPr/>
        </p:nvSpPr>
        <p:spPr>
          <a:xfrm>
            <a:off x="0" y="2571750"/>
            <a:ext cx="9144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An introduction to </a:t>
            </a:r>
            <a:r>
              <a:rPr i="1"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Claude</a:t>
            </a: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how it works, and what it means for your data</a:t>
            </a:r>
            <a:endParaRPr sz="1100"/>
          </a:p>
        </p:txBody>
      </p:sp>
      <p:sp>
        <p:nvSpPr>
          <p:cNvPr id="126" name="Google Shape;126;p24"/>
          <p:cNvSpPr txBox="1"/>
          <p:nvPr/>
        </p:nvSpPr>
        <p:spPr>
          <a:xfrm>
            <a:off x="762000" y="3105150"/>
            <a:ext cx="76200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Standard Co     45-minute walkthrough</a:t>
            </a:r>
            <a:endParaRPr sz="1100"/>
          </a:p>
        </p:txBody>
      </p:sp>
      <p:sp>
        <p:nvSpPr>
          <p:cNvPr id="127" name="Google Shape;127;p24"/>
          <p:cNvSpPr txBox="1"/>
          <p:nvPr/>
        </p:nvSpPr>
        <p:spPr>
          <a:xfrm>
            <a:off x="3258772" y="1181838"/>
            <a:ext cx="2286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241452"/>
                </a:solidFill>
                <a:latin typeface="Raleway"/>
                <a:ea typeface="Raleway"/>
                <a:cs typeface="Raleway"/>
                <a:sym typeface="Raleway"/>
              </a:rPr>
              <a:t>STANDARD CO</a:t>
            </a:r>
            <a:endParaRPr sz="1100"/>
          </a:p>
        </p:txBody>
      </p:sp>
      <p:pic>
        <p:nvPicPr>
          <p:cNvPr id="128" name="Google Shape;1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21858" y="533800"/>
            <a:ext cx="681950" cy="533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62673" y="562375"/>
            <a:ext cx="571506" cy="476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Raleway"/>
              <a:buNone/>
            </a:pPr>
            <a:r>
              <a:rPr b="1" lang="en" sz="2400"/>
              <a:t>What we'll cover today</a:t>
            </a:r>
            <a:endParaRPr sz="1100"/>
          </a:p>
        </p:txBody>
      </p:sp>
      <p:sp>
        <p:nvSpPr>
          <p:cNvPr id="135" name="Google Shape;135;p25"/>
          <p:cNvSpPr/>
          <p:nvPr/>
        </p:nvSpPr>
        <p:spPr>
          <a:xfrm>
            <a:off x="476250" y="1285875"/>
            <a:ext cx="3714750" cy="1476375"/>
          </a:xfrm>
          <a:prstGeom prst="roundRect">
            <a:avLst>
              <a:gd fmla="val 16667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6" name="Google Shape;136;p25"/>
          <p:cNvSpPr/>
          <p:nvPr/>
        </p:nvSpPr>
        <p:spPr>
          <a:xfrm>
            <a:off x="647700" y="1438275"/>
            <a:ext cx="381000" cy="381000"/>
          </a:xfrm>
          <a:prstGeom prst="ellipse">
            <a:avLst/>
          </a:prstGeom>
          <a:solidFill>
            <a:srgbClr val="2414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💬</a:t>
            </a:r>
            <a:endParaRPr sz="1100"/>
          </a:p>
        </p:txBody>
      </p:sp>
      <p:sp>
        <p:nvSpPr>
          <p:cNvPr id="137" name="Google Shape;137;p25"/>
          <p:cNvSpPr txBox="1"/>
          <p:nvPr/>
        </p:nvSpPr>
        <p:spPr>
          <a:xfrm>
            <a:off x="1123950" y="1419225"/>
            <a:ext cx="29051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241452"/>
                </a:solidFill>
                <a:latin typeface="Open Sans"/>
                <a:ea typeface="Open Sans"/>
                <a:cs typeface="Open Sans"/>
                <a:sym typeface="Open Sans"/>
              </a:rPr>
              <a:t>What Claude is</a:t>
            </a:r>
            <a:endParaRPr sz="1100"/>
          </a:p>
        </p:txBody>
      </p:sp>
      <p:sp>
        <p:nvSpPr>
          <p:cNvPr id="138" name="Google Shape;138;p25"/>
          <p:cNvSpPr txBox="1"/>
          <p:nvPr/>
        </p:nvSpPr>
        <p:spPr>
          <a:xfrm>
            <a:off x="1123950" y="1743075"/>
            <a:ext cx="2905125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Who built it, what it does, and how you actually use it. We'll demystify the basics in plain English.</a:t>
            </a:r>
            <a:endParaRPr sz="1100"/>
          </a:p>
        </p:txBody>
      </p:sp>
      <p:sp>
        <p:nvSpPr>
          <p:cNvPr id="139" name="Google Shape;139;p25"/>
          <p:cNvSpPr/>
          <p:nvPr/>
        </p:nvSpPr>
        <p:spPr>
          <a:xfrm>
            <a:off x="4381500" y="1285875"/>
            <a:ext cx="3714750" cy="1476375"/>
          </a:xfrm>
          <a:prstGeom prst="roundRect">
            <a:avLst>
              <a:gd fmla="val 16667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" name="Google Shape;140;p25"/>
          <p:cNvSpPr/>
          <p:nvPr/>
        </p:nvSpPr>
        <p:spPr>
          <a:xfrm>
            <a:off x="4552950" y="1438275"/>
            <a:ext cx="381000" cy="381000"/>
          </a:xfrm>
          <a:prstGeom prst="ellipse">
            <a:avLst/>
          </a:prstGeom>
          <a:solidFill>
            <a:srgbClr val="2414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🧠</a:t>
            </a:r>
            <a:endParaRPr sz="1100"/>
          </a:p>
        </p:txBody>
      </p:sp>
      <p:sp>
        <p:nvSpPr>
          <p:cNvPr id="141" name="Google Shape;141;p25"/>
          <p:cNvSpPr txBox="1"/>
          <p:nvPr/>
        </p:nvSpPr>
        <p:spPr>
          <a:xfrm>
            <a:off x="5029200" y="1419225"/>
            <a:ext cx="29051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241452"/>
                </a:solidFill>
                <a:latin typeface="Open Sans"/>
                <a:ea typeface="Open Sans"/>
                <a:cs typeface="Open Sans"/>
                <a:sym typeface="Open Sans"/>
              </a:rPr>
              <a:t>How it works</a:t>
            </a:r>
            <a:endParaRPr sz="1100"/>
          </a:p>
        </p:txBody>
      </p:sp>
      <p:sp>
        <p:nvSpPr>
          <p:cNvPr id="142" name="Google Shape;142;p25"/>
          <p:cNvSpPr txBox="1"/>
          <p:nvPr/>
        </p:nvSpPr>
        <p:spPr>
          <a:xfrm>
            <a:off x="5029200" y="1743075"/>
            <a:ext cx="2905125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The 60-second version of large language models — including what Claude is good at, where it trips up, and how to prompt it well.</a:t>
            </a:r>
            <a:endParaRPr sz="1100"/>
          </a:p>
        </p:txBody>
      </p:sp>
      <p:sp>
        <p:nvSpPr>
          <p:cNvPr id="143" name="Google Shape;143;p25"/>
          <p:cNvSpPr/>
          <p:nvPr/>
        </p:nvSpPr>
        <p:spPr>
          <a:xfrm>
            <a:off x="476250" y="2914650"/>
            <a:ext cx="3714750" cy="1476375"/>
          </a:xfrm>
          <a:prstGeom prst="roundRect">
            <a:avLst>
              <a:gd fmla="val 16667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4" name="Google Shape;144;p25"/>
          <p:cNvSpPr/>
          <p:nvPr/>
        </p:nvSpPr>
        <p:spPr>
          <a:xfrm>
            <a:off x="647700" y="3067050"/>
            <a:ext cx="381000" cy="381000"/>
          </a:xfrm>
          <a:prstGeom prst="ellipse">
            <a:avLst/>
          </a:prstGeom>
          <a:solidFill>
            <a:srgbClr val="2414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📚</a:t>
            </a:r>
            <a:endParaRPr sz="1100"/>
          </a:p>
        </p:txBody>
      </p:sp>
      <p:sp>
        <p:nvSpPr>
          <p:cNvPr id="145" name="Google Shape;145;p25"/>
          <p:cNvSpPr txBox="1"/>
          <p:nvPr/>
        </p:nvSpPr>
        <p:spPr>
          <a:xfrm>
            <a:off x="1123950" y="3048000"/>
            <a:ext cx="29051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241452"/>
                </a:solidFill>
                <a:latin typeface="Open Sans"/>
                <a:ea typeface="Open Sans"/>
                <a:cs typeface="Open Sans"/>
                <a:sym typeface="Open Sans"/>
              </a:rPr>
              <a:t>What RAG is</a:t>
            </a:r>
            <a:endParaRPr sz="1100"/>
          </a:p>
        </p:txBody>
      </p:sp>
      <p:sp>
        <p:nvSpPr>
          <p:cNvPr id="146" name="Google Shape;146;p25"/>
          <p:cNvSpPr txBox="1"/>
          <p:nvPr/>
        </p:nvSpPr>
        <p:spPr>
          <a:xfrm>
            <a:off x="1123950" y="3371850"/>
            <a:ext cx="2905125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Retrieval-Augmented Generation — the technique that lets Claude answer questions using YOUR documents and data.</a:t>
            </a:r>
            <a:endParaRPr sz="1100"/>
          </a:p>
        </p:txBody>
      </p:sp>
      <p:sp>
        <p:nvSpPr>
          <p:cNvPr id="147" name="Google Shape;147;p25"/>
          <p:cNvSpPr/>
          <p:nvPr/>
        </p:nvSpPr>
        <p:spPr>
          <a:xfrm>
            <a:off x="4381500" y="2914650"/>
            <a:ext cx="3714750" cy="1476375"/>
          </a:xfrm>
          <a:prstGeom prst="roundRect">
            <a:avLst>
              <a:gd fmla="val 16667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8" name="Google Shape;148;p25"/>
          <p:cNvSpPr/>
          <p:nvPr/>
        </p:nvSpPr>
        <p:spPr>
          <a:xfrm>
            <a:off x="4552950" y="3067050"/>
            <a:ext cx="381000" cy="381000"/>
          </a:xfrm>
          <a:prstGeom prst="ellipse">
            <a:avLst/>
          </a:prstGeom>
          <a:solidFill>
            <a:srgbClr val="2414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🚀</a:t>
            </a:r>
            <a:endParaRPr sz="1100"/>
          </a:p>
        </p:txBody>
      </p:sp>
      <p:sp>
        <p:nvSpPr>
          <p:cNvPr id="149" name="Google Shape;149;p25"/>
          <p:cNvSpPr txBox="1"/>
          <p:nvPr/>
        </p:nvSpPr>
        <p:spPr>
          <a:xfrm>
            <a:off x="5029200" y="3048000"/>
            <a:ext cx="29051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241452"/>
                </a:solidFill>
                <a:latin typeface="Open Sans"/>
                <a:ea typeface="Open Sans"/>
                <a:cs typeface="Open Sans"/>
                <a:sym typeface="Open Sans"/>
              </a:rPr>
              <a:t>Where this can go</a:t>
            </a:r>
            <a:endParaRPr sz="1100"/>
          </a:p>
        </p:txBody>
      </p:sp>
      <p:sp>
        <p:nvSpPr>
          <p:cNvPr id="150" name="Google Shape;150;p25"/>
          <p:cNvSpPr txBox="1"/>
          <p:nvPr/>
        </p:nvSpPr>
        <p:spPr>
          <a:xfrm>
            <a:off x="5029200" y="3371850"/>
            <a:ext cx="29052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Agents, custom connectors, and what becomes possible once Claude is wired into how your organization actually runs.</a:t>
            </a:r>
            <a:endParaRPr sz="1100"/>
          </a:p>
        </p:txBody>
      </p:sp>
      <p:sp>
        <p:nvSpPr>
          <p:cNvPr id="151" name="Google Shape;151;p25"/>
          <p:cNvSpPr/>
          <p:nvPr/>
        </p:nvSpPr>
        <p:spPr>
          <a:xfrm>
            <a:off x="476250" y="4543425"/>
            <a:ext cx="8191500" cy="38100"/>
          </a:xfrm>
          <a:prstGeom prst="rect">
            <a:avLst/>
          </a:prstGeom>
          <a:solidFill>
            <a:srgbClr val="24145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" name="Google Shape;152;p25"/>
          <p:cNvSpPr txBox="1"/>
          <p:nvPr/>
        </p:nvSpPr>
        <p:spPr>
          <a:xfrm>
            <a:off x="476250" y="4619625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45 minutes. No prior AI knowledge required. Bring your questions.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Raleway"/>
              <a:buNone/>
            </a:pPr>
            <a:r>
              <a:rPr b="1" lang="en" sz="2400"/>
              <a:t>What is Claude?</a:t>
            </a:r>
            <a:endParaRPr sz="1100"/>
          </a:p>
        </p:txBody>
      </p:sp>
      <p:sp>
        <p:nvSpPr>
          <p:cNvPr id="158" name="Google Shape;158;p26"/>
          <p:cNvSpPr/>
          <p:nvPr/>
        </p:nvSpPr>
        <p:spPr>
          <a:xfrm>
            <a:off x="476250" y="1285875"/>
            <a:ext cx="8191500" cy="666750"/>
          </a:xfrm>
          <a:prstGeom prst="roundRect">
            <a:avLst>
              <a:gd fmla="val 16667" name="adj"/>
            </a:avLst>
          </a:prstGeom>
          <a:solidFill>
            <a:srgbClr val="24145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9" name="Google Shape;159;p26"/>
          <p:cNvSpPr txBox="1"/>
          <p:nvPr/>
        </p:nvSpPr>
        <p:spPr>
          <a:xfrm>
            <a:off x="666750" y="1381125"/>
            <a:ext cx="7810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Claude is an AI assistant built by Anthropic. You talk to it in plain English — it reasons, writes, analyzes, summarizes, and can even use tools on your behalf.</a:t>
            </a:r>
            <a:endParaRPr sz="1100"/>
          </a:p>
        </p:txBody>
      </p:sp>
      <p:sp>
        <p:nvSpPr>
          <p:cNvPr id="160" name="Google Shape;160;p26"/>
          <p:cNvSpPr/>
          <p:nvPr/>
        </p:nvSpPr>
        <p:spPr>
          <a:xfrm>
            <a:off x="476250" y="2143125"/>
            <a:ext cx="2571750" cy="1666875"/>
          </a:xfrm>
          <a:prstGeom prst="roundRect">
            <a:avLst>
              <a:gd fmla="val 16667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1" name="Google Shape;161;p26"/>
          <p:cNvSpPr/>
          <p:nvPr/>
        </p:nvSpPr>
        <p:spPr>
          <a:xfrm>
            <a:off x="1552575" y="2276475"/>
            <a:ext cx="419100" cy="419100"/>
          </a:xfrm>
          <a:prstGeom prst="ellipse">
            <a:avLst/>
          </a:prstGeom>
          <a:solidFill>
            <a:srgbClr val="2414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🏢</a:t>
            </a:r>
            <a:endParaRPr sz="1100"/>
          </a:p>
        </p:txBody>
      </p:sp>
      <p:sp>
        <p:nvSpPr>
          <p:cNvPr id="162" name="Google Shape;162;p26"/>
          <p:cNvSpPr txBox="1"/>
          <p:nvPr/>
        </p:nvSpPr>
        <p:spPr>
          <a:xfrm>
            <a:off x="571500" y="2752725"/>
            <a:ext cx="2381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41452"/>
                </a:solidFill>
                <a:latin typeface="Open Sans"/>
                <a:ea typeface="Open Sans"/>
                <a:cs typeface="Open Sans"/>
                <a:sym typeface="Open Sans"/>
              </a:rPr>
              <a:t>Built by Anthropic</a:t>
            </a:r>
            <a:endParaRPr sz="1100"/>
          </a:p>
        </p:txBody>
      </p:sp>
      <p:sp>
        <p:nvSpPr>
          <p:cNvPr id="163" name="Google Shape;163;p26"/>
          <p:cNvSpPr txBox="1"/>
          <p:nvPr/>
        </p:nvSpPr>
        <p:spPr>
          <a:xfrm>
            <a:off x="609600" y="3038475"/>
            <a:ext cx="23050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AI safety company founded in 2021, headquartered in San Francisco. Mission: build AI that's helpful, harmless, and honest.</a:t>
            </a:r>
            <a:endParaRPr sz="1100"/>
          </a:p>
        </p:txBody>
      </p:sp>
      <p:sp>
        <p:nvSpPr>
          <p:cNvPr id="164" name="Google Shape;164;p26"/>
          <p:cNvSpPr/>
          <p:nvPr/>
        </p:nvSpPr>
        <p:spPr>
          <a:xfrm>
            <a:off x="3286125" y="2143125"/>
            <a:ext cx="2571750" cy="1666875"/>
          </a:xfrm>
          <a:prstGeom prst="roundRect">
            <a:avLst>
              <a:gd fmla="val 16667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5" name="Google Shape;165;p26"/>
          <p:cNvSpPr/>
          <p:nvPr/>
        </p:nvSpPr>
        <p:spPr>
          <a:xfrm>
            <a:off x="4362450" y="2276475"/>
            <a:ext cx="419100" cy="419100"/>
          </a:xfrm>
          <a:prstGeom prst="ellipse">
            <a:avLst/>
          </a:prstGeom>
          <a:solidFill>
            <a:srgbClr val="2414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🎚️</a:t>
            </a:r>
            <a:endParaRPr sz="1100"/>
          </a:p>
        </p:txBody>
      </p:sp>
      <p:sp>
        <p:nvSpPr>
          <p:cNvPr id="166" name="Google Shape;166;p26"/>
          <p:cNvSpPr txBox="1"/>
          <p:nvPr/>
        </p:nvSpPr>
        <p:spPr>
          <a:xfrm>
            <a:off x="3381375" y="2752725"/>
            <a:ext cx="2381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41452"/>
                </a:solidFill>
                <a:latin typeface="Open Sans"/>
                <a:ea typeface="Open Sans"/>
                <a:cs typeface="Open Sans"/>
                <a:sym typeface="Open Sans"/>
              </a:rPr>
              <a:t>A family of models</a:t>
            </a:r>
            <a:endParaRPr sz="1100"/>
          </a:p>
        </p:txBody>
      </p:sp>
      <p:sp>
        <p:nvSpPr>
          <p:cNvPr id="167" name="Google Shape;167;p26"/>
          <p:cNvSpPr txBox="1"/>
          <p:nvPr/>
        </p:nvSpPr>
        <p:spPr>
          <a:xfrm>
            <a:off x="3419475" y="3038475"/>
            <a:ext cx="23050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Different sizes for different jobs — Opus, Sonnet, Haiku. You pick the balance of speed, cost, and depth that fits the task.</a:t>
            </a:r>
            <a:endParaRPr sz="1100"/>
          </a:p>
        </p:txBody>
      </p:sp>
      <p:sp>
        <p:nvSpPr>
          <p:cNvPr id="168" name="Google Shape;168;p26"/>
          <p:cNvSpPr/>
          <p:nvPr/>
        </p:nvSpPr>
        <p:spPr>
          <a:xfrm>
            <a:off x="6096000" y="2143125"/>
            <a:ext cx="2571750" cy="1666875"/>
          </a:xfrm>
          <a:prstGeom prst="roundRect">
            <a:avLst>
              <a:gd fmla="val 16667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9" name="Google Shape;169;p26"/>
          <p:cNvSpPr/>
          <p:nvPr/>
        </p:nvSpPr>
        <p:spPr>
          <a:xfrm>
            <a:off x="7172325" y="2276475"/>
            <a:ext cx="419100" cy="419100"/>
          </a:xfrm>
          <a:prstGeom prst="ellipse">
            <a:avLst/>
          </a:prstGeom>
          <a:solidFill>
            <a:srgbClr val="2414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🌐</a:t>
            </a:r>
            <a:endParaRPr sz="1100"/>
          </a:p>
        </p:txBody>
      </p:sp>
      <p:sp>
        <p:nvSpPr>
          <p:cNvPr id="170" name="Google Shape;170;p26"/>
          <p:cNvSpPr txBox="1"/>
          <p:nvPr/>
        </p:nvSpPr>
        <p:spPr>
          <a:xfrm>
            <a:off x="6191250" y="2752725"/>
            <a:ext cx="2381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41452"/>
                </a:solidFill>
                <a:latin typeface="Open Sans"/>
                <a:ea typeface="Open Sans"/>
                <a:cs typeface="Open Sans"/>
                <a:sym typeface="Open Sans"/>
              </a:rPr>
              <a:t>Many ways to use it</a:t>
            </a:r>
            <a:endParaRPr sz="1100"/>
          </a:p>
        </p:txBody>
      </p:sp>
      <p:sp>
        <p:nvSpPr>
          <p:cNvPr id="171" name="Google Shape;171;p26"/>
          <p:cNvSpPr txBox="1"/>
          <p:nvPr/>
        </p:nvSpPr>
        <p:spPr>
          <a:xfrm>
            <a:off x="6229350" y="3038475"/>
            <a:ext cx="23050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Chat in a browser, work in a desktop app, embed it via API, or integrate it with the software your team already uses.</a:t>
            </a:r>
            <a:endParaRPr sz="1100"/>
          </a:p>
        </p:txBody>
      </p:sp>
      <p:sp>
        <p:nvSpPr>
          <p:cNvPr id="172" name="Google Shape;172;p26"/>
          <p:cNvSpPr/>
          <p:nvPr/>
        </p:nvSpPr>
        <p:spPr>
          <a:xfrm>
            <a:off x="476250" y="4000500"/>
            <a:ext cx="8191500" cy="533400"/>
          </a:xfrm>
          <a:prstGeom prst="roundRect">
            <a:avLst>
              <a:gd fmla="val 16667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3" name="Google Shape;173;p26"/>
          <p:cNvSpPr/>
          <p:nvPr/>
        </p:nvSpPr>
        <p:spPr>
          <a:xfrm>
            <a:off x="476250" y="4076700"/>
            <a:ext cx="47625" cy="381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4" name="Google Shape;174;p26"/>
          <p:cNvSpPr txBox="1"/>
          <p:nvPr/>
        </p:nvSpPr>
        <p:spPr>
          <a:xfrm>
            <a:off x="666750" y="4076700"/>
            <a:ext cx="7810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Think of Claude as a brilliant, fast collaborator who reads, writes, and reasons — and can scale across thousands of tasks at once.</a:t>
            </a:r>
            <a:endParaRPr sz="1100"/>
          </a:p>
        </p:txBody>
      </p:sp>
      <p:pic>
        <p:nvPicPr>
          <p:cNvPr id="175" name="Google Shape;17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0" y="285750"/>
            <a:ext cx="4762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Raleway"/>
              <a:buNone/>
            </a:pPr>
            <a:r>
              <a:rPr b="1" lang="en" sz="2400"/>
              <a:t>The LLM landscape</a:t>
            </a:r>
            <a:endParaRPr sz="1100"/>
          </a:p>
        </p:txBody>
      </p:sp>
      <p:sp>
        <p:nvSpPr>
          <p:cNvPr id="181" name="Google Shape;181;p27"/>
          <p:cNvSpPr/>
          <p:nvPr/>
        </p:nvSpPr>
        <p:spPr>
          <a:xfrm>
            <a:off x="476250" y="1451406"/>
            <a:ext cx="8191500" cy="552450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2" name="Google Shape;182;p27"/>
          <p:cNvSpPr txBox="1"/>
          <p:nvPr/>
        </p:nvSpPr>
        <p:spPr>
          <a:xfrm>
            <a:off x="666750" y="1527606"/>
            <a:ext cx="7810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Claude is one of several major AI models. Here's how they compare — and why Claude leads on enterprise.</a:t>
            </a:r>
            <a:endParaRPr sz="1100"/>
          </a:p>
        </p:txBody>
      </p:sp>
      <p:sp>
        <p:nvSpPr>
          <p:cNvPr id="183" name="Google Shape;183;p27"/>
          <p:cNvSpPr/>
          <p:nvPr/>
        </p:nvSpPr>
        <p:spPr>
          <a:xfrm>
            <a:off x="476250" y="2156513"/>
            <a:ext cx="4191000" cy="857250"/>
          </a:xfrm>
          <a:prstGeom prst="roundRect">
            <a:avLst>
              <a:gd fmla="val 16667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4" name="Google Shape;184;p27"/>
          <p:cNvSpPr/>
          <p:nvPr/>
        </p:nvSpPr>
        <p:spPr>
          <a:xfrm>
            <a:off x="476250" y="2251763"/>
            <a:ext cx="41910" cy="66675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5" name="Google Shape;185;p27"/>
          <p:cNvSpPr txBox="1"/>
          <p:nvPr/>
        </p:nvSpPr>
        <p:spPr>
          <a:xfrm>
            <a:off x="628650" y="2270813"/>
            <a:ext cx="3855720" cy="2539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41452"/>
                </a:solidFill>
                <a:latin typeface="Open Sans"/>
                <a:ea typeface="Open Sans"/>
                <a:cs typeface="Open Sans"/>
                <a:sym typeface="Open Sans"/>
              </a:rPr>
              <a:t>🏢  Anthropic — Claude</a:t>
            </a:r>
            <a:endParaRPr sz="1100"/>
          </a:p>
        </p:txBody>
      </p:sp>
      <p:sp>
        <p:nvSpPr>
          <p:cNvPr id="186" name="Google Shape;186;p27"/>
          <p:cNvSpPr txBox="1"/>
          <p:nvPr/>
        </p:nvSpPr>
        <p:spPr>
          <a:xfrm>
            <a:off x="628650" y="2479559"/>
            <a:ext cx="3855720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Best-in-class at long-context reasoning, careful writing, and following nuanced instructions. Built by ex-OpenAI safety researchers.</a:t>
            </a:r>
            <a:endParaRPr sz="1100"/>
          </a:p>
        </p:txBody>
      </p:sp>
      <p:sp>
        <p:nvSpPr>
          <p:cNvPr id="187" name="Google Shape;187;p27"/>
          <p:cNvSpPr/>
          <p:nvPr/>
        </p:nvSpPr>
        <p:spPr>
          <a:xfrm>
            <a:off x="4476750" y="2156513"/>
            <a:ext cx="4191000" cy="857250"/>
          </a:xfrm>
          <a:prstGeom prst="roundRect">
            <a:avLst>
              <a:gd fmla="val 16667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8" name="Google Shape;188;p27"/>
          <p:cNvSpPr/>
          <p:nvPr/>
        </p:nvSpPr>
        <p:spPr>
          <a:xfrm>
            <a:off x="4476750" y="2251763"/>
            <a:ext cx="41910" cy="66675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9" name="Google Shape;189;p27"/>
          <p:cNvSpPr txBox="1"/>
          <p:nvPr/>
        </p:nvSpPr>
        <p:spPr>
          <a:xfrm>
            <a:off x="4629150" y="2270813"/>
            <a:ext cx="3855720" cy="2539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41452"/>
                </a:solidFill>
                <a:latin typeface="Open Sans"/>
                <a:ea typeface="Open Sans"/>
                <a:cs typeface="Open Sans"/>
                <a:sym typeface="Open Sans"/>
              </a:rPr>
              <a:t>💡  OpenAI — ChatGPT</a:t>
            </a:r>
            <a:endParaRPr sz="1100"/>
          </a:p>
        </p:txBody>
      </p:sp>
      <p:sp>
        <p:nvSpPr>
          <p:cNvPr id="190" name="Google Shape;190;p27"/>
          <p:cNvSpPr txBox="1"/>
          <p:nvPr/>
        </p:nvSpPr>
        <p:spPr>
          <a:xfrm>
            <a:off x="4621530" y="2468002"/>
            <a:ext cx="3855720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The household name. Broad recognition, fast feature releases. Mixed track record on enterprise data handling; can drift on long tasks.</a:t>
            </a:r>
            <a:endParaRPr sz="1100"/>
          </a:p>
        </p:txBody>
      </p:sp>
      <p:sp>
        <p:nvSpPr>
          <p:cNvPr id="191" name="Google Shape;191;p27"/>
          <p:cNvSpPr/>
          <p:nvPr/>
        </p:nvSpPr>
        <p:spPr>
          <a:xfrm>
            <a:off x="476250" y="3147113"/>
            <a:ext cx="4191000" cy="857250"/>
          </a:xfrm>
          <a:prstGeom prst="roundRect">
            <a:avLst>
              <a:gd fmla="val 16667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2" name="Google Shape;192;p27"/>
          <p:cNvSpPr/>
          <p:nvPr/>
        </p:nvSpPr>
        <p:spPr>
          <a:xfrm>
            <a:off x="476250" y="3242363"/>
            <a:ext cx="41910" cy="66675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3" name="Google Shape;193;p27"/>
          <p:cNvSpPr txBox="1"/>
          <p:nvPr/>
        </p:nvSpPr>
        <p:spPr>
          <a:xfrm>
            <a:off x="628650" y="3261413"/>
            <a:ext cx="3855720" cy="2539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41452"/>
                </a:solidFill>
                <a:latin typeface="Open Sans"/>
                <a:ea typeface="Open Sans"/>
                <a:cs typeface="Open Sans"/>
                <a:sym typeface="Open Sans"/>
              </a:rPr>
              <a:t>🔍  Google — Gemini</a:t>
            </a:r>
            <a:endParaRPr sz="1100"/>
          </a:p>
        </p:txBody>
      </p:sp>
      <p:sp>
        <p:nvSpPr>
          <p:cNvPr id="194" name="Google Shape;194;p27"/>
          <p:cNvSpPr txBox="1"/>
          <p:nvPr/>
        </p:nvSpPr>
        <p:spPr>
          <a:xfrm>
            <a:off x="628650" y="3452471"/>
            <a:ext cx="3855720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Tightly integrated with Google Workspace. Strong on multimodal tasks (images, video). Generally less polished on nuanced writing and reasoning than Claude.</a:t>
            </a:r>
            <a:endParaRPr sz="1100"/>
          </a:p>
        </p:txBody>
      </p:sp>
      <p:sp>
        <p:nvSpPr>
          <p:cNvPr id="195" name="Google Shape;195;p27"/>
          <p:cNvSpPr/>
          <p:nvPr/>
        </p:nvSpPr>
        <p:spPr>
          <a:xfrm>
            <a:off x="4476750" y="3147113"/>
            <a:ext cx="4191000" cy="857250"/>
          </a:xfrm>
          <a:prstGeom prst="roundRect">
            <a:avLst>
              <a:gd fmla="val 16667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6" name="Google Shape;196;p27"/>
          <p:cNvSpPr/>
          <p:nvPr/>
        </p:nvSpPr>
        <p:spPr>
          <a:xfrm>
            <a:off x="4476750" y="3242363"/>
            <a:ext cx="41910" cy="66675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7" name="Google Shape;197;p27"/>
          <p:cNvSpPr txBox="1"/>
          <p:nvPr/>
        </p:nvSpPr>
        <p:spPr>
          <a:xfrm>
            <a:off x="4629150" y="3261413"/>
            <a:ext cx="3855720" cy="2539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41452"/>
                </a:solidFill>
                <a:latin typeface="Open Sans"/>
                <a:ea typeface="Open Sans"/>
                <a:cs typeface="Open Sans"/>
                <a:sym typeface="Open Sans"/>
              </a:rPr>
              <a:t>🛠️  Open source — Llama, Mistral</a:t>
            </a:r>
            <a:endParaRPr sz="1100"/>
          </a:p>
        </p:txBody>
      </p:sp>
      <p:sp>
        <p:nvSpPr>
          <p:cNvPr id="198" name="Google Shape;198;p27"/>
          <p:cNvSpPr txBox="1"/>
          <p:nvPr/>
        </p:nvSpPr>
        <p:spPr>
          <a:xfrm>
            <a:off x="4629150" y="3500096"/>
            <a:ext cx="3855720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Free to self-host with full control. Trade-off: meaningfully lower capability and you maintain the infrastructure. Useful for narrow, specific tasks.</a:t>
            </a:r>
            <a:endParaRPr sz="1100"/>
          </a:p>
        </p:txBody>
      </p:sp>
      <p:sp>
        <p:nvSpPr>
          <p:cNvPr id="199" name="Google Shape;199;p27"/>
          <p:cNvSpPr/>
          <p:nvPr/>
        </p:nvSpPr>
        <p:spPr>
          <a:xfrm>
            <a:off x="476250" y="4185338"/>
            <a:ext cx="8191500" cy="533400"/>
          </a:xfrm>
          <a:prstGeom prst="roundRect">
            <a:avLst>
              <a:gd fmla="val 16667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0" name="Google Shape;200;p27"/>
          <p:cNvSpPr/>
          <p:nvPr/>
        </p:nvSpPr>
        <p:spPr>
          <a:xfrm>
            <a:off x="476250" y="4280588"/>
            <a:ext cx="47625" cy="342900"/>
          </a:xfrm>
          <a:prstGeom prst="rect">
            <a:avLst/>
          </a:prstGeom>
          <a:solidFill>
            <a:srgbClr val="24145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1" name="Google Shape;201;p27"/>
          <p:cNvSpPr txBox="1"/>
          <p:nvPr/>
        </p:nvSpPr>
        <p:spPr>
          <a:xfrm>
            <a:off x="666750" y="4242488"/>
            <a:ext cx="7810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Why Claude for enterprise: strongest on careful reasoning, transparent on safety, best on long documents, and built by a team where data privacy is a founding principle.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Raleway"/>
              <a:buNone/>
            </a:pPr>
            <a:r>
              <a:rPr b="1" lang="en" sz="2400"/>
              <a:t>What Claude does well</a:t>
            </a:r>
            <a:endParaRPr sz="1100"/>
          </a:p>
        </p:txBody>
      </p:sp>
      <p:sp>
        <p:nvSpPr>
          <p:cNvPr id="207" name="Google Shape;207;p28"/>
          <p:cNvSpPr/>
          <p:nvPr/>
        </p:nvSpPr>
        <p:spPr>
          <a:xfrm>
            <a:off x="476250" y="1451406"/>
            <a:ext cx="8191500" cy="552450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8" name="Google Shape;208;p28"/>
          <p:cNvSpPr txBox="1"/>
          <p:nvPr/>
        </p:nvSpPr>
        <p:spPr>
          <a:xfrm>
            <a:off x="666750" y="1527606"/>
            <a:ext cx="7810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Claude punches above its weight on these four. Each has direct relevance to how your team works with information.</a:t>
            </a:r>
            <a:endParaRPr sz="1100"/>
          </a:p>
        </p:txBody>
      </p:sp>
      <p:sp>
        <p:nvSpPr>
          <p:cNvPr id="209" name="Google Shape;209;p28"/>
          <p:cNvSpPr/>
          <p:nvPr/>
        </p:nvSpPr>
        <p:spPr>
          <a:xfrm>
            <a:off x="476250" y="2156513"/>
            <a:ext cx="4191000" cy="857250"/>
          </a:xfrm>
          <a:prstGeom prst="roundRect">
            <a:avLst>
              <a:gd fmla="val 16667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0" name="Google Shape;210;p28"/>
          <p:cNvSpPr/>
          <p:nvPr/>
        </p:nvSpPr>
        <p:spPr>
          <a:xfrm>
            <a:off x="476250" y="2251763"/>
            <a:ext cx="41910" cy="66675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1" name="Google Shape;211;p28"/>
          <p:cNvSpPr txBox="1"/>
          <p:nvPr/>
        </p:nvSpPr>
        <p:spPr>
          <a:xfrm>
            <a:off x="628650" y="2270813"/>
            <a:ext cx="3855720" cy="2539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41452"/>
                </a:solidFill>
                <a:latin typeface="Open Sans"/>
                <a:ea typeface="Open Sans"/>
                <a:cs typeface="Open Sans"/>
                <a:sym typeface="Open Sans"/>
              </a:rPr>
              <a:t>✍️  Writing &amp; editing</a:t>
            </a:r>
            <a:endParaRPr sz="1100"/>
          </a:p>
        </p:txBody>
      </p:sp>
      <p:sp>
        <p:nvSpPr>
          <p:cNvPr id="212" name="Google Shape;212;p28"/>
          <p:cNvSpPr txBox="1"/>
          <p:nvPr/>
        </p:nvSpPr>
        <p:spPr>
          <a:xfrm>
            <a:off x="628650" y="2556563"/>
            <a:ext cx="3855720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Drafts, edits, summaries, translations. Give it a few examples and it'll adopt your tone.</a:t>
            </a:r>
            <a:endParaRPr sz="1100"/>
          </a:p>
        </p:txBody>
      </p:sp>
      <p:sp>
        <p:nvSpPr>
          <p:cNvPr id="213" name="Google Shape;213;p28"/>
          <p:cNvSpPr/>
          <p:nvPr/>
        </p:nvSpPr>
        <p:spPr>
          <a:xfrm>
            <a:off x="4476750" y="2156513"/>
            <a:ext cx="4191000" cy="857250"/>
          </a:xfrm>
          <a:prstGeom prst="roundRect">
            <a:avLst>
              <a:gd fmla="val 16667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4" name="Google Shape;214;p28"/>
          <p:cNvSpPr/>
          <p:nvPr/>
        </p:nvSpPr>
        <p:spPr>
          <a:xfrm>
            <a:off x="4476750" y="2251763"/>
            <a:ext cx="41910" cy="66675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5" name="Google Shape;215;p28"/>
          <p:cNvSpPr txBox="1"/>
          <p:nvPr/>
        </p:nvSpPr>
        <p:spPr>
          <a:xfrm>
            <a:off x="4629150" y="2270813"/>
            <a:ext cx="3855720" cy="2539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41452"/>
                </a:solidFill>
                <a:latin typeface="Open Sans"/>
                <a:ea typeface="Open Sans"/>
                <a:cs typeface="Open Sans"/>
                <a:sym typeface="Open Sans"/>
              </a:rPr>
              <a:t>🔍  Analysis &amp; synthesis</a:t>
            </a:r>
            <a:endParaRPr sz="1100"/>
          </a:p>
        </p:txBody>
      </p:sp>
      <p:sp>
        <p:nvSpPr>
          <p:cNvPr id="216" name="Google Shape;216;p28"/>
          <p:cNvSpPr txBox="1"/>
          <p:nvPr/>
        </p:nvSpPr>
        <p:spPr>
          <a:xfrm>
            <a:off x="4629150" y="2556563"/>
            <a:ext cx="3855720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Reads long documents, pulls out key points, finds patterns, compares sources — at speeds humans can't match.</a:t>
            </a:r>
            <a:endParaRPr sz="1100"/>
          </a:p>
        </p:txBody>
      </p:sp>
      <p:sp>
        <p:nvSpPr>
          <p:cNvPr id="217" name="Google Shape;217;p28"/>
          <p:cNvSpPr/>
          <p:nvPr/>
        </p:nvSpPr>
        <p:spPr>
          <a:xfrm>
            <a:off x="476250" y="3147113"/>
            <a:ext cx="4191000" cy="857250"/>
          </a:xfrm>
          <a:prstGeom prst="roundRect">
            <a:avLst>
              <a:gd fmla="val 16667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8" name="Google Shape;218;p28"/>
          <p:cNvSpPr/>
          <p:nvPr/>
        </p:nvSpPr>
        <p:spPr>
          <a:xfrm>
            <a:off x="476250" y="3242363"/>
            <a:ext cx="41910" cy="66675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9" name="Google Shape;219;p28"/>
          <p:cNvSpPr txBox="1"/>
          <p:nvPr/>
        </p:nvSpPr>
        <p:spPr>
          <a:xfrm>
            <a:off x="628650" y="3261413"/>
            <a:ext cx="3855720" cy="2539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41452"/>
                </a:solidFill>
                <a:latin typeface="Open Sans"/>
                <a:ea typeface="Open Sans"/>
                <a:cs typeface="Open Sans"/>
                <a:sym typeface="Open Sans"/>
              </a:rPr>
              <a:t>🧭  Research &amp; thinking</a:t>
            </a:r>
            <a:endParaRPr sz="1100"/>
          </a:p>
        </p:txBody>
      </p:sp>
      <p:sp>
        <p:nvSpPr>
          <p:cNvPr id="220" name="Google Shape;220;p28"/>
          <p:cNvSpPr txBox="1"/>
          <p:nvPr/>
        </p:nvSpPr>
        <p:spPr>
          <a:xfrm>
            <a:off x="628650" y="3547163"/>
            <a:ext cx="3855720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Helps you weigh options, structure arguments, and pressure-test ideas. A genuinely useful thinking partner.</a:t>
            </a:r>
            <a:endParaRPr sz="1100"/>
          </a:p>
        </p:txBody>
      </p:sp>
      <p:sp>
        <p:nvSpPr>
          <p:cNvPr id="221" name="Google Shape;221;p28"/>
          <p:cNvSpPr/>
          <p:nvPr/>
        </p:nvSpPr>
        <p:spPr>
          <a:xfrm>
            <a:off x="4476750" y="3147113"/>
            <a:ext cx="4191000" cy="857250"/>
          </a:xfrm>
          <a:prstGeom prst="roundRect">
            <a:avLst>
              <a:gd fmla="val 16667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2" name="Google Shape;222;p28"/>
          <p:cNvSpPr/>
          <p:nvPr/>
        </p:nvSpPr>
        <p:spPr>
          <a:xfrm>
            <a:off x="4476750" y="3242363"/>
            <a:ext cx="41910" cy="66675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3" name="Google Shape;223;p28"/>
          <p:cNvSpPr txBox="1"/>
          <p:nvPr/>
        </p:nvSpPr>
        <p:spPr>
          <a:xfrm>
            <a:off x="4629150" y="3261413"/>
            <a:ext cx="3855720" cy="2539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41452"/>
                </a:solidFill>
                <a:latin typeface="Open Sans"/>
                <a:ea typeface="Open Sans"/>
                <a:cs typeface="Open Sans"/>
                <a:sym typeface="Open Sans"/>
              </a:rPr>
              <a:t>💻  Coding &amp; automation</a:t>
            </a:r>
            <a:endParaRPr sz="1100"/>
          </a:p>
        </p:txBody>
      </p:sp>
      <p:sp>
        <p:nvSpPr>
          <p:cNvPr id="224" name="Google Shape;224;p28"/>
          <p:cNvSpPr txBox="1"/>
          <p:nvPr/>
        </p:nvSpPr>
        <p:spPr>
          <a:xfrm>
            <a:off x="4629150" y="3547163"/>
            <a:ext cx="3855720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Writes, reviews, debugs, and explains code. Strong even for non-engineers who want to automate work.</a:t>
            </a:r>
            <a:endParaRPr sz="1100"/>
          </a:p>
        </p:txBody>
      </p:sp>
      <p:sp>
        <p:nvSpPr>
          <p:cNvPr id="225" name="Google Shape;225;p28"/>
          <p:cNvSpPr/>
          <p:nvPr/>
        </p:nvSpPr>
        <p:spPr>
          <a:xfrm>
            <a:off x="476250" y="4185338"/>
            <a:ext cx="8191500" cy="533400"/>
          </a:xfrm>
          <a:prstGeom prst="roundRect">
            <a:avLst>
              <a:gd fmla="val 16667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6" name="Google Shape;226;p28"/>
          <p:cNvSpPr/>
          <p:nvPr/>
        </p:nvSpPr>
        <p:spPr>
          <a:xfrm>
            <a:off x="476250" y="4280588"/>
            <a:ext cx="47625" cy="342900"/>
          </a:xfrm>
          <a:prstGeom prst="rect">
            <a:avLst/>
          </a:prstGeom>
          <a:solidFill>
            <a:srgbClr val="24145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7" name="Google Shape;227;p28"/>
          <p:cNvSpPr txBox="1"/>
          <p:nvPr/>
        </p:nvSpPr>
        <p:spPr>
          <a:xfrm>
            <a:off x="666750" y="4242488"/>
            <a:ext cx="7810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These are all reading, writing, and reasoning tasks — exactly what Claude was trained to do well.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Raleway"/>
              <a:buNone/>
            </a:pPr>
            <a:r>
              <a:rPr b="1" lang="en" sz="2400"/>
              <a:t>Three ways to use Claude</a:t>
            </a:r>
            <a:endParaRPr sz="1100"/>
          </a:p>
        </p:txBody>
      </p:sp>
      <p:sp>
        <p:nvSpPr>
          <p:cNvPr id="233" name="Google Shape;233;p29"/>
          <p:cNvSpPr/>
          <p:nvPr/>
        </p:nvSpPr>
        <p:spPr>
          <a:xfrm>
            <a:off x="476250" y="1285875"/>
            <a:ext cx="8191500" cy="666750"/>
          </a:xfrm>
          <a:prstGeom prst="roundRect">
            <a:avLst>
              <a:gd fmla="val 16667" name="adj"/>
            </a:avLst>
          </a:prstGeom>
          <a:solidFill>
            <a:srgbClr val="24145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4" name="Google Shape;234;p29"/>
          <p:cNvSpPr txBox="1"/>
          <p:nvPr/>
        </p:nvSpPr>
        <p:spPr>
          <a:xfrm>
            <a:off x="666750" y="1381125"/>
            <a:ext cx="7810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Claude shows up in three different surfaces. For your team's day-to-day work, the first two are what matter most — Code is a specialist tool for developers.</a:t>
            </a:r>
            <a:endParaRPr sz="1100"/>
          </a:p>
        </p:txBody>
      </p:sp>
      <p:sp>
        <p:nvSpPr>
          <p:cNvPr id="235" name="Google Shape;235;p29"/>
          <p:cNvSpPr/>
          <p:nvPr/>
        </p:nvSpPr>
        <p:spPr>
          <a:xfrm>
            <a:off x="476250" y="2143125"/>
            <a:ext cx="2571750" cy="1666875"/>
          </a:xfrm>
          <a:prstGeom prst="roundRect">
            <a:avLst>
              <a:gd fmla="val 16667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6" name="Google Shape;236;p29"/>
          <p:cNvSpPr/>
          <p:nvPr/>
        </p:nvSpPr>
        <p:spPr>
          <a:xfrm>
            <a:off x="1552575" y="2276475"/>
            <a:ext cx="419100" cy="419100"/>
          </a:xfrm>
          <a:prstGeom prst="ellipse">
            <a:avLst/>
          </a:prstGeom>
          <a:solidFill>
            <a:srgbClr val="2414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💬</a:t>
            </a:r>
            <a:endParaRPr sz="1100"/>
          </a:p>
        </p:txBody>
      </p:sp>
      <p:sp>
        <p:nvSpPr>
          <p:cNvPr id="237" name="Google Shape;237;p29"/>
          <p:cNvSpPr txBox="1"/>
          <p:nvPr/>
        </p:nvSpPr>
        <p:spPr>
          <a:xfrm>
            <a:off x="571500" y="2752725"/>
            <a:ext cx="2381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41452"/>
                </a:solidFill>
                <a:latin typeface="Open Sans"/>
                <a:ea typeface="Open Sans"/>
                <a:cs typeface="Open Sans"/>
                <a:sym typeface="Open Sans"/>
              </a:rPr>
              <a:t>Chat (Claude.ai)</a:t>
            </a:r>
            <a:endParaRPr sz="1100"/>
          </a:p>
        </p:txBody>
      </p:sp>
      <p:sp>
        <p:nvSpPr>
          <p:cNvPr id="238" name="Google Shape;238;p29"/>
          <p:cNvSpPr txBox="1"/>
          <p:nvPr/>
        </p:nvSpPr>
        <p:spPr>
          <a:xfrm>
            <a:off x="609600" y="3006969"/>
            <a:ext cx="23050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The simplest entry point. Open a browser, ask a question, get an answer. Perfect for one-off writing, research, analysis. This is where most people start.</a:t>
            </a:r>
            <a:endParaRPr sz="1100"/>
          </a:p>
        </p:txBody>
      </p:sp>
      <p:sp>
        <p:nvSpPr>
          <p:cNvPr id="239" name="Google Shape;239;p29"/>
          <p:cNvSpPr/>
          <p:nvPr/>
        </p:nvSpPr>
        <p:spPr>
          <a:xfrm>
            <a:off x="3286125" y="2143125"/>
            <a:ext cx="2571750" cy="1666875"/>
          </a:xfrm>
          <a:prstGeom prst="roundRect">
            <a:avLst>
              <a:gd fmla="val 16667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0" name="Google Shape;240;p29"/>
          <p:cNvSpPr/>
          <p:nvPr/>
        </p:nvSpPr>
        <p:spPr>
          <a:xfrm>
            <a:off x="4362450" y="2276475"/>
            <a:ext cx="419100" cy="419100"/>
          </a:xfrm>
          <a:prstGeom prst="ellipse">
            <a:avLst/>
          </a:prstGeom>
          <a:solidFill>
            <a:srgbClr val="2414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🤝</a:t>
            </a:r>
            <a:endParaRPr sz="1100"/>
          </a:p>
        </p:txBody>
      </p:sp>
      <p:sp>
        <p:nvSpPr>
          <p:cNvPr id="241" name="Google Shape;241;p29"/>
          <p:cNvSpPr txBox="1"/>
          <p:nvPr/>
        </p:nvSpPr>
        <p:spPr>
          <a:xfrm>
            <a:off x="3381375" y="2752725"/>
            <a:ext cx="2381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41452"/>
                </a:solidFill>
                <a:latin typeface="Open Sans"/>
                <a:ea typeface="Open Sans"/>
                <a:cs typeface="Open Sans"/>
                <a:sym typeface="Open Sans"/>
              </a:rPr>
              <a:t>Cowork (Desktop)</a:t>
            </a:r>
            <a:endParaRPr sz="1100"/>
          </a:p>
        </p:txBody>
      </p:sp>
      <p:sp>
        <p:nvSpPr>
          <p:cNvPr id="242" name="Google Shape;242;p29"/>
          <p:cNvSpPr txBox="1"/>
          <p:nvPr/>
        </p:nvSpPr>
        <p:spPr>
          <a:xfrm>
            <a:off x="3419475" y="3001841"/>
            <a:ext cx="23050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Claude lives on your computer, can read your files, connect to your tools, and work alongside you on real tasks. The team-scale version of Chat.</a:t>
            </a:r>
            <a:endParaRPr sz="1100"/>
          </a:p>
        </p:txBody>
      </p:sp>
      <p:sp>
        <p:nvSpPr>
          <p:cNvPr id="243" name="Google Shape;243;p29"/>
          <p:cNvSpPr/>
          <p:nvPr/>
        </p:nvSpPr>
        <p:spPr>
          <a:xfrm>
            <a:off x="6096000" y="2143125"/>
            <a:ext cx="2571750" cy="1666875"/>
          </a:xfrm>
          <a:prstGeom prst="roundRect">
            <a:avLst>
              <a:gd fmla="val 16667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4" name="Google Shape;244;p29"/>
          <p:cNvSpPr/>
          <p:nvPr/>
        </p:nvSpPr>
        <p:spPr>
          <a:xfrm>
            <a:off x="7172325" y="2276475"/>
            <a:ext cx="419100" cy="419100"/>
          </a:xfrm>
          <a:prstGeom prst="ellipse">
            <a:avLst/>
          </a:prstGeom>
          <a:solidFill>
            <a:srgbClr val="2414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💻</a:t>
            </a:r>
            <a:endParaRPr sz="1100"/>
          </a:p>
        </p:txBody>
      </p:sp>
      <p:sp>
        <p:nvSpPr>
          <p:cNvPr id="245" name="Google Shape;245;p29"/>
          <p:cNvSpPr txBox="1"/>
          <p:nvPr/>
        </p:nvSpPr>
        <p:spPr>
          <a:xfrm>
            <a:off x="6191250" y="2752725"/>
            <a:ext cx="2381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41452"/>
                </a:solidFill>
                <a:latin typeface="Open Sans"/>
                <a:ea typeface="Open Sans"/>
                <a:cs typeface="Open Sans"/>
                <a:sym typeface="Open Sans"/>
              </a:rPr>
              <a:t>Code (Terminal)</a:t>
            </a:r>
            <a:endParaRPr sz="1100"/>
          </a:p>
        </p:txBody>
      </p:sp>
      <p:sp>
        <p:nvSpPr>
          <p:cNvPr id="246" name="Google Shape;246;p29"/>
          <p:cNvSpPr txBox="1"/>
          <p:nvPr/>
        </p:nvSpPr>
        <p:spPr>
          <a:xfrm>
            <a:off x="6229350" y="3001841"/>
            <a:ext cx="23050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A specialized command-line tool for engineers — Claude writing and running code in their terminal. Powerful, but not where most of your team will spend time.</a:t>
            </a:r>
            <a:endParaRPr sz="1100"/>
          </a:p>
        </p:txBody>
      </p:sp>
      <p:sp>
        <p:nvSpPr>
          <p:cNvPr id="247" name="Google Shape;247;p29"/>
          <p:cNvSpPr/>
          <p:nvPr/>
        </p:nvSpPr>
        <p:spPr>
          <a:xfrm>
            <a:off x="476250" y="4000500"/>
            <a:ext cx="8191500" cy="533400"/>
          </a:xfrm>
          <a:prstGeom prst="roundRect">
            <a:avLst>
              <a:gd fmla="val 16667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8" name="Google Shape;248;p29"/>
          <p:cNvSpPr/>
          <p:nvPr/>
        </p:nvSpPr>
        <p:spPr>
          <a:xfrm>
            <a:off x="476250" y="4076700"/>
            <a:ext cx="47625" cy="381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9" name="Google Shape;249;p29"/>
          <p:cNvSpPr txBox="1"/>
          <p:nvPr/>
        </p:nvSpPr>
        <p:spPr>
          <a:xfrm>
            <a:off x="666750" y="4076700"/>
            <a:ext cx="78105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For many, t</a:t>
            </a:r>
            <a:r>
              <a:rPr i="1" lang="en" sz="1100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he focus is Chat and Cowork — that's where the leverage lives for non-engineering teams.</a:t>
            </a:r>
            <a:endParaRPr sz="1100"/>
          </a:p>
        </p:txBody>
      </p:sp>
      <p:pic>
        <p:nvPicPr>
          <p:cNvPr id="250" name="Google Shape;25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0" y="285750"/>
            <a:ext cx="4762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Raleway"/>
              <a:buNone/>
            </a:pPr>
            <a:r>
              <a:rPr b="1" lang="en" sz="2400"/>
              <a:t>How to talk to Claude</a:t>
            </a:r>
            <a:endParaRPr sz="1100"/>
          </a:p>
        </p:txBody>
      </p:sp>
      <p:sp>
        <p:nvSpPr>
          <p:cNvPr id="256" name="Google Shape;256;p30"/>
          <p:cNvSpPr/>
          <p:nvPr/>
        </p:nvSpPr>
        <p:spPr>
          <a:xfrm>
            <a:off x="476250" y="1285875"/>
            <a:ext cx="8191500" cy="666750"/>
          </a:xfrm>
          <a:prstGeom prst="roundRect">
            <a:avLst>
              <a:gd fmla="val 16667" name="adj"/>
            </a:avLst>
          </a:prstGeom>
          <a:solidFill>
            <a:srgbClr val="24145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7" name="Google Shape;257;p30"/>
          <p:cNvSpPr txBox="1"/>
          <p:nvPr/>
        </p:nvSpPr>
        <p:spPr>
          <a:xfrm>
            <a:off x="666750" y="1399959"/>
            <a:ext cx="7810500" cy="4385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What you get out depends a lot on what you put in. Three habits change everything about the quality of Claude's output.</a:t>
            </a:r>
            <a:endParaRPr sz="1100"/>
          </a:p>
        </p:txBody>
      </p:sp>
      <p:sp>
        <p:nvSpPr>
          <p:cNvPr id="258" name="Google Shape;258;p30"/>
          <p:cNvSpPr/>
          <p:nvPr/>
        </p:nvSpPr>
        <p:spPr>
          <a:xfrm>
            <a:off x="476250" y="2143125"/>
            <a:ext cx="2571750" cy="1666875"/>
          </a:xfrm>
          <a:prstGeom prst="roundRect">
            <a:avLst>
              <a:gd fmla="val 16667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9" name="Google Shape;259;p30"/>
          <p:cNvSpPr/>
          <p:nvPr/>
        </p:nvSpPr>
        <p:spPr>
          <a:xfrm>
            <a:off x="1552575" y="2276475"/>
            <a:ext cx="419100" cy="419100"/>
          </a:xfrm>
          <a:prstGeom prst="ellipse">
            <a:avLst/>
          </a:prstGeom>
          <a:solidFill>
            <a:srgbClr val="2414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🎯</a:t>
            </a:r>
            <a:endParaRPr sz="1100"/>
          </a:p>
        </p:txBody>
      </p:sp>
      <p:sp>
        <p:nvSpPr>
          <p:cNvPr id="260" name="Google Shape;260;p30"/>
          <p:cNvSpPr txBox="1"/>
          <p:nvPr/>
        </p:nvSpPr>
        <p:spPr>
          <a:xfrm>
            <a:off x="571500" y="2752725"/>
            <a:ext cx="2381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41452"/>
                </a:solidFill>
                <a:latin typeface="Open Sans"/>
                <a:ea typeface="Open Sans"/>
                <a:cs typeface="Open Sans"/>
                <a:sym typeface="Open Sans"/>
              </a:rPr>
              <a:t>Give it context</a:t>
            </a:r>
            <a:endParaRPr sz="1100"/>
          </a:p>
        </p:txBody>
      </p:sp>
      <p:sp>
        <p:nvSpPr>
          <p:cNvPr id="261" name="Google Shape;261;p30"/>
          <p:cNvSpPr txBox="1"/>
          <p:nvPr/>
        </p:nvSpPr>
        <p:spPr>
          <a:xfrm>
            <a:off x="609600" y="3038475"/>
            <a:ext cx="23050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Who's the audience? What's the goal? What format do you want back? The more specific the setup, the better the answer.</a:t>
            </a:r>
            <a:endParaRPr sz="1100"/>
          </a:p>
        </p:txBody>
      </p:sp>
      <p:sp>
        <p:nvSpPr>
          <p:cNvPr id="262" name="Google Shape;262;p30"/>
          <p:cNvSpPr/>
          <p:nvPr/>
        </p:nvSpPr>
        <p:spPr>
          <a:xfrm>
            <a:off x="3286125" y="2143125"/>
            <a:ext cx="2571750" cy="1666875"/>
          </a:xfrm>
          <a:prstGeom prst="roundRect">
            <a:avLst>
              <a:gd fmla="val 16667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3" name="Google Shape;263;p30"/>
          <p:cNvSpPr/>
          <p:nvPr/>
        </p:nvSpPr>
        <p:spPr>
          <a:xfrm>
            <a:off x="4362450" y="2276475"/>
            <a:ext cx="419100" cy="419100"/>
          </a:xfrm>
          <a:prstGeom prst="ellipse">
            <a:avLst/>
          </a:prstGeom>
          <a:solidFill>
            <a:srgbClr val="2414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⚡</a:t>
            </a:r>
            <a:endParaRPr sz="1100"/>
          </a:p>
        </p:txBody>
      </p:sp>
      <p:sp>
        <p:nvSpPr>
          <p:cNvPr id="264" name="Google Shape;264;p30"/>
          <p:cNvSpPr txBox="1"/>
          <p:nvPr/>
        </p:nvSpPr>
        <p:spPr>
          <a:xfrm>
            <a:off x="3381375" y="2752725"/>
            <a:ext cx="2381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41452"/>
                </a:solidFill>
                <a:latin typeface="Open Sans"/>
                <a:ea typeface="Open Sans"/>
                <a:cs typeface="Open Sans"/>
                <a:sym typeface="Open Sans"/>
              </a:rPr>
              <a:t>Show, don't just tell</a:t>
            </a:r>
            <a:endParaRPr sz="1100"/>
          </a:p>
        </p:txBody>
      </p:sp>
      <p:sp>
        <p:nvSpPr>
          <p:cNvPr id="265" name="Google Shape;265;p30"/>
          <p:cNvSpPr txBox="1"/>
          <p:nvPr/>
        </p:nvSpPr>
        <p:spPr>
          <a:xfrm>
            <a:off x="3419475" y="3038475"/>
            <a:ext cx="23050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Examples are gold. "Here are two past reports — write the next one in this style." Demonstrate the output you want.</a:t>
            </a:r>
            <a:endParaRPr sz="1100"/>
          </a:p>
        </p:txBody>
      </p:sp>
      <p:sp>
        <p:nvSpPr>
          <p:cNvPr id="266" name="Google Shape;266;p30"/>
          <p:cNvSpPr/>
          <p:nvPr/>
        </p:nvSpPr>
        <p:spPr>
          <a:xfrm>
            <a:off x="6096000" y="2143125"/>
            <a:ext cx="2571750" cy="1666875"/>
          </a:xfrm>
          <a:prstGeom prst="roundRect">
            <a:avLst>
              <a:gd fmla="val 16667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7" name="Google Shape;267;p30"/>
          <p:cNvSpPr/>
          <p:nvPr/>
        </p:nvSpPr>
        <p:spPr>
          <a:xfrm>
            <a:off x="7172325" y="2276475"/>
            <a:ext cx="419100" cy="419100"/>
          </a:xfrm>
          <a:prstGeom prst="ellipse">
            <a:avLst/>
          </a:prstGeom>
          <a:solidFill>
            <a:srgbClr val="2414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🔁</a:t>
            </a:r>
            <a:endParaRPr sz="1100"/>
          </a:p>
        </p:txBody>
      </p:sp>
      <p:sp>
        <p:nvSpPr>
          <p:cNvPr id="268" name="Google Shape;268;p30"/>
          <p:cNvSpPr txBox="1"/>
          <p:nvPr/>
        </p:nvSpPr>
        <p:spPr>
          <a:xfrm>
            <a:off x="6191250" y="2752725"/>
            <a:ext cx="2381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41452"/>
                </a:solidFill>
                <a:latin typeface="Open Sans"/>
                <a:ea typeface="Open Sans"/>
                <a:cs typeface="Open Sans"/>
                <a:sym typeface="Open Sans"/>
              </a:rPr>
              <a:t>Iterate, don't stop</a:t>
            </a:r>
            <a:endParaRPr sz="1100"/>
          </a:p>
        </p:txBody>
      </p:sp>
      <p:sp>
        <p:nvSpPr>
          <p:cNvPr id="269" name="Google Shape;269;p30"/>
          <p:cNvSpPr txBox="1"/>
          <p:nvPr/>
        </p:nvSpPr>
        <p:spPr>
          <a:xfrm>
            <a:off x="6229350" y="3038475"/>
            <a:ext cx="23050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Treat it like a conversation, not a vending machine. Ask, refine, redirect. Great results usually arrive 2-3 turns in.</a:t>
            </a:r>
            <a:endParaRPr sz="1100"/>
          </a:p>
        </p:txBody>
      </p:sp>
      <p:sp>
        <p:nvSpPr>
          <p:cNvPr id="270" name="Google Shape;270;p30"/>
          <p:cNvSpPr/>
          <p:nvPr/>
        </p:nvSpPr>
        <p:spPr>
          <a:xfrm>
            <a:off x="476250" y="4000500"/>
            <a:ext cx="8191500" cy="533400"/>
          </a:xfrm>
          <a:prstGeom prst="roundRect">
            <a:avLst>
              <a:gd fmla="val 16667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1" name="Google Shape;271;p30"/>
          <p:cNvSpPr/>
          <p:nvPr/>
        </p:nvSpPr>
        <p:spPr>
          <a:xfrm>
            <a:off x="476250" y="4076700"/>
            <a:ext cx="47625" cy="381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2" name="Google Shape;272;p30"/>
          <p:cNvSpPr txBox="1"/>
          <p:nvPr/>
        </p:nvSpPr>
        <p:spPr>
          <a:xfrm>
            <a:off x="666750" y="4076700"/>
            <a:ext cx="7810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Better prompts beat better models. The same Claude in different hands produces wildly different results.</a:t>
            </a:r>
            <a:endParaRPr sz="1100"/>
          </a:p>
        </p:txBody>
      </p:sp>
      <p:pic>
        <p:nvPicPr>
          <p:cNvPr id="273" name="Google Shape;27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0" y="285750"/>
            <a:ext cx="4762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Raleway"/>
              <a:buNone/>
            </a:pPr>
            <a:r>
              <a:rPr b="1" lang="en" sz="2400"/>
              <a:t>What this looks like in practice</a:t>
            </a:r>
            <a:endParaRPr sz="1100"/>
          </a:p>
        </p:txBody>
      </p:sp>
      <p:sp>
        <p:nvSpPr>
          <p:cNvPr id="279" name="Google Shape;279;p31"/>
          <p:cNvSpPr/>
          <p:nvPr/>
        </p:nvSpPr>
        <p:spPr>
          <a:xfrm>
            <a:off x="476250" y="1285875"/>
            <a:ext cx="8191500" cy="666750"/>
          </a:xfrm>
          <a:prstGeom prst="roundRect">
            <a:avLst>
              <a:gd fmla="val 16667" name="adj"/>
            </a:avLst>
          </a:prstGeom>
          <a:solidFill>
            <a:srgbClr val="24145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0" name="Google Shape;280;p31"/>
          <p:cNvSpPr txBox="1"/>
          <p:nvPr/>
        </p:nvSpPr>
        <p:spPr>
          <a:xfrm>
            <a:off x="666750" y="1381125"/>
            <a:ext cx="7810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 few concrete examples of how teams use Claude every day. None of these require AI expertise — just a clear ask and a few examples.</a:t>
            </a:r>
            <a:endParaRPr sz="1100"/>
          </a:p>
        </p:txBody>
      </p:sp>
      <p:sp>
        <p:nvSpPr>
          <p:cNvPr id="281" name="Google Shape;281;p31"/>
          <p:cNvSpPr/>
          <p:nvPr/>
        </p:nvSpPr>
        <p:spPr>
          <a:xfrm>
            <a:off x="476250" y="2143125"/>
            <a:ext cx="2571750" cy="1666875"/>
          </a:xfrm>
          <a:prstGeom prst="roundRect">
            <a:avLst>
              <a:gd fmla="val 16667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2" name="Google Shape;282;p31"/>
          <p:cNvSpPr/>
          <p:nvPr/>
        </p:nvSpPr>
        <p:spPr>
          <a:xfrm>
            <a:off x="1552575" y="2276475"/>
            <a:ext cx="419100" cy="419100"/>
          </a:xfrm>
          <a:prstGeom prst="ellipse">
            <a:avLst/>
          </a:prstGeom>
          <a:solidFill>
            <a:srgbClr val="2414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📨</a:t>
            </a:r>
            <a:endParaRPr sz="1100"/>
          </a:p>
        </p:txBody>
      </p:sp>
      <p:sp>
        <p:nvSpPr>
          <p:cNvPr id="283" name="Google Shape;283;p31"/>
          <p:cNvSpPr txBox="1"/>
          <p:nvPr/>
        </p:nvSpPr>
        <p:spPr>
          <a:xfrm>
            <a:off x="571500" y="2752725"/>
            <a:ext cx="2381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41452"/>
                </a:solidFill>
                <a:latin typeface="Open Sans"/>
                <a:ea typeface="Open Sans"/>
                <a:cs typeface="Open Sans"/>
                <a:sym typeface="Open Sans"/>
              </a:rPr>
              <a:t>Board update</a:t>
            </a:r>
            <a:endParaRPr sz="1100"/>
          </a:p>
        </p:txBody>
      </p:sp>
      <p:sp>
        <p:nvSpPr>
          <p:cNvPr id="284" name="Google Shape;284;p31"/>
          <p:cNvSpPr txBox="1"/>
          <p:nvPr/>
        </p:nvSpPr>
        <p:spPr>
          <a:xfrm>
            <a:off x="609600" y="3038475"/>
            <a:ext cx="23052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"Here are last quarter's metrics and three new initiatives. Draft a board memo in our usual style." Two paragraphs of inputs become a polished draft in 90 seconds.</a:t>
            </a:r>
            <a:endParaRPr sz="1000"/>
          </a:p>
        </p:txBody>
      </p:sp>
      <p:sp>
        <p:nvSpPr>
          <p:cNvPr id="285" name="Google Shape;285;p31"/>
          <p:cNvSpPr/>
          <p:nvPr/>
        </p:nvSpPr>
        <p:spPr>
          <a:xfrm>
            <a:off x="3286125" y="2143125"/>
            <a:ext cx="2571750" cy="1666875"/>
          </a:xfrm>
          <a:prstGeom prst="roundRect">
            <a:avLst>
              <a:gd fmla="val 16667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6" name="Google Shape;286;p31"/>
          <p:cNvSpPr/>
          <p:nvPr/>
        </p:nvSpPr>
        <p:spPr>
          <a:xfrm>
            <a:off x="4362450" y="2276475"/>
            <a:ext cx="419100" cy="419100"/>
          </a:xfrm>
          <a:prstGeom prst="ellipse">
            <a:avLst/>
          </a:prstGeom>
          <a:solidFill>
            <a:srgbClr val="2414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📑</a:t>
            </a:r>
            <a:endParaRPr sz="1100"/>
          </a:p>
        </p:txBody>
      </p:sp>
      <p:sp>
        <p:nvSpPr>
          <p:cNvPr id="287" name="Google Shape;287;p31"/>
          <p:cNvSpPr txBox="1"/>
          <p:nvPr/>
        </p:nvSpPr>
        <p:spPr>
          <a:xfrm>
            <a:off x="3381375" y="2752725"/>
            <a:ext cx="2381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41452"/>
                </a:solidFill>
                <a:latin typeface="Open Sans"/>
                <a:ea typeface="Open Sans"/>
                <a:cs typeface="Open Sans"/>
                <a:sym typeface="Open Sans"/>
              </a:rPr>
              <a:t>Report summary</a:t>
            </a:r>
            <a:endParaRPr sz="1100"/>
          </a:p>
        </p:txBody>
      </p:sp>
      <p:sp>
        <p:nvSpPr>
          <p:cNvPr id="288" name="Google Shape;288;p31"/>
          <p:cNvSpPr txBox="1"/>
          <p:nvPr/>
        </p:nvSpPr>
        <p:spPr>
          <a:xfrm>
            <a:off x="3419475" y="3038475"/>
            <a:ext cx="23052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"Read this PDF and pull the three findings most relevant to our remediation programs." Hours of reading collapsed into a 5-minute review.</a:t>
            </a:r>
            <a:endParaRPr sz="1000"/>
          </a:p>
        </p:txBody>
      </p:sp>
      <p:sp>
        <p:nvSpPr>
          <p:cNvPr id="289" name="Google Shape;289;p31"/>
          <p:cNvSpPr/>
          <p:nvPr/>
        </p:nvSpPr>
        <p:spPr>
          <a:xfrm>
            <a:off x="6096000" y="2143125"/>
            <a:ext cx="2571750" cy="1666875"/>
          </a:xfrm>
          <a:prstGeom prst="roundRect">
            <a:avLst>
              <a:gd fmla="val 16667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0" name="Google Shape;290;p31"/>
          <p:cNvSpPr/>
          <p:nvPr/>
        </p:nvSpPr>
        <p:spPr>
          <a:xfrm>
            <a:off x="7172325" y="2276475"/>
            <a:ext cx="419100" cy="419100"/>
          </a:xfrm>
          <a:prstGeom prst="ellipse">
            <a:avLst/>
          </a:prstGeom>
          <a:solidFill>
            <a:srgbClr val="2414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🧹</a:t>
            </a:r>
            <a:endParaRPr sz="1100"/>
          </a:p>
        </p:txBody>
      </p:sp>
      <p:sp>
        <p:nvSpPr>
          <p:cNvPr id="291" name="Google Shape;291;p31"/>
          <p:cNvSpPr txBox="1"/>
          <p:nvPr/>
        </p:nvSpPr>
        <p:spPr>
          <a:xfrm>
            <a:off x="6191250" y="2752725"/>
            <a:ext cx="2381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41452"/>
                </a:solidFill>
                <a:latin typeface="Open Sans"/>
                <a:ea typeface="Open Sans"/>
                <a:cs typeface="Open Sans"/>
                <a:sym typeface="Open Sans"/>
              </a:rPr>
              <a:t>Data cleanup</a:t>
            </a:r>
            <a:endParaRPr sz="1100"/>
          </a:p>
        </p:txBody>
      </p:sp>
      <p:sp>
        <p:nvSpPr>
          <p:cNvPr id="292" name="Google Shape;292;p31"/>
          <p:cNvSpPr txBox="1"/>
          <p:nvPr/>
        </p:nvSpPr>
        <p:spPr>
          <a:xfrm>
            <a:off x="6229350" y="3038475"/>
            <a:ext cx="23052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"This data is in 6 different formats. Clean it up, dedupe, and give me a one-page summary of the patterns." Hours of data wrangling, gone.</a:t>
            </a:r>
            <a:endParaRPr sz="1000"/>
          </a:p>
        </p:txBody>
      </p:sp>
      <p:sp>
        <p:nvSpPr>
          <p:cNvPr id="293" name="Google Shape;293;p31"/>
          <p:cNvSpPr/>
          <p:nvPr/>
        </p:nvSpPr>
        <p:spPr>
          <a:xfrm>
            <a:off x="476250" y="4000500"/>
            <a:ext cx="8191500" cy="533400"/>
          </a:xfrm>
          <a:prstGeom prst="roundRect">
            <a:avLst>
              <a:gd fmla="val 16667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4" name="Google Shape;294;p31"/>
          <p:cNvSpPr/>
          <p:nvPr/>
        </p:nvSpPr>
        <p:spPr>
          <a:xfrm>
            <a:off x="476250" y="4076700"/>
            <a:ext cx="47625" cy="381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5" name="Google Shape;295;p31"/>
          <p:cNvSpPr txBox="1"/>
          <p:nvPr/>
        </p:nvSpPr>
        <p:spPr>
          <a:xfrm>
            <a:off x="666750" y="4076700"/>
            <a:ext cx="7810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C0392B"/>
                </a:solidFill>
                <a:latin typeface="Open Sans"/>
                <a:ea typeface="Open Sans"/>
                <a:cs typeface="Open Sans"/>
                <a:sym typeface="Open Sans"/>
              </a:rPr>
              <a:t>The pattern:</a:t>
            </a:r>
            <a:r>
              <a:rPr i="1" lang="en" sz="1100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 "Here's some material. Here's what I want done with it. Go." — that single move covers 80% of useful Claude usage.</a:t>
            </a:r>
            <a:endParaRPr sz="1100"/>
          </a:p>
        </p:txBody>
      </p:sp>
      <p:pic>
        <p:nvPicPr>
          <p:cNvPr id="296" name="Google Shape;29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0" y="285750"/>
            <a:ext cx="4762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0" y="28575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89300"/>
            <a:ext cx="9144003" cy="4964908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2"/>
          <p:cNvSpPr txBox="1"/>
          <p:nvPr>
            <p:ph type="title"/>
          </p:nvPr>
        </p:nvSpPr>
        <p:spPr>
          <a:xfrm>
            <a:off x="3539700" y="4060000"/>
            <a:ext cx="56043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Raleway"/>
              <a:buNone/>
            </a:pPr>
            <a:r>
              <a:rPr b="1" lang="en" sz="4500">
                <a:solidFill>
                  <a:schemeClr val="lt1"/>
                </a:solidFill>
              </a:rPr>
              <a:t>Projects + Memory</a:t>
            </a:r>
            <a:endParaRPr b="1" sz="3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Raleway"/>
              <a:buNone/>
            </a:pPr>
            <a:r>
              <a:rPr b="1" lang="en" sz="2400"/>
              <a:t>The catch: Claude doesn't know YOUR world</a:t>
            </a:r>
            <a:endParaRPr sz="1100"/>
          </a:p>
        </p:txBody>
      </p:sp>
      <p:sp>
        <p:nvSpPr>
          <p:cNvPr id="309" name="Google Shape;309;p33"/>
          <p:cNvSpPr/>
          <p:nvPr/>
        </p:nvSpPr>
        <p:spPr>
          <a:xfrm>
            <a:off x="628650" y="1352550"/>
            <a:ext cx="7886700" cy="571500"/>
          </a:xfrm>
          <a:prstGeom prst="roundRect">
            <a:avLst>
              <a:gd fmla="val 16667" name="adj"/>
            </a:avLst>
          </a:prstGeom>
          <a:solidFill>
            <a:srgbClr val="1A1A2E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0" name="Google Shape;310;p33"/>
          <p:cNvSpPr txBox="1"/>
          <p:nvPr/>
        </p:nvSpPr>
        <p:spPr>
          <a:xfrm>
            <a:off x="762000" y="1428750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Out of the box, Claude is a brilliant generalist with zero context about your organization. It hasn't read your reports, your databases, your internal docs, your field data.</a:t>
            </a:r>
            <a:endParaRPr sz="1100"/>
          </a:p>
        </p:txBody>
      </p:sp>
      <p:sp>
        <p:nvSpPr>
          <p:cNvPr id="311" name="Google Shape;311;p33"/>
          <p:cNvSpPr/>
          <p:nvPr/>
        </p:nvSpPr>
        <p:spPr>
          <a:xfrm>
            <a:off x="628650" y="2143125"/>
            <a:ext cx="3810000" cy="666750"/>
          </a:xfrm>
          <a:prstGeom prst="roundRect">
            <a:avLst>
              <a:gd fmla="val 16667" name="adj"/>
            </a:avLst>
          </a:prstGeom>
          <a:solidFill>
            <a:srgbClr val="EDECEA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2" name="Google Shape;312;p33"/>
          <p:cNvSpPr txBox="1"/>
          <p:nvPr/>
        </p:nvSpPr>
        <p:spPr>
          <a:xfrm>
            <a:off x="762000" y="2238375"/>
            <a:ext cx="35433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📚  It hasn't read your knowledge base, SOPs, or internal documents</a:t>
            </a:r>
            <a:endParaRPr sz="1100"/>
          </a:p>
        </p:txBody>
      </p:sp>
      <p:sp>
        <p:nvSpPr>
          <p:cNvPr id="313" name="Google Shape;313;p33"/>
          <p:cNvSpPr/>
          <p:nvPr/>
        </p:nvSpPr>
        <p:spPr>
          <a:xfrm>
            <a:off x="4705350" y="2143125"/>
            <a:ext cx="3810000" cy="666750"/>
          </a:xfrm>
          <a:prstGeom prst="roundRect">
            <a:avLst>
              <a:gd fmla="val 16667" name="adj"/>
            </a:avLst>
          </a:prstGeom>
          <a:solidFill>
            <a:srgbClr val="EDECEA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4" name="Google Shape;314;p33"/>
          <p:cNvSpPr txBox="1"/>
          <p:nvPr/>
        </p:nvSpPr>
        <p:spPr>
          <a:xfrm>
            <a:off x="4838700" y="2238375"/>
            <a:ext cx="35433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📊  It can't see your spreadsheets, dashboards, or databases</a:t>
            </a:r>
            <a:endParaRPr sz="1100"/>
          </a:p>
        </p:txBody>
      </p:sp>
      <p:sp>
        <p:nvSpPr>
          <p:cNvPr id="315" name="Google Shape;315;p33"/>
          <p:cNvSpPr/>
          <p:nvPr/>
        </p:nvSpPr>
        <p:spPr>
          <a:xfrm>
            <a:off x="628650" y="2943225"/>
            <a:ext cx="3810000" cy="666750"/>
          </a:xfrm>
          <a:prstGeom prst="roundRect">
            <a:avLst>
              <a:gd fmla="val 16667" name="adj"/>
            </a:avLst>
          </a:prstGeom>
          <a:solidFill>
            <a:srgbClr val="EDECEA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6" name="Google Shape;316;p33"/>
          <p:cNvSpPr txBox="1"/>
          <p:nvPr/>
        </p:nvSpPr>
        <p:spPr>
          <a:xfrm>
            <a:off x="762000" y="3038475"/>
            <a:ext cx="35433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📧  It doesn't know what was said in last week's meetings or emails</a:t>
            </a:r>
            <a:endParaRPr sz="1100"/>
          </a:p>
        </p:txBody>
      </p:sp>
      <p:sp>
        <p:nvSpPr>
          <p:cNvPr id="317" name="Google Shape;317;p33"/>
          <p:cNvSpPr/>
          <p:nvPr/>
        </p:nvSpPr>
        <p:spPr>
          <a:xfrm>
            <a:off x="4705350" y="2943225"/>
            <a:ext cx="3810000" cy="666750"/>
          </a:xfrm>
          <a:prstGeom prst="roundRect">
            <a:avLst>
              <a:gd fmla="val 16667" name="adj"/>
            </a:avLst>
          </a:prstGeom>
          <a:solidFill>
            <a:srgbClr val="EDECEA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8" name="Google Shape;318;p33"/>
          <p:cNvSpPr txBox="1"/>
          <p:nvPr/>
        </p:nvSpPr>
        <p:spPr>
          <a:xfrm>
            <a:off x="4838700" y="3038475"/>
            <a:ext cx="35433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👥  It has no idea who's on your team or what they're working on</a:t>
            </a:r>
            <a:endParaRPr sz="1100"/>
          </a:p>
        </p:txBody>
      </p:sp>
      <p:sp>
        <p:nvSpPr>
          <p:cNvPr id="319" name="Google Shape;319;p33"/>
          <p:cNvSpPr/>
          <p:nvPr/>
        </p:nvSpPr>
        <p:spPr>
          <a:xfrm>
            <a:off x="1143000" y="3905250"/>
            <a:ext cx="6858000" cy="514350"/>
          </a:xfrm>
          <a:prstGeom prst="roundRect">
            <a:avLst>
              <a:gd fmla="val 16667" name="adj"/>
            </a:avLst>
          </a:prstGeom>
          <a:solidFill>
            <a:srgbClr val="5B8A7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0" name="Google Shape;320;p33"/>
          <p:cNvSpPr txBox="1"/>
          <p:nvPr/>
        </p:nvSpPr>
        <p:spPr>
          <a:xfrm>
            <a:off x="1276350" y="3962400"/>
            <a:ext cx="65913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💡  Good news: the next slides are about how we fix that — without retraining the model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Raleway"/>
              <a:buNone/>
            </a:pPr>
            <a:r>
              <a:rPr b="1" lang="en" sz="2400"/>
              <a:t>Enter RAG (Retreival Augmented Generation)</a:t>
            </a:r>
            <a:endParaRPr sz="1100"/>
          </a:p>
        </p:txBody>
      </p:sp>
      <p:pic>
        <p:nvPicPr>
          <p:cNvPr id="326" name="Google Shape;32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0" y="28575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4"/>
          <p:cNvSpPr/>
          <p:nvPr/>
        </p:nvSpPr>
        <p:spPr>
          <a:xfrm>
            <a:off x="628650" y="1143000"/>
            <a:ext cx="7886700" cy="28575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txBody>
          <a:bodyPr anchorCtr="0" anchor="ctr" bIns="13500" lIns="27000" spcFirstLastPara="1" rIns="27000" wrap="square" tIns="13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RAG is the technique that lets Claude answer questions using YOUR documents and data — without retraining the model.</a:t>
            </a:r>
            <a:endParaRPr sz="1100"/>
          </a:p>
        </p:txBody>
      </p:sp>
      <p:sp>
        <p:nvSpPr>
          <p:cNvPr id="328" name="Google Shape;328;p34"/>
          <p:cNvSpPr/>
          <p:nvPr/>
        </p:nvSpPr>
        <p:spPr>
          <a:xfrm>
            <a:off x="762000" y="2286000"/>
            <a:ext cx="1333500" cy="1333500"/>
          </a:xfrm>
          <a:prstGeom prst="ellipse">
            <a:avLst/>
          </a:prstGeom>
          <a:solidFill>
            <a:srgbClr val="241452"/>
          </a:solidFill>
          <a:ln>
            <a:noFill/>
          </a:ln>
        </p:spPr>
        <p:txBody>
          <a:bodyPr anchorCtr="0" anchor="ctr" bIns="13500" lIns="27000" spcFirstLastPara="1" rIns="27000" wrap="square" tIns="13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Claude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+ Your Data</a:t>
            </a:r>
            <a:endParaRPr sz="1100"/>
          </a:p>
        </p:txBody>
      </p:sp>
      <p:cxnSp>
        <p:nvCxnSpPr>
          <p:cNvPr id="329" name="Google Shape;329;p34"/>
          <p:cNvCxnSpPr/>
          <p:nvPr/>
        </p:nvCxnSpPr>
        <p:spPr>
          <a:xfrm>
            <a:off x="2133600" y="2952750"/>
            <a:ext cx="819150" cy="4763"/>
          </a:xfrm>
          <a:prstGeom prst="straightConnector1">
            <a:avLst/>
          </a:prstGeom>
          <a:noFill/>
          <a:ln cap="flat" cmpd="sng" w="25400">
            <a:solidFill>
              <a:srgbClr val="99999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0" name="Google Shape;330;p34"/>
          <p:cNvSpPr/>
          <p:nvPr/>
        </p:nvSpPr>
        <p:spPr>
          <a:xfrm>
            <a:off x="2990850" y="2381250"/>
            <a:ext cx="1428750" cy="1143000"/>
          </a:xfrm>
          <a:prstGeom prst="roundRect">
            <a:avLst>
              <a:gd fmla="val 16667" name="adj"/>
            </a:avLst>
          </a:prstGeom>
          <a:solidFill>
            <a:srgbClr val="D4785C"/>
          </a:solidFill>
          <a:ln>
            <a:noFill/>
          </a:ln>
        </p:spPr>
        <p:txBody>
          <a:bodyPr anchorCtr="0" anchor="ctr" bIns="13500" lIns="27000" spcFirstLastPara="1" rIns="27000" wrap="square" tIns="13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RAG</a:t>
            </a:r>
            <a:endParaRPr sz="1100"/>
          </a:p>
        </p:txBody>
      </p:sp>
      <p:sp>
        <p:nvSpPr>
          <p:cNvPr id="331" name="Google Shape;331;p34"/>
          <p:cNvSpPr/>
          <p:nvPr/>
        </p:nvSpPr>
        <p:spPr>
          <a:xfrm>
            <a:off x="2990850" y="3543300"/>
            <a:ext cx="1428750" cy="2286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txBody>
          <a:bodyPr anchorCtr="0" anchor="ctr" bIns="13500" lIns="27000" spcFirstLastPara="1" rIns="27000" wrap="square" tIns="13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"Open-book exam"</a:t>
            </a:r>
            <a:endParaRPr sz="1100"/>
          </a:p>
        </p:txBody>
      </p:sp>
      <p:cxnSp>
        <p:nvCxnSpPr>
          <p:cNvPr id="332" name="Google Shape;332;p34"/>
          <p:cNvCxnSpPr/>
          <p:nvPr/>
        </p:nvCxnSpPr>
        <p:spPr>
          <a:xfrm flipH="1" rot="10800000">
            <a:off x="4457700" y="1819275"/>
            <a:ext cx="1028700" cy="1133475"/>
          </a:xfrm>
          <a:prstGeom prst="straightConnector1">
            <a:avLst/>
          </a:prstGeom>
          <a:noFill/>
          <a:ln cap="flat" cmpd="sng" w="19050">
            <a:solidFill>
              <a:srgbClr val="BBBBBB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333" name="Google Shape;333;p34"/>
          <p:cNvSpPr/>
          <p:nvPr/>
        </p:nvSpPr>
        <p:spPr>
          <a:xfrm>
            <a:off x="5524500" y="1619250"/>
            <a:ext cx="1476375" cy="400050"/>
          </a:xfrm>
          <a:prstGeom prst="roundRect">
            <a:avLst>
              <a:gd fmla="val 16667" name="adj"/>
            </a:avLst>
          </a:prstGeom>
          <a:solidFill>
            <a:srgbClr val="F0EDE8"/>
          </a:solidFill>
          <a:ln cap="flat" cmpd="sng" w="19050">
            <a:solidFill>
              <a:srgbClr val="D478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500" lIns="27000" spcFirstLastPara="1" rIns="27000" wrap="square" tIns="13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📄  PDFs &amp; Docs</a:t>
            </a:r>
            <a:endParaRPr sz="1100"/>
          </a:p>
        </p:txBody>
      </p:sp>
      <p:cxnSp>
        <p:nvCxnSpPr>
          <p:cNvPr id="334" name="Google Shape;334;p34"/>
          <p:cNvCxnSpPr/>
          <p:nvPr/>
        </p:nvCxnSpPr>
        <p:spPr>
          <a:xfrm flipH="1" rot="10800000">
            <a:off x="4457700" y="2276475"/>
            <a:ext cx="1028700" cy="676275"/>
          </a:xfrm>
          <a:prstGeom prst="straightConnector1">
            <a:avLst/>
          </a:prstGeom>
          <a:noFill/>
          <a:ln cap="flat" cmpd="sng" w="19050">
            <a:solidFill>
              <a:srgbClr val="BBBBBB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335" name="Google Shape;335;p34"/>
          <p:cNvSpPr/>
          <p:nvPr/>
        </p:nvSpPr>
        <p:spPr>
          <a:xfrm>
            <a:off x="5524500" y="2076450"/>
            <a:ext cx="1476375" cy="400050"/>
          </a:xfrm>
          <a:prstGeom prst="roundRect">
            <a:avLst>
              <a:gd fmla="val 16667" name="adj"/>
            </a:avLst>
          </a:prstGeom>
          <a:solidFill>
            <a:srgbClr val="F0EDE8"/>
          </a:solidFill>
          <a:ln cap="flat" cmpd="sng" w="19050">
            <a:solidFill>
              <a:srgbClr val="D478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500" lIns="27000" spcFirstLastPara="1" rIns="27000" wrap="square" tIns="13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📊  Spreadsheets</a:t>
            </a:r>
            <a:endParaRPr sz="1100"/>
          </a:p>
        </p:txBody>
      </p:sp>
      <p:cxnSp>
        <p:nvCxnSpPr>
          <p:cNvPr id="336" name="Google Shape;336;p34"/>
          <p:cNvCxnSpPr/>
          <p:nvPr/>
        </p:nvCxnSpPr>
        <p:spPr>
          <a:xfrm flipH="1" rot="10800000">
            <a:off x="4457700" y="2733675"/>
            <a:ext cx="1028700" cy="219075"/>
          </a:xfrm>
          <a:prstGeom prst="straightConnector1">
            <a:avLst/>
          </a:prstGeom>
          <a:noFill/>
          <a:ln cap="flat" cmpd="sng" w="19050">
            <a:solidFill>
              <a:srgbClr val="BBBBBB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337" name="Google Shape;337;p34"/>
          <p:cNvSpPr/>
          <p:nvPr/>
        </p:nvSpPr>
        <p:spPr>
          <a:xfrm>
            <a:off x="5524500" y="2533650"/>
            <a:ext cx="1476375" cy="400050"/>
          </a:xfrm>
          <a:prstGeom prst="roundRect">
            <a:avLst>
              <a:gd fmla="val 16667" name="adj"/>
            </a:avLst>
          </a:prstGeom>
          <a:solidFill>
            <a:srgbClr val="F0EDE8"/>
          </a:solidFill>
          <a:ln cap="flat" cmpd="sng" w="19050">
            <a:solidFill>
              <a:srgbClr val="D478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500" lIns="27000" spcFirstLastPara="1" rIns="27000" wrap="square" tIns="13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🗂️  Reports</a:t>
            </a:r>
            <a:endParaRPr sz="1100"/>
          </a:p>
        </p:txBody>
      </p:sp>
      <p:cxnSp>
        <p:nvCxnSpPr>
          <p:cNvPr id="338" name="Google Shape;338;p34"/>
          <p:cNvCxnSpPr/>
          <p:nvPr/>
        </p:nvCxnSpPr>
        <p:spPr>
          <a:xfrm>
            <a:off x="4457700" y="2952750"/>
            <a:ext cx="1028700" cy="238125"/>
          </a:xfrm>
          <a:prstGeom prst="straightConnector1">
            <a:avLst/>
          </a:prstGeom>
          <a:noFill/>
          <a:ln cap="flat" cmpd="sng" w="19050">
            <a:solidFill>
              <a:srgbClr val="BBBBBB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339" name="Google Shape;339;p34"/>
          <p:cNvSpPr/>
          <p:nvPr/>
        </p:nvSpPr>
        <p:spPr>
          <a:xfrm>
            <a:off x="5524500" y="2990850"/>
            <a:ext cx="1476375" cy="400050"/>
          </a:xfrm>
          <a:prstGeom prst="roundRect">
            <a:avLst>
              <a:gd fmla="val 16667" name="adj"/>
            </a:avLst>
          </a:prstGeom>
          <a:solidFill>
            <a:srgbClr val="F0EDE8"/>
          </a:solidFill>
          <a:ln cap="flat" cmpd="sng" w="19050">
            <a:solidFill>
              <a:srgbClr val="D478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500" lIns="27000" spcFirstLastPara="1" rIns="27000" wrap="square" tIns="13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💾  Databases</a:t>
            </a:r>
            <a:endParaRPr sz="1100"/>
          </a:p>
        </p:txBody>
      </p:sp>
      <p:cxnSp>
        <p:nvCxnSpPr>
          <p:cNvPr id="340" name="Google Shape;340;p34"/>
          <p:cNvCxnSpPr/>
          <p:nvPr/>
        </p:nvCxnSpPr>
        <p:spPr>
          <a:xfrm>
            <a:off x="4457700" y="2952750"/>
            <a:ext cx="1028700" cy="695325"/>
          </a:xfrm>
          <a:prstGeom prst="straightConnector1">
            <a:avLst/>
          </a:prstGeom>
          <a:noFill/>
          <a:ln cap="flat" cmpd="sng" w="19050">
            <a:solidFill>
              <a:srgbClr val="BBBBBB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341" name="Google Shape;341;p34"/>
          <p:cNvSpPr/>
          <p:nvPr/>
        </p:nvSpPr>
        <p:spPr>
          <a:xfrm>
            <a:off x="5524500" y="3448050"/>
            <a:ext cx="1476375" cy="400050"/>
          </a:xfrm>
          <a:prstGeom prst="roundRect">
            <a:avLst>
              <a:gd fmla="val 16667" name="adj"/>
            </a:avLst>
          </a:prstGeom>
          <a:solidFill>
            <a:srgbClr val="F0EDE8"/>
          </a:solidFill>
          <a:ln cap="flat" cmpd="sng" w="19050">
            <a:solidFill>
              <a:srgbClr val="D478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500" lIns="27000" spcFirstLastPara="1" rIns="27000" wrap="square" tIns="13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📝  Meeting notes</a:t>
            </a:r>
            <a:endParaRPr sz="1100"/>
          </a:p>
        </p:txBody>
      </p:sp>
      <p:cxnSp>
        <p:nvCxnSpPr>
          <p:cNvPr id="342" name="Google Shape;342;p34"/>
          <p:cNvCxnSpPr/>
          <p:nvPr/>
        </p:nvCxnSpPr>
        <p:spPr>
          <a:xfrm>
            <a:off x="4457700" y="2952750"/>
            <a:ext cx="1028700" cy="1152525"/>
          </a:xfrm>
          <a:prstGeom prst="straightConnector1">
            <a:avLst/>
          </a:prstGeom>
          <a:noFill/>
          <a:ln cap="flat" cmpd="sng" w="19050">
            <a:solidFill>
              <a:srgbClr val="BBBBBB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343" name="Google Shape;343;p34"/>
          <p:cNvSpPr/>
          <p:nvPr/>
        </p:nvSpPr>
        <p:spPr>
          <a:xfrm>
            <a:off x="5524500" y="3905250"/>
            <a:ext cx="1476375" cy="400050"/>
          </a:xfrm>
          <a:prstGeom prst="roundRect">
            <a:avLst>
              <a:gd fmla="val 16667" name="adj"/>
            </a:avLst>
          </a:prstGeom>
          <a:solidFill>
            <a:srgbClr val="F0EDE8"/>
          </a:solidFill>
          <a:ln cap="flat" cmpd="sng" w="19050">
            <a:solidFill>
              <a:srgbClr val="D478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500" lIns="27000" spcFirstLastPara="1" rIns="27000" wrap="square" tIns="13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📚  Knowledge base</a:t>
            </a:r>
            <a:endParaRPr sz="1100"/>
          </a:p>
        </p:txBody>
      </p:sp>
      <p:sp>
        <p:nvSpPr>
          <p:cNvPr id="344" name="Google Shape;344;p34"/>
          <p:cNvSpPr/>
          <p:nvPr/>
        </p:nvSpPr>
        <p:spPr>
          <a:xfrm>
            <a:off x="495300" y="4419600"/>
            <a:ext cx="7886700" cy="476250"/>
          </a:xfrm>
          <a:prstGeom prst="roundRect">
            <a:avLst>
              <a:gd fmla="val 16667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ctr" bIns="13500" lIns="27000" spcFirstLastPara="1" rIns="27000" wrap="square" tIns="13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5" name="Google Shape;345;p34"/>
          <p:cNvSpPr/>
          <p:nvPr/>
        </p:nvSpPr>
        <p:spPr>
          <a:xfrm>
            <a:off x="495300" y="4495800"/>
            <a:ext cx="47625" cy="32385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13500" lIns="27000" spcFirstLastPara="1" rIns="27000" wrap="square" tIns="13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6" name="Google Shape;346;p34"/>
          <p:cNvSpPr/>
          <p:nvPr/>
        </p:nvSpPr>
        <p:spPr>
          <a:xfrm>
            <a:off x="666750" y="4457700"/>
            <a:ext cx="7581900" cy="40005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txBody>
          <a:bodyPr anchorCtr="0" anchor="ctr" bIns="13500" lIns="27000" spcFirstLastPara="1" rIns="27000" wrap="square" tIns="13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Think of it like an open-book exam. Claude looks up the right pages from your data — then writes the answer using what it found.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0" y="28575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8858252" cy="5049708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5"/>
          <p:cNvSpPr txBox="1"/>
          <p:nvPr>
            <p:ph type="title"/>
          </p:nvPr>
        </p:nvSpPr>
        <p:spPr>
          <a:xfrm>
            <a:off x="3798475" y="3993250"/>
            <a:ext cx="4744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Raleway"/>
              <a:buNone/>
            </a:pPr>
            <a:r>
              <a:rPr b="1" lang="en" sz="3400">
                <a:solidFill>
                  <a:schemeClr val="lt1"/>
                </a:solidFill>
              </a:rPr>
              <a:t>RAG in the real world</a:t>
            </a:r>
            <a:endParaRPr b="1" sz="2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Raleway"/>
              <a:buNone/>
            </a:pPr>
            <a:r>
              <a:rPr b="1" lang="en" sz="2400"/>
              <a:t>Where Standard Co comes in</a:t>
            </a:r>
            <a:endParaRPr sz="1100"/>
          </a:p>
        </p:txBody>
      </p:sp>
      <p:sp>
        <p:nvSpPr>
          <p:cNvPr id="359" name="Google Shape;359;p36"/>
          <p:cNvSpPr/>
          <p:nvPr/>
        </p:nvSpPr>
        <p:spPr>
          <a:xfrm>
            <a:off x="476250" y="1347568"/>
            <a:ext cx="2571900" cy="952500"/>
          </a:xfrm>
          <a:prstGeom prst="roundRect">
            <a:avLst>
              <a:gd fmla="val 16667" name="adj"/>
            </a:avLst>
          </a:prstGeom>
          <a:solidFill>
            <a:srgbClr val="24145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0" name="Google Shape;360;p36"/>
          <p:cNvSpPr txBox="1"/>
          <p:nvPr/>
        </p:nvSpPr>
        <p:spPr>
          <a:xfrm>
            <a:off x="609600" y="1461868"/>
            <a:ext cx="2305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🧭  Strategy</a:t>
            </a:r>
            <a:endParaRPr sz="1100"/>
          </a:p>
        </p:txBody>
      </p:sp>
      <p:sp>
        <p:nvSpPr>
          <p:cNvPr id="361" name="Google Shape;361;p36"/>
          <p:cNvSpPr txBox="1"/>
          <p:nvPr/>
        </p:nvSpPr>
        <p:spPr>
          <a:xfrm>
            <a:off x="609600" y="1766668"/>
            <a:ext cx="23052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4C8F0"/>
                </a:solidFill>
                <a:latin typeface="Open Sans"/>
                <a:ea typeface="Open Sans"/>
                <a:cs typeface="Open Sans"/>
                <a:sym typeface="Open Sans"/>
              </a:rPr>
              <a:t>Map your data and workflows. Find the highest-leverage spots to deploy Claude.</a:t>
            </a:r>
            <a:endParaRPr sz="1100"/>
          </a:p>
        </p:txBody>
      </p:sp>
      <p:sp>
        <p:nvSpPr>
          <p:cNvPr id="362" name="Google Shape;362;p36"/>
          <p:cNvSpPr/>
          <p:nvPr/>
        </p:nvSpPr>
        <p:spPr>
          <a:xfrm>
            <a:off x="3286125" y="1347568"/>
            <a:ext cx="2571900" cy="952500"/>
          </a:xfrm>
          <a:prstGeom prst="roundRect">
            <a:avLst>
              <a:gd fmla="val 16667" name="adj"/>
            </a:avLst>
          </a:prstGeom>
          <a:solidFill>
            <a:srgbClr val="24145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3" name="Google Shape;363;p36"/>
          <p:cNvSpPr txBox="1"/>
          <p:nvPr/>
        </p:nvSpPr>
        <p:spPr>
          <a:xfrm>
            <a:off x="3419475" y="1461868"/>
            <a:ext cx="2305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🛠️  Build</a:t>
            </a:r>
            <a:endParaRPr sz="1100"/>
          </a:p>
        </p:txBody>
      </p:sp>
      <p:sp>
        <p:nvSpPr>
          <p:cNvPr id="364" name="Google Shape;364;p36"/>
          <p:cNvSpPr txBox="1"/>
          <p:nvPr/>
        </p:nvSpPr>
        <p:spPr>
          <a:xfrm>
            <a:off x="3419475" y="1766668"/>
            <a:ext cx="23052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4C8F0"/>
                </a:solidFill>
                <a:latin typeface="Open Sans"/>
                <a:ea typeface="Open Sans"/>
                <a:cs typeface="Open Sans"/>
                <a:sym typeface="Open Sans"/>
              </a:rPr>
              <a:t>Custom connectors, RAG pipelines, agents — wired into your existing tools.</a:t>
            </a:r>
            <a:endParaRPr sz="1100"/>
          </a:p>
        </p:txBody>
      </p:sp>
      <p:sp>
        <p:nvSpPr>
          <p:cNvPr id="365" name="Google Shape;365;p36"/>
          <p:cNvSpPr/>
          <p:nvPr/>
        </p:nvSpPr>
        <p:spPr>
          <a:xfrm>
            <a:off x="6096000" y="1347568"/>
            <a:ext cx="2571900" cy="952500"/>
          </a:xfrm>
          <a:prstGeom prst="roundRect">
            <a:avLst>
              <a:gd fmla="val 16667" name="adj"/>
            </a:avLst>
          </a:prstGeom>
          <a:solidFill>
            <a:srgbClr val="24145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6" name="Google Shape;366;p36"/>
          <p:cNvSpPr txBox="1"/>
          <p:nvPr/>
        </p:nvSpPr>
        <p:spPr>
          <a:xfrm>
            <a:off x="6229350" y="1461868"/>
            <a:ext cx="2305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🌱  Adopt</a:t>
            </a:r>
            <a:endParaRPr sz="1100"/>
          </a:p>
        </p:txBody>
      </p:sp>
      <p:sp>
        <p:nvSpPr>
          <p:cNvPr id="367" name="Google Shape;367;p36"/>
          <p:cNvSpPr txBox="1"/>
          <p:nvPr/>
        </p:nvSpPr>
        <p:spPr>
          <a:xfrm>
            <a:off x="6229350" y="1766668"/>
            <a:ext cx="23052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4C8F0"/>
                </a:solidFill>
                <a:latin typeface="Open Sans"/>
                <a:ea typeface="Open Sans"/>
                <a:cs typeface="Open Sans"/>
                <a:sym typeface="Open Sans"/>
              </a:rPr>
              <a:t>Training, change management, and ongoing support so it actually sticks.</a:t>
            </a:r>
            <a:endParaRPr sz="1100"/>
          </a:p>
        </p:txBody>
      </p:sp>
      <p:sp>
        <p:nvSpPr>
          <p:cNvPr id="368" name="Google Shape;368;p36"/>
          <p:cNvSpPr txBox="1"/>
          <p:nvPr/>
        </p:nvSpPr>
        <p:spPr>
          <a:xfrm>
            <a:off x="476250" y="2369316"/>
            <a:ext cx="1905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369" name="Google Shape;369;p36"/>
          <p:cNvSpPr/>
          <p:nvPr/>
        </p:nvSpPr>
        <p:spPr>
          <a:xfrm>
            <a:off x="476250" y="2655066"/>
            <a:ext cx="8191500" cy="28500"/>
          </a:xfrm>
          <a:prstGeom prst="rect">
            <a:avLst/>
          </a:prstGeom>
          <a:solidFill>
            <a:srgbClr val="24145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0" name="Google Shape;370;p36"/>
          <p:cNvSpPr/>
          <p:nvPr/>
        </p:nvSpPr>
        <p:spPr>
          <a:xfrm>
            <a:off x="476250" y="2778891"/>
            <a:ext cx="1905000" cy="762000"/>
          </a:xfrm>
          <a:prstGeom prst="roundRect">
            <a:avLst>
              <a:gd fmla="val 16667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1" name="Google Shape;371;p36"/>
          <p:cNvSpPr/>
          <p:nvPr/>
        </p:nvSpPr>
        <p:spPr>
          <a:xfrm>
            <a:off x="476250" y="2855091"/>
            <a:ext cx="38100" cy="609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2" name="Google Shape;372;p36"/>
          <p:cNvSpPr txBox="1"/>
          <p:nvPr/>
        </p:nvSpPr>
        <p:spPr>
          <a:xfrm>
            <a:off x="609600" y="2874141"/>
            <a:ext cx="16383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41452"/>
                </a:solidFill>
                <a:latin typeface="Open Sans"/>
                <a:ea typeface="Open Sans"/>
                <a:cs typeface="Open Sans"/>
                <a:sym typeface="Open Sans"/>
              </a:rPr>
              <a:t>📚  Knowledge RAG</a:t>
            </a:r>
            <a:endParaRPr sz="1100"/>
          </a:p>
        </p:txBody>
      </p:sp>
      <p:sp>
        <p:nvSpPr>
          <p:cNvPr id="373" name="Google Shape;373;p36"/>
          <p:cNvSpPr txBox="1"/>
          <p:nvPr/>
        </p:nvSpPr>
        <p:spPr>
          <a:xfrm>
            <a:off x="609600" y="3140841"/>
            <a:ext cx="16383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Ask your own reports and SOPs</a:t>
            </a:r>
            <a:endParaRPr sz="1100"/>
          </a:p>
        </p:txBody>
      </p:sp>
      <p:sp>
        <p:nvSpPr>
          <p:cNvPr id="374" name="Google Shape;374;p36"/>
          <p:cNvSpPr/>
          <p:nvPr/>
        </p:nvSpPr>
        <p:spPr>
          <a:xfrm>
            <a:off x="2524125" y="2778891"/>
            <a:ext cx="1905000" cy="762000"/>
          </a:xfrm>
          <a:prstGeom prst="roundRect">
            <a:avLst>
              <a:gd fmla="val 16667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5" name="Google Shape;375;p36"/>
          <p:cNvSpPr/>
          <p:nvPr/>
        </p:nvSpPr>
        <p:spPr>
          <a:xfrm>
            <a:off x="2524125" y="2855091"/>
            <a:ext cx="38100" cy="609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6" name="Google Shape;376;p36"/>
          <p:cNvSpPr txBox="1"/>
          <p:nvPr/>
        </p:nvSpPr>
        <p:spPr>
          <a:xfrm>
            <a:off x="2657475" y="2874141"/>
            <a:ext cx="16383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41452"/>
                </a:solidFill>
                <a:latin typeface="Open Sans"/>
                <a:ea typeface="Open Sans"/>
                <a:cs typeface="Open Sans"/>
                <a:sym typeface="Open Sans"/>
              </a:rPr>
              <a:t>📊  Data agents</a:t>
            </a:r>
            <a:endParaRPr sz="1100"/>
          </a:p>
        </p:txBody>
      </p:sp>
      <p:sp>
        <p:nvSpPr>
          <p:cNvPr id="377" name="Google Shape;377;p36"/>
          <p:cNvSpPr txBox="1"/>
          <p:nvPr/>
        </p:nvSpPr>
        <p:spPr>
          <a:xfrm>
            <a:off x="2657475" y="3140841"/>
            <a:ext cx="16383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Auto-pulled insights from your data</a:t>
            </a:r>
            <a:endParaRPr sz="1100"/>
          </a:p>
        </p:txBody>
      </p:sp>
      <p:sp>
        <p:nvSpPr>
          <p:cNvPr id="378" name="Google Shape;378;p36"/>
          <p:cNvSpPr/>
          <p:nvPr/>
        </p:nvSpPr>
        <p:spPr>
          <a:xfrm>
            <a:off x="4572000" y="2778891"/>
            <a:ext cx="1905000" cy="762000"/>
          </a:xfrm>
          <a:prstGeom prst="roundRect">
            <a:avLst>
              <a:gd fmla="val 16667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9" name="Google Shape;379;p36"/>
          <p:cNvSpPr/>
          <p:nvPr/>
        </p:nvSpPr>
        <p:spPr>
          <a:xfrm>
            <a:off x="4572000" y="2855091"/>
            <a:ext cx="38100" cy="609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0" name="Google Shape;380;p36"/>
          <p:cNvSpPr txBox="1"/>
          <p:nvPr/>
        </p:nvSpPr>
        <p:spPr>
          <a:xfrm>
            <a:off x="4705350" y="2874141"/>
            <a:ext cx="16383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41452"/>
                </a:solidFill>
                <a:latin typeface="Open Sans"/>
                <a:ea typeface="Open Sans"/>
                <a:cs typeface="Open Sans"/>
                <a:sym typeface="Open Sans"/>
              </a:rPr>
              <a:t>🔌  Connectors</a:t>
            </a:r>
            <a:endParaRPr sz="1100"/>
          </a:p>
        </p:txBody>
      </p:sp>
      <p:sp>
        <p:nvSpPr>
          <p:cNvPr id="381" name="Google Shape;381;p36"/>
          <p:cNvSpPr txBox="1"/>
          <p:nvPr/>
        </p:nvSpPr>
        <p:spPr>
          <a:xfrm>
            <a:off x="4705350" y="3140841"/>
            <a:ext cx="16383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Plug Claude into your actual tools</a:t>
            </a:r>
            <a:endParaRPr sz="1100"/>
          </a:p>
        </p:txBody>
      </p:sp>
      <p:sp>
        <p:nvSpPr>
          <p:cNvPr id="382" name="Google Shape;382;p36"/>
          <p:cNvSpPr/>
          <p:nvPr/>
        </p:nvSpPr>
        <p:spPr>
          <a:xfrm>
            <a:off x="6619875" y="2778891"/>
            <a:ext cx="1905000" cy="762000"/>
          </a:xfrm>
          <a:prstGeom prst="roundRect">
            <a:avLst>
              <a:gd fmla="val 16667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3" name="Google Shape;383;p36"/>
          <p:cNvSpPr/>
          <p:nvPr/>
        </p:nvSpPr>
        <p:spPr>
          <a:xfrm>
            <a:off x="6619875" y="2855091"/>
            <a:ext cx="38100" cy="609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4" name="Google Shape;384;p36"/>
          <p:cNvSpPr txBox="1"/>
          <p:nvPr/>
        </p:nvSpPr>
        <p:spPr>
          <a:xfrm>
            <a:off x="6753225" y="2874141"/>
            <a:ext cx="16383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41452"/>
                </a:solidFill>
                <a:latin typeface="Open Sans"/>
                <a:ea typeface="Open Sans"/>
                <a:cs typeface="Open Sans"/>
                <a:sym typeface="Open Sans"/>
              </a:rPr>
              <a:t>🧭  Workflow design</a:t>
            </a:r>
            <a:endParaRPr sz="1100"/>
          </a:p>
        </p:txBody>
      </p:sp>
      <p:sp>
        <p:nvSpPr>
          <p:cNvPr id="385" name="Google Shape;385;p36"/>
          <p:cNvSpPr txBox="1"/>
          <p:nvPr/>
        </p:nvSpPr>
        <p:spPr>
          <a:xfrm>
            <a:off x="6753225" y="3140841"/>
            <a:ext cx="16383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From idea to deployed automation</a:t>
            </a:r>
            <a:endParaRPr sz="1100"/>
          </a:p>
        </p:txBody>
      </p:sp>
      <p:sp>
        <p:nvSpPr>
          <p:cNvPr id="386" name="Google Shape;386;p36"/>
          <p:cNvSpPr/>
          <p:nvPr/>
        </p:nvSpPr>
        <p:spPr>
          <a:xfrm>
            <a:off x="476250" y="3779016"/>
            <a:ext cx="8191500" cy="523800"/>
          </a:xfrm>
          <a:prstGeom prst="roundRect">
            <a:avLst>
              <a:gd fmla="val 16667" name="adj"/>
            </a:avLst>
          </a:prstGeom>
          <a:solidFill>
            <a:srgbClr val="24145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7" name="Google Shape;387;p36"/>
          <p:cNvSpPr txBox="1"/>
          <p:nvPr/>
        </p:nvSpPr>
        <p:spPr>
          <a:xfrm>
            <a:off x="666750" y="3855216"/>
            <a:ext cx="7810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Let's talk about what's possibl</a:t>
            </a:r>
            <a:r>
              <a:rPr b="1"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 – tj@standardco.de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 [1774373313236]">
  <a:themeElements>
    <a:clrScheme name="Office">
      <a:dk1>
        <a:srgbClr val="1A1A2E"/>
      </a:dk1>
      <a:lt1>
        <a:srgbClr val="F8F7F4"/>
      </a:lt1>
      <a:dk2>
        <a:srgbClr val="2D2D44"/>
      </a:dk2>
      <a:lt2>
        <a:srgbClr val="EDECEA"/>
      </a:lt2>
      <a:accent1>
        <a:srgbClr val="D4785C"/>
      </a:accent1>
      <a:accent2>
        <a:srgbClr val="5B8A72"/>
      </a:accent2>
      <a:accent3>
        <a:srgbClr val="7B6B8D"/>
      </a:accent3>
      <a:accent4>
        <a:srgbClr val="C4955A"/>
      </a:accent4>
      <a:accent5>
        <a:srgbClr val="5A7D9A"/>
      </a:accent5>
      <a:accent6>
        <a:srgbClr val="8B6E5D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