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embeddedFontLs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aj11Sh9U46xyOvyxL/KVAQej0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7.xml"/><Relationship Id="rId22" Type="http://schemas.openxmlformats.org/officeDocument/2006/relationships/font" Target="fonts/OpenSans-italic.fntdata"/><Relationship Id="rId10" Type="http://schemas.openxmlformats.org/officeDocument/2006/relationships/slide" Target="slides/slide6.xml"/><Relationship Id="rId21" Type="http://schemas.openxmlformats.org/officeDocument/2006/relationships/font" Target="fonts/OpenSans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" name="Google Shape;4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251d87f7e_0_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g3f251d87f7e_0_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f251d87f7e_0_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f3ec981a1_0_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g3ef3ec981a1_0_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ef3ec981a1_0_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251d87f7e_0_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g3f251d87f7e_0_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f251d87f7e_0_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2560d3e9d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g3f2560d3e9d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f2560d3e9d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251d87f7e_0_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g3f251d87f7e_0_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f251d87f7e_0_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9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9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github.com/standardco/ai-presentations/tree/main/monthly_serie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/>
          <p:nvPr/>
        </p:nvSpPr>
        <p:spPr>
          <a:xfrm>
            <a:off x="502920" y="457200"/>
            <a:ext cx="566928" cy="512064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905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02920" y="457200"/>
            <a:ext cx="56692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Open Sans"/>
              <a:buNone/>
            </a:pPr>
            <a:r>
              <a:rPr b="1" lang="en-US" sz="11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SC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188720" y="530352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Open Sans"/>
              <a:buNone/>
            </a:pPr>
            <a:r>
              <a:rPr b="1" lang="en-US" sz="14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STANDARD CO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02920" y="228600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Open Sans"/>
              <a:buNone/>
            </a:pPr>
            <a:r>
              <a:rPr b="1" lang="en-US" sz="40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Agents: It’s not as creepy as it sounds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02920" y="3401568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Open Sans"/>
              <a:buNone/>
            </a:pPr>
            <a:r>
              <a:rPr lang="en-US" sz="18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What they are, what they can do, and how they actually work in Cowork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02920" y="40690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8"/>
              </a:buClr>
              <a:buSzPts val="1250"/>
              <a:buFont typeface="Open Sans"/>
              <a:buNone/>
            </a:pPr>
            <a:r>
              <a:rPr lang="en-US" sz="1250">
                <a:solidFill>
                  <a:srgbClr val="6B6B78"/>
                </a:solidFill>
                <a:latin typeface="Open Sans"/>
                <a:ea typeface="Open Sans"/>
                <a:cs typeface="Open Sans"/>
                <a:sym typeface="Open Sans"/>
              </a:rPr>
              <a:t>Standard Co  |  A hands-on walkthrough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1"/>
          <p:cNvCxnSpPr/>
          <p:nvPr/>
        </p:nvCxnSpPr>
        <p:spPr>
          <a:xfrm>
            <a:off x="502920" y="5440680"/>
            <a:ext cx="1920240" cy="0"/>
          </a:xfrm>
          <a:prstGeom prst="straightConnector1">
            <a:avLst/>
          </a:prstGeom>
          <a:noFill/>
          <a:ln cap="flat" cmpd="sng" w="1905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"/>
          <p:cNvSpPr/>
          <p:nvPr/>
        </p:nvSpPr>
        <p:spPr>
          <a:xfrm>
            <a:off x="502920" y="55321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8"/>
              </a:buClr>
              <a:buSzPts val="1200"/>
              <a:buFont typeface="Open Sans"/>
              <a:buNone/>
            </a:pPr>
            <a:r>
              <a:rPr i="1" lang="en-US" sz="1200">
                <a:solidFill>
                  <a:srgbClr val="6B6B78"/>
                </a:solidFill>
                <a:latin typeface="Open Sans"/>
                <a:ea typeface="Open Sans"/>
                <a:cs typeface="Open Sans"/>
                <a:sym typeface="Open Sans"/>
              </a:rPr>
              <a:t>Less hype, more “here’s what it actually does.”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 txBox="1"/>
          <p:nvPr/>
        </p:nvSpPr>
        <p:spPr>
          <a:xfrm>
            <a:off x="635000" y="5080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Where We Left Off — and What's Next</a:t>
            </a:r>
            <a:endParaRPr/>
          </a:p>
        </p:txBody>
      </p:sp>
      <p:sp>
        <p:nvSpPr>
          <p:cNvPr id="30" name="Google Shape;30;p2"/>
          <p:cNvSpPr txBox="1"/>
          <p:nvPr/>
        </p:nvSpPr>
        <p:spPr>
          <a:xfrm>
            <a:off x="635000" y="1206500"/>
            <a:ext cx="1092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The rollout deck made the case for shared standards. Today's the practical guide.</a:t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635000" y="1841500"/>
            <a:ext cx="5079900" cy="3699300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35000" y="2095500"/>
            <a:ext cx="50800" cy="2159000"/>
          </a:xfrm>
          <a:prstGeom prst="rect">
            <a:avLst/>
          </a:prstGeom>
          <a:solidFill>
            <a:srgbClr val="2414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939800" y="205740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Then: Claude basics, connectors</a:t>
            </a:r>
            <a:endParaRPr/>
          </a:p>
        </p:txBody>
      </p:sp>
      <p:sp>
        <p:nvSpPr>
          <p:cNvPr id="34" name="Google Shape;34;p2"/>
          <p:cNvSpPr txBox="1"/>
          <p:nvPr/>
        </p:nvSpPr>
        <p:spPr>
          <a:xfrm>
            <a:off x="939800" y="2540000"/>
            <a:ext cx="4572000" cy="27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rtl="0" algn="l">
              <a:lnSpc>
                <a:spcPct val="128571"/>
              </a:lnSpc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700"/>
              <a:buChar char="•"/>
            </a:pPr>
            <a:r>
              <a:rPr lang="en-US">
                <a:solidFill>
                  <a:schemeClr val="dk1"/>
                </a:solidFill>
              </a:rPr>
              <a:t>Set up Claude and have a general understanding of memory, projects, and context</a:t>
            </a:r>
            <a:endParaRPr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28571"/>
              </a:lnSpc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700"/>
              <a:buChar char="•"/>
            </a:pPr>
            <a:r>
              <a:rPr lang="en-US">
                <a:solidFill>
                  <a:schemeClr val="dk1"/>
                </a:solidFill>
              </a:rPr>
              <a:t>Showed how Claude connects to your tools — Help Scout, Notion, Slack, Google</a:t>
            </a:r>
            <a:endParaRPr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28571"/>
              </a:lnSpc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700"/>
              <a:buChar char="•"/>
            </a:pPr>
            <a:r>
              <a:rPr b="1" lang="en-US">
                <a:solidFill>
                  <a:schemeClr val="dk1"/>
                </a:solidFill>
              </a:rPr>
              <a:t>We now have a foundation - Claude is set up and we are connected to our tools</a:t>
            </a:r>
            <a:endParaRPr b="1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28571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D2D2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477000" y="1841500"/>
            <a:ext cx="5079900" cy="3699300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477000" y="2095500"/>
            <a:ext cx="50800" cy="2159000"/>
          </a:xfrm>
          <a:prstGeom prst="rect">
            <a:avLst/>
          </a:prstGeom>
          <a:solidFill>
            <a:srgbClr val="2414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6781800" y="205740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Now: Agents</a:t>
            </a:r>
            <a:endParaRPr/>
          </a:p>
        </p:txBody>
      </p:sp>
      <p:sp>
        <p:nvSpPr>
          <p:cNvPr id="38" name="Google Shape;38;p2"/>
          <p:cNvSpPr txBox="1"/>
          <p:nvPr/>
        </p:nvSpPr>
        <p:spPr>
          <a:xfrm>
            <a:off x="6781800" y="2540000"/>
            <a:ext cx="4572000" cy="27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28571"/>
              </a:lnSpc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400"/>
              <a:buChar char="•"/>
            </a:pPr>
            <a:r>
              <a:rPr lang="en-US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What an agent is — software that takes action, not just answers</a:t>
            </a:r>
            <a:endParaRPr>
              <a:solidFill>
                <a:srgbClr val="2D2D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28571"/>
              </a:lnSpc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400"/>
              <a:buChar char="•"/>
            </a:pPr>
            <a:r>
              <a:rPr lang="en-US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How agents chain connectors together to finish a whole task</a:t>
            </a:r>
            <a:endParaRPr>
              <a:solidFill>
                <a:srgbClr val="2D2D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28571"/>
              </a:lnSpc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400"/>
              <a:buChar char="•"/>
            </a:pPr>
            <a:r>
              <a:rPr b="1" lang="en-US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How to build and manage agents</a:t>
            </a:r>
            <a:endParaRPr b="1">
              <a:solidFill>
                <a:srgbClr val="2D2D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28571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D2D2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128571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D2D2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35000" y="6057900"/>
            <a:ext cx="10922000" cy="38100"/>
          </a:xfrm>
          <a:prstGeom prst="rect">
            <a:avLst/>
          </a:prstGeom>
          <a:solidFill>
            <a:srgbClr val="2414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635000" y="6197600"/>
            <a:ext cx="1092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Less philosophy, more "here's what we're shipping."</a:t>
            </a:r>
            <a:endParaRPr/>
          </a:p>
        </p:txBody>
      </p:sp>
      <p:pic>
        <p:nvPicPr>
          <p:cNvPr id="41" name="Google Shape;4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9500" y="254000"/>
            <a:ext cx="4826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11430000" y="310896"/>
            <a:ext cx="475488" cy="420624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11430000" y="310896"/>
            <a:ext cx="47548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SC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502920" y="384048"/>
            <a:ext cx="102687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8"/>
              </a:buClr>
              <a:buSzPts val="1100"/>
              <a:buFont typeface="Open Sans"/>
              <a:buNone/>
            </a:pPr>
            <a:r>
              <a:rPr b="1" lang="en-US" sz="1100">
                <a:solidFill>
                  <a:srgbClr val="6B6B78"/>
                </a:solidFill>
                <a:latin typeface="Open Sans"/>
                <a:ea typeface="Open Sans"/>
                <a:cs typeface="Open Sans"/>
                <a:sym typeface="Open Sans"/>
              </a:rPr>
              <a:t>THE FOUNDATION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502920" y="640080"/>
            <a:ext cx="1118311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300"/>
              <a:buFont typeface="Open Sans"/>
              <a:buNone/>
            </a:pPr>
            <a:r>
              <a:rPr b="1" lang="en-US" sz="33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Agents: now and then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502920" y="1481328"/>
            <a:ext cx="111831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" name="Google Shape;52;p8"/>
          <p:cNvCxnSpPr/>
          <p:nvPr/>
        </p:nvCxnSpPr>
        <p:spPr>
          <a:xfrm>
            <a:off x="502920" y="6327648"/>
            <a:ext cx="1920240" cy="0"/>
          </a:xfrm>
          <a:prstGeom prst="straightConnector1">
            <a:avLst/>
          </a:prstGeom>
          <a:noFill/>
          <a:ln cap="flat" cmpd="sng" w="1905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8"/>
          <p:cNvSpPr/>
          <p:nvPr/>
        </p:nvSpPr>
        <p:spPr>
          <a:xfrm>
            <a:off x="502920" y="6382512"/>
            <a:ext cx="11183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" name="Google Shape;5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101" y="1481328"/>
            <a:ext cx="5164175" cy="4988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1008" y="1508760"/>
            <a:ext cx="5564752" cy="4965003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/>
          <p:nvPr/>
        </p:nvSpPr>
        <p:spPr>
          <a:xfrm>
            <a:off x="3294352" y="2582426"/>
            <a:ext cx="1978688" cy="1745734"/>
          </a:xfrm>
          <a:prstGeom prst="roundRect">
            <a:avLst>
              <a:gd fmla="val 8824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8"/>
          <p:cNvSpPr txBox="1"/>
          <p:nvPr/>
        </p:nvSpPr>
        <p:spPr>
          <a:xfrm>
            <a:off x="3294352" y="2571396"/>
            <a:ext cx="17383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endParaRPr/>
          </a:p>
        </p:txBody>
      </p:sp>
      <p:sp>
        <p:nvSpPr>
          <p:cNvPr id="58" name="Google Shape;58;p8"/>
          <p:cNvSpPr txBox="1"/>
          <p:nvPr/>
        </p:nvSpPr>
        <p:spPr>
          <a:xfrm>
            <a:off x="3294352" y="2889504"/>
            <a:ext cx="155749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Someone had to write code.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8"/>
          <p:cNvSpPr/>
          <p:nvPr/>
        </p:nvSpPr>
        <p:spPr>
          <a:xfrm>
            <a:off x="9609515" y="2500231"/>
            <a:ext cx="1932245" cy="1682116"/>
          </a:xfrm>
          <a:prstGeom prst="roundRect">
            <a:avLst>
              <a:gd fmla="val 8824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8"/>
          <p:cNvSpPr txBox="1"/>
          <p:nvPr/>
        </p:nvSpPr>
        <p:spPr>
          <a:xfrm>
            <a:off x="9609515" y="2489201"/>
            <a:ext cx="17383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/>
          </a:p>
        </p:txBody>
      </p:sp>
      <p:sp>
        <p:nvSpPr>
          <p:cNvPr id="61" name="Google Shape;61;p8"/>
          <p:cNvSpPr txBox="1"/>
          <p:nvPr/>
        </p:nvSpPr>
        <p:spPr>
          <a:xfrm>
            <a:off x="9609515" y="2807309"/>
            <a:ext cx="155749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It’s plain English. The LLM helps interpret it into code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Awesome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/>
          <p:nvPr/>
        </p:nvSpPr>
        <p:spPr>
          <a:xfrm>
            <a:off x="11430000" y="310896"/>
            <a:ext cx="475488" cy="420624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1430000" y="310896"/>
            <a:ext cx="47548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SC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02920" y="384048"/>
            <a:ext cx="102687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8"/>
              </a:buClr>
              <a:buSzPts val="1100"/>
              <a:buFont typeface="Open Sans"/>
              <a:buNone/>
            </a:pPr>
            <a:r>
              <a:rPr b="1" lang="en-US" sz="1100">
                <a:solidFill>
                  <a:srgbClr val="6B6B78"/>
                </a:solidFill>
                <a:latin typeface="Open Sans"/>
                <a:ea typeface="Open Sans"/>
                <a:cs typeface="Open Sans"/>
                <a:sym typeface="Open Sans"/>
              </a:rPr>
              <a:t>THE IDEA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02920" y="640080"/>
            <a:ext cx="1118311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300"/>
              <a:buFont typeface="Open Sans"/>
              <a:buNone/>
            </a:pPr>
            <a:r>
              <a:rPr b="1" lang="en-US" sz="33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An agent is software that takes action — not just answers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02920" y="1481328"/>
            <a:ext cx="111831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6B78"/>
              </a:buClr>
              <a:buSzPts val="1350"/>
              <a:buFont typeface="Open Sans"/>
              <a:buNone/>
            </a:pPr>
            <a:r>
              <a:rPr lang="en-US" sz="1350">
                <a:solidFill>
                  <a:srgbClr val="6B6B78"/>
                </a:solidFill>
                <a:latin typeface="Open Sans"/>
                <a:ea typeface="Open Sans"/>
                <a:cs typeface="Open Sans"/>
                <a:sym typeface="Open Sans"/>
              </a:rPr>
              <a:t>A regular chatbot talks. An agent does the task. That one shift is the whole story.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02920" y="2331720"/>
            <a:ext cx="5413248" cy="3383280"/>
          </a:xfrm>
          <a:prstGeom prst="roundRect">
            <a:avLst>
              <a:gd fmla="val 2432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272784" y="2331720"/>
            <a:ext cx="5413248" cy="3383280"/>
          </a:xfrm>
          <a:prstGeom prst="roundRect">
            <a:avLst>
              <a:gd fmla="val 2432" name="adj"/>
            </a:avLst>
          </a:prstGeom>
          <a:solidFill>
            <a:srgbClr val="2414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822960" y="2606040"/>
            <a:ext cx="4773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B8D"/>
              </a:buClr>
              <a:buSzPts val="1200"/>
              <a:buFont typeface="Open Sans"/>
              <a:buNone/>
            </a:pPr>
            <a:r>
              <a:rPr b="1" lang="en-US" sz="1200">
                <a:solidFill>
                  <a:srgbClr val="7B6B8D"/>
                </a:solidFill>
                <a:latin typeface="Open Sans"/>
                <a:ea typeface="Open Sans"/>
                <a:cs typeface="Open Sans"/>
                <a:sym typeface="Open Sans"/>
              </a:rPr>
              <a:t>A CHATBOT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822960" y="2898648"/>
            <a:ext cx="4773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00"/>
              <a:buFont typeface="Open Sans"/>
              <a:buNone/>
            </a:pPr>
            <a:r>
              <a:rPr b="1" lang="en-US" sz="19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Answers your question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822960" y="3429000"/>
            <a:ext cx="47731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50"/>
              <a:buFont typeface="Open Sans"/>
              <a:buNone/>
            </a:pPr>
            <a:r>
              <a:rPr b="1" lang="en-US" sz="135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You ask, it replies. </a:t>
            </a:r>
            <a:r>
              <a:rPr lang="en-US" sz="135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All the doing is still on you.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22960" y="4114800"/>
            <a:ext cx="477316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Open Sans"/>
              <a:buNone/>
            </a:pPr>
            <a:r>
              <a:rPr i="1" lang="en-US" sz="13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“How do I reset a customer’s password?”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6B6B78"/>
              </a:buClr>
              <a:buSzPts val="1300"/>
              <a:buFont typeface="Open Sans"/>
              <a:buNone/>
            </a:pPr>
            <a:r>
              <a:rPr lang="en-US" sz="1300">
                <a:solidFill>
                  <a:srgbClr val="6B6B78"/>
                </a:solidFill>
                <a:latin typeface="Open Sans"/>
                <a:ea typeface="Open Sans"/>
                <a:cs typeface="Open Sans"/>
                <a:sym typeface="Open Sans"/>
              </a:rPr>
              <a:t>→ It explains the steps. Then you go log in, click around, and do it yourself.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592824" y="2606040"/>
            <a:ext cx="4773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955A"/>
              </a:buClr>
              <a:buSzPts val="1200"/>
              <a:buFont typeface="Open Sans"/>
              <a:buNone/>
            </a:pPr>
            <a:r>
              <a:rPr b="1" lang="en-US" sz="1200">
                <a:solidFill>
                  <a:srgbClr val="C4955A"/>
                </a:solidFill>
                <a:latin typeface="Open Sans"/>
                <a:ea typeface="Open Sans"/>
                <a:cs typeface="Open Sans"/>
                <a:sym typeface="Open Sans"/>
              </a:rPr>
              <a:t>AN AGENT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592824" y="2898648"/>
            <a:ext cx="4773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Open Sans"/>
              <a:buNone/>
            </a:pPr>
            <a:r>
              <a:rPr b="1" lang="en-US" sz="1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Gets it done for you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592824" y="3429000"/>
            <a:ext cx="47731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E9E6F2"/>
              </a:buClr>
              <a:buSzPts val="1350"/>
              <a:buFont typeface="Open Sans"/>
              <a:buNone/>
            </a:pPr>
            <a:r>
              <a:rPr lang="en-US" sz="1350">
                <a:solidFill>
                  <a:srgbClr val="E9E6F2"/>
                </a:solidFill>
                <a:latin typeface="Open Sans"/>
                <a:ea typeface="Open Sans"/>
                <a:cs typeface="Open Sans"/>
                <a:sym typeface="Open Sans"/>
              </a:rPr>
              <a:t>It plans the steps, uses your tools, and acts — </a:t>
            </a:r>
            <a:r>
              <a:rPr b="1" lang="en-US" sz="13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checking in with you where it matters.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592824" y="4114800"/>
            <a:ext cx="477316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pen Sans"/>
              <a:buNone/>
            </a:pPr>
            <a:r>
              <a:rPr i="1"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“Handle this password-reset ticket.”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C9C4DA"/>
              </a:buClr>
              <a:buSzPts val="1300"/>
              <a:buFont typeface="Open Sans"/>
              <a:buNone/>
            </a:pPr>
            <a:r>
              <a:rPr lang="en-US" sz="1300">
                <a:solidFill>
                  <a:srgbClr val="C9C4DA"/>
                </a:solidFill>
                <a:latin typeface="Open Sans"/>
                <a:ea typeface="Open Sans"/>
                <a:cs typeface="Open Sans"/>
                <a:sym typeface="Open Sans"/>
              </a:rPr>
              <a:t>→ It reads the ticket, finds the answer in your docs, and drafts the note — start to finish.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3"/>
          <p:cNvCxnSpPr/>
          <p:nvPr/>
        </p:nvCxnSpPr>
        <p:spPr>
          <a:xfrm>
            <a:off x="502920" y="6327648"/>
            <a:ext cx="1920240" cy="0"/>
          </a:xfrm>
          <a:prstGeom prst="straightConnector1">
            <a:avLst/>
          </a:prstGeom>
          <a:noFill/>
          <a:ln cap="flat" cmpd="sng" w="1905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3"/>
          <p:cNvSpPr/>
          <p:nvPr/>
        </p:nvSpPr>
        <p:spPr>
          <a:xfrm>
            <a:off x="502920" y="6382512"/>
            <a:ext cx="11183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8"/>
              </a:buClr>
              <a:buSzPts val="1100"/>
              <a:buFont typeface="Open Sans"/>
              <a:buNone/>
            </a:pPr>
            <a:r>
              <a:rPr i="1" lang="en-US" sz="1100">
                <a:solidFill>
                  <a:srgbClr val="6B6B78"/>
                </a:solidFill>
                <a:latin typeface="Open Sans"/>
                <a:ea typeface="Open Sans"/>
                <a:cs typeface="Open Sans"/>
                <a:sym typeface="Open Sans"/>
              </a:rPr>
              <a:t>If a person would have to click through it, an agent can probably do it.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11430000" y="310896"/>
            <a:ext cx="475488" cy="420624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11430000" y="310896"/>
            <a:ext cx="47548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SC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502920" y="384048"/>
            <a:ext cx="102687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8"/>
              </a:buClr>
              <a:buSzPts val="1100"/>
              <a:buFont typeface="Open Sans"/>
              <a:buNone/>
            </a:pPr>
            <a:r>
              <a:rPr b="1" lang="en-US" sz="1100">
                <a:solidFill>
                  <a:srgbClr val="6B6B78"/>
                </a:solidFill>
                <a:latin typeface="Open Sans"/>
                <a:ea typeface="Open Sans"/>
                <a:cs typeface="Open Sans"/>
                <a:sym typeface="Open Sans"/>
              </a:rPr>
              <a:t>THE RANGE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502922" y="640074"/>
            <a:ext cx="4902000" cy="11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300"/>
              <a:buFont typeface="Open Sans"/>
              <a:buNone/>
            </a:pPr>
            <a:r>
              <a:rPr b="1" lang="en-US" sz="33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Agent Examples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1450" y="187329"/>
            <a:ext cx="7370550" cy="646511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 txBox="1"/>
          <p:nvPr/>
        </p:nvSpPr>
        <p:spPr>
          <a:xfrm>
            <a:off x="135600" y="1782300"/>
            <a:ext cx="4785000" cy="4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Support ticket triage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Morning news update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Research blog posts 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Writes blog posts (and publishes!)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Searches</a:t>
            </a:r>
            <a:r>
              <a:rPr lang="en-US" sz="2200"/>
              <a:t> slack for interesting topics for the team to write about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CRM daily outreach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Process gemini notes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Monthly contractor payroll report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Monthly release notes email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45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/>
          <p:nvPr/>
        </p:nvSpPr>
        <p:spPr>
          <a:xfrm>
            <a:off x="11430000" y="310896"/>
            <a:ext cx="475488" cy="420624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2700">
            <a:solidFill>
              <a:srgbClr val="8E8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11430000" y="310896"/>
            <a:ext cx="47548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4DA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C9C4DA"/>
                </a:solidFill>
                <a:latin typeface="Open Sans"/>
                <a:ea typeface="Open Sans"/>
                <a:cs typeface="Open Sans"/>
                <a:sym typeface="Open Sans"/>
              </a:rPr>
              <a:t>SC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502920" y="22860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955A"/>
              </a:buClr>
              <a:buSzPts val="1300"/>
              <a:buFont typeface="Open Sans"/>
              <a:buNone/>
            </a:pPr>
            <a:r>
              <a:rPr b="1" lang="en-US" sz="1300">
                <a:solidFill>
                  <a:srgbClr val="C4955A"/>
                </a:solidFill>
                <a:latin typeface="Open Sans"/>
                <a:ea typeface="Open Sans"/>
                <a:cs typeface="Open Sans"/>
                <a:sym typeface="Open Sans"/>
              </a:rPr>
              <a:t>LET’S WATCH ONE WORK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502920" y="2697480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Open Sans"/>
              <a:buNone/>
            </a:pPr>
            <a:r>
              <a:rPr b="1" lang="en-US" sz="4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Let’s build an agent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02920" y="4434840"/>
            <a:ext cx="9692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9C4DA"/>
              </a:buClr>
              <a:buSzPts val="1500"/>
              <a:buFont typeface="Open Sans"/>
              <a:buNone/>
            </a:pPr>
            <a:r>
              <a:rPr lang="en-US" sz="1500">
                <a:solidFill>
                  <a:srgbClr val="C9C4DA"/>
                </a:solidFill>
                <a:latin typeface="Open Sans"/>
                <a:ea typeface="Open Sans"/>
                <a:cs typeface="Open Sans"/>
                <a:sym typeface="Open Sans"/>
              </a:rPr>
              <a:t>We’ll follow a Cowork agent through one real job, step by step: a customer writes in, and the agent answers the question by itself — connecting to Help Scout, checking Notion, and leaving a note on the ticket.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/>
          <p:nvPr/>
        </p:nvSpPr>
        <p:spPr>
          <a:xfrm>
            <a:off x="11430000" y="310896"/>
            <a:ext cx="475488" cy="420624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11430000" y="310896"/>
            <a:ext cx="47548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SC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502920" y="384048"/>
            <a:ext cx="102687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8"/>
              </a:buClr>
              <a:buSzPts val="1100"/>
              <a:buFont typeface="Open Sans"/>
              <a:buNone/>
            </a:pPr>
            <a:r>
              <a:rPr b="1" lang="en-US" sz="1100">
                <a:solidFill>
                  <a:srgbClr val="6B6B78"/>
                </a:solidFill>
                <a:latin typeface="Open Sans"/>
                <a:ea typeface="Open Sans"/>
                <a:cs typeface="Open Sans"/>
                <a:sym typeface="Open Sans"/>
              </a:rPr>
              <a:t>THE FOUNDATION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502920" y="640080"/>
            <a:ext cx="1118311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300"/>
              <a:buFont typeface="Open Sans"/>
              <a:buNone/>
            </a:pPr>
            <a:r>
              <a:rPr b="1" lang="en-US" sz="33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Connectors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502920" y="1481328"/>
            <a:ext cx="111831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6B78"/>
              </a:buClr>
              <a:buSzPts val="1350"/>
              <a:buFont typeface="Open Sans"/>
              <a:buNone/>
            </a:pPr>
            <a:r>
              <a:rPr lang="en-US" sz="1350">
                <a:solidFill>
                  <a:srgbClr val="6B6B78"/>
                </a:solidFill>
                <a:latin typeface="Open Sans"/>
                <a:ea typeface="Open Sans"/>
                <a:cs typeface="Open Sans"/>
                <a:sym typeface="Open Sans"/>
              </a:rPr>
              <a:t>Most (all?) agents need something to connect to….Notion, a database, the internet, </a:t>
            </a:r>
            <a:r>
              <a:rPr i="1" lang="en-US" sz="1350">
                <a:solidFill>
                  <a:srgbClr val="6B6B78"/>
                </a:solidFill>
                <a:latin typeface="Open Sans"/>
                <a:ea typeface="Open Sans"/>
                <a:cs typeface="Open Sans"/>
                <a:sym typeface="Open Sans"/>
              </a:rPr>
              <a:t>something. </a:t>
            </a:r>
            <a:r>
              <a:rPr lang="en-US" sz="1350">
                <a:solidFill>
                  <a:srgbClr val="6B6B78"/>
                </a:solidFill>
                <a:latin typeface="Open Sans"/>
                <a:ea typeface="Open Sans"/>
                <a:cs typeface="Open Sans"/>
                <a:sym typeface="Open Sans"/>
              </a:rPr>
              <a:t>Start here…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9"/>
          <p:cNvCxnSpPr/>
          <p:nvPr/>
        </p:nvCxnSpPr>
        <p:spPr>
          <a:xfrm>
            <a:off x="502920" y="6327648"/>
            <a:ext cx="1920240" cy="0"/>
          </a:xfrm>
          <a:prstGeom prst="straightConnector1">
            <a:avLst/>
          </a:prstGeom>
          <a:noFill/>
          <a:ln cap="flat" cmpd="sng" w="1905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9"/>
          <p:cNvSpPr/>
          <p:nvPr/>
        </p:nvSpPr>
        <p:spPr>
          <a:xfrm>
            <a:off x="502920" y="6382512"/>
            <a:ext cx="11183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2048256"/>
            <a:ext cx="4598538" cy="2551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9708" y="2680165"/>
            <a:ext cx="4968073" cy="353775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9"/>
          <p:cNvSpPr/>
          <p:nvPr/>
        </p:nvSpPr>
        <p:spPr>
          <a:xfrm>
            <a:off x="502920" y="4951730"/>
            <a:ext cx="4690872" cy="1024128"/>
          </a:xfrm>
          <a:prstGeom prst="roundRect">
            <a:avLst>
              <a:gd fmla="val 8036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758952" y="5189474"/>
            <a:ext cx="164592" cy="164592"/>
          </a:xfrm>
          <a:prstGeom prst="ellipse">
            <a:avLst/>
          </a:prstGeom>
          <a:solidFill>
            <a:srgbClr val="C495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1051560" y="5116322"/>
            <a:ext cx="39136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Open Sans"/>
              <a:buNone/>
            </a:pPr>
            <a:r>
              <a:rPr b="1" lang="en-US" sz="145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This is not a session about connectors…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1051560" y="5376672"/>
            <a:ext cx="3913632" cy="544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Open Sans"/>
              <a:buNone/>
            </a:pPr>
            <a:r>
              <a:rPr lang="en-US" sz="12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But they’re important! See our </a:t>
            </a:r>
            <a:r>
              <a:rPr lang="en-US" sz="1200" u="sng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previous session</a:t>
            </a:r>
            <a:r>
              <a:rPr lang="en-US" sz="12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 on how to set up connectors for more info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/>
          <p:nvPr/>
        </p:nvSpPr>
        <p:spPr>
          <a:xfrm>
            <a:off x="11430000" y="310896"/>
            <a:ext cx="475488" cy="420624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11430000" y="310896"/>
            <a:ext cx="47548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SC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502920" y="384048"/>
            <a:ext cx="102687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8"/>
              </a:buClr>
              <a:buSzPts val="1100"/>
              <a:buFont typeface="Open Sans"/>
              <a:buNone/>
            </a:pPr>
            <a:r>
              <a:rPr b="1" lang="en-US" sz="1100">
                <a:solidFill>
                  <a:srgbClr val="6B6B78"/>
                </a:solidFill>
                <a:latin typeface="Open Sans"/>
                <a:ea typeface="Open Sans"/>
                <a:cs typeface="Open Sans"/>
                <a:sym typeface="Open Sans"/>
              </a:rPr>
              <a:t>THE FOUNDATION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502920" y="640080"/>
            <a:ext cx="1118311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300"/>
              <a:buFont typeface="Open Sans"/>
              <a:buNone/>
            </a:pPr>
            <a:r>
              <a:rPr b="1" lang="en-US" sz="33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Where to start…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502920" y="1481328"/>
            <a:ext cx="111831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6B78"/>
              </a:buClr>
              <a:buSzPts val="1350"/>
              <a:buFont typeface="Open Sans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10"/>
          <p:cNvCxnSpPr/>
          <p:nvPr/>
        </p:nvCxnSpPr>
        <p:spPr>
          <a:xfrm>
            <a:off x="502920" y="6327648"/>
            <a:ext cx="1920240" cy="0"/>
          </a:xfrm>
          <a:prstGeom prst="straightConnector1">
            <a:avLst/>
          </a:prstGeom>
          <a:noFill/>
          <a:ln cap="flat" cmpd="sng" w="1905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10"/>
          <p:cNvSpPr/>
          <p:nvPr/>
        </p:nvSpPr>
        <p:spPr>
          <a:xfrm>
            <a:off x="502920" y="6382512"/>
            <a:ext cx="11183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8"/>
              </a:buClr>
              <a:buSzPts val="1100"/>
              <a:buFont typeface="Open Sans"/>
              <a:buNone/>
            </a:pPr>
            <a:r>
              <a:rPr i="1" lang="en-US" sz="1100">
                <a:solidFill>
                  <a:srgbClr val="6B6B78"/>
                </a:solidFill>
                <a:latin typeface="Open Sans"/>
                <a:ea typeface="Open Sans"/>
                <a:cs typeface="Open Sans"/>
                <a:sym typeface="Open Sans"/>
              </a:rPr>
              <a:t>The agent removes the busywork. You stay the decision-maker.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7270750" y="1908925"/>
            <a:ext cx="4415400" cy="2918400"/>
          </a:xfrm>
          <a:prstGeom prst="roundRect">
            <a:avLst>
              <a:gd fmla="val 8036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7462300" y="2781138"/>
            <a:ext cx="3967800" cy="15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Open Sans"/>
              <a:buNone/>
            </a:pPr>
            <a:r>
              <a:rPr lang="en-US" sz="205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Hint: there’s no where in Claude that says “hey, start here if you want to build an agent!”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350" y="1702491"/>
            <a:ext cx="6140125" cy="386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0"/>
          <p:cNvSpPr txBox="1"/>
          <p:nvPr/>
        </p:nvSpPr>
        <p:spPr>
          <a:xfrm>
            <a:off x="7490150" y="2145525"/>
            <a:ext cx="3850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/>
              <a:t>It’s not that </a:t>
            </a:r>
            <a:r>
              <a:rPr b="1" lang="en-US" sz="2500"/>
              <a:t>mysterious</a:t>
            </a:r>
            <a:endParaRPr b="1" sz="2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251d87f7e_0_1"/>
          <p:cNvSpPr/>
          <p:nvPr/>
        </p:nvSpPr>
        <p:spPr>
          <a:xfrm>
            <a:off x="11430000" y="310896"/>
            <a:ext cx="475500" cy="4206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f251d87f7e_0_1"/>
          <p:cNvSpPr/>
          <p:nvPr/>
        </p:nvSpPr>
        <p:spPr>
          <a:xfrm>
            <a:off x="11430000" y="310896"/>
            <a:ext cx="4755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SC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f251d87f7e_0_1"/>
          <p:cNvSpPr/>
          <p:nvPr/>
        </p:nvSpPr>
        <p:spPr>
          <a:xfrm>
            <a:off x="502920" y="384048"/>
            <a:ext cx="1026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8"/>
              </a:buClr>
              <a:buSzPts val="1100"/>
              <a:buFont typeface="Open Sans"/>
              <a:buNone/>
            </a:pPr>
            <a:r>
              <a:rPr b="1" lang="en-US" sz="1100">
                <a:solidFill>
                  <a:srgbClr val="6B6B78"/>
                </a:solidFill>
                <a:latin typeface="Open Sans"/>
                <a:ea typeface="Open Sans"/>
                <a:cs typeface="Open Sans"/>
                <a:sym typeface="Open Sans"/>
              </a:rPr>
              <a:t>BUILD THE AGENT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f251d87f7e_0_1"/>
          <p:cNvSpPr/>
          <p:nvPr/>
        </p:nvSpPr>
        <p:spPr>
          <a:xfrm>
            <a:off x="502921" y="862550"/>
            <a:ext cx="2873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300"/>
              <a:buFont typeface="Open Sans"/>
              <a:buNone/>
            </a:pPr>
            <a:r>
              <a:rPr b="1" lang="en-US" sz="33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Define the </a:t>
            </a:r>
            <a:endParaRPr b="1" sz="3300">
              <a:solidFill>
                <a:srgbClr val="1A1A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300"/>
              <a:buFont typeface="Open Sans"/>
              <a:buNone/>
            </a:pPr>
            <a:r>
              <a:rPr b="1" lang="en-US" sz="33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task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f251d87f7e_0_1"/>
          <p:cNvSpPr/>
          <p:nvPr/>
        </p:nvSpPr>
        <p:spPr>
          <a:xfrm>
            <a:off x="502920" y="1481328"/>
            <a:ext cx="11183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6B78"/>
              </a:buClr>
              <a:buSzPts val="1350"/>
              <a:buFont typeface="Open Sans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g3f251d87f7e_0_1"/>
          <p:cNvCxnSpPr/>
          <p:nvPr/>
        </p:nvCxnSpPr>
        <p:spPr>
          <a:xfrm>
            <a:off x="502920" y="6327648"/>
            <a:ext cx="1920300" cy="0"/>
          </a:xfrm>
          <a:prstGeom prst="straightConnector1">
            <a:avLst/>
          </a:prstGeom>
          <a:noFill/>
          <a:ln cap="flat" cmpd="sng" w="1905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g3f251d87f7e_0_1"/>
          <p:cNvSpPr/>
          <p:nvPr/>
        </p:nvSpPr>
        <p:spPr>
          <a:xfrm>
            <a:off x="502920" y="6382512"/>
            <a:ext cx="11183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8"/>
              </a:buClr>
              <a:buSzPts val="1100"/>
              <a:buFont typeface="Open Sans"/>
              <a:buNone/>
            </a:pPr>
            <a:r>
              <a:rPr i="1" lang="en-US" sz="1100">
                <a:solidFill>
                  <a:srgbClr val="6B6B78"/>
                </a:solidFill>
                <a:latin typeface="Open Sans"/>
                <a:ea typeface="Open Sans"/>
                <a:cs typeface="Open Sans"/>
                <a:sym typeface="Open Sans"/>
              </a:rPr>
              <a:t>The agent removes the busywork. You stay the decision-maker.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g3f251d87f7e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9419" y="77875"/>
            <a:ext cx="7640831" cy="630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f3ec981a1_0_9"/>
          <p:cNvSpPr/>
          <p:nvPr/>
        </p:nvSpPr>
        <p:spPr>
          <a:xfrm>
            <a:off x="11430000" y="310896"/>
            <a:ext cx="475500" cy="4206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ef3ec981a1_0_9"/>
          <p:cNvSpPr/>
          <p:nvPr/>
        </p:nvSpPr>
        <p:spPr>
          <a:xfrm>
            <a:off x="11430000" y="310896"/>
            <a:ext cx="4755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SC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ef3ec981a1_0_9"/>
          <p:cNvSpPr/>
          <p:nvPr/>
        </p:nvSpPr>
        <p:spPr>
          <a:xfrm>
            <a:off x="502920" y="384048"/>
            <a:ext cx="1026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8"/>
              </a:buClr>
              <a:buSzPts val="1100"/>
              <a:buFont typeface="Open Sans"/>
              <a:buNone/>
            </a:pPr>
            <a:r>
              <a:rPr b="1" lang="en-US" sz="1100">
                <a:solidFill>
                  <a:srgbClr val="6B6B78"/>
                </a:solidFill>
                <a:latin typeface="Open Sans"/>
                <a:ea typeface="Open Sans"/>
                <a:cs typeface="Open Sans"/>
                <a:sym typeface="Open Sans"/>
              </a:rPr>
              <a:t>BUILD THE AGENT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ef3ec981a1_0_9"/>
          <p:cNvSpPr/>
          <p:nvPr/>
        </p:nvSpPr>
        <p:spPr>
          <a:xfrm>
            <a:off x="502926" y="862550"/>
            <a:ext cx="3462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300"/>
              <a:buFont typeface="Open Sans"/>
              <a:buNone/>
            </a:pPr>
            <a:r>
              <a:rPr b="1" lang="en-US" sz="33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Define the </a:t>
            </a:r>
            <a:endParaRPr b="1" sz="3300">
              <a:solidFill>
                <a:srgbClr val="1A1A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300"/>
              <a:buFont typeface="Open Sans"/>
              <a:buNone/>
            </a:pPr>
            <a:r>
              <a:rPr b="1" lang="en-US" sz="33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task (cont.)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ef3ec981a1_0_9"/>
          <p:cNvSpPr/>
          <p:nvPr/>
        </p:nvSpPr>
        <p:spPr>
          <a:xfrm>
            <a:off x="502920" y="1481328"/>
            <a:ext cx="11183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6B78"/>
              </a:buClr>
              <a:buSzPts val="1350"/>
              <a:buFont typeface="Open Sans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g3ef3ec981a1_0_9"/>
          <p:cNvCxnSpPr/>
          <p:nvPr/>
        </p:nvCxnSpPr>
        <p:spPr>
          <a:xfrm>
            <a:off x="502920" y="6327648"/>
            <a:ext cx="1920300" cy="0"/>
          </a:xfrm>
          <a:prstGeom prst="straightConnector1">
            <a:avLst/>
          </a:prstGeom>
          <a:noFill/>
          <a:ln cap="flat" cmpd="sng" w="1905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g3ef3ec981a1_0_9"/>
          <p:cNvSpPr/>
          <p:nvPr/>
        </p:nvSpPr>
        <p:spPr>
          <a:xfrm>
            <a:off x="502920" y="6382512"/>
            <a:ext cx="11183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8"/>
              </a:buClr>
              <a:buSzPts val="1100"/>
              <a:buFont typeface="Open Sans"/>
              <a:buNone/>
            </a:pPr>
            <a:r>
              <a:rPr i="1" lang="en-US" sz="1100">
                <a:solidFill>
                  <a:srgbClr val="6B6B78"/>
                </a:solidFill>
                <a:latin typeface="Open Sans"/>
                <a:ea typeface="Open Sans"/>
                <a:cs typeface="Open Sans"/>
                <a:sym typeface="Open Sans"/>
              </a:rPr>
              <a:t>The agent removes the busywork. You stay the decision-maker.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g3ef3ec981a1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0950" y="453711"/>
            <a:ext cx="7071276" cy="595057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ef3ec981a1_0_9"/>
          <p:cNvSpPr/>
          <p:nvPr/>
        </p:nvSpPr>
        <p:spPr>
          <a:xfrm>
            <a:off x="244925" y="2263405"/>
            <a:ext cx="3720600" cy="3349500"/>
          </a:xfrm>
          <a:prstGeom prst="roundRect">
            <a:avLst>
              <a:gd fmla="val 8036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8500" lIns="77050" spcFirstLastPara="1" rIns="77050" wrap="square" tIns="38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1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ef3ec981a1_0_9"/>
          <p:cNvSpPr/>
          <p:nvPr/>
        </p:nvSpPr>
        <p:spPr>
          <a:xfrm>
            <a:off x="433475" y="2525750"/>
            <a:ext cx="3343500" cy="30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500" lIns="77050" spcFirstLastPara="1" rIns="77050" wrap="square" tIns="38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22"/>
              <a:buFont typeface="Open Sans"/>
              <a:buNone/>
            </a:pPr>
            <a:r>
              <a:rPr lang="en-US" sz="1727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Claude will most likely have some clarifying questions for you. That’s normal.</a:t>
            </a:r>
            <a:endParaRPr sz="1727">
              <a:solidFill>
                <a:srgbClr val="1A1A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22"/>
              <a:buFont typeface="Open Sans"/>
              <a:buNone/>
            </a:pPr>
            <a:r>
              <a:t/>
            </a:r>
            <a:endParaRPr sz="1727">
              <a:solidFill>
                <a:srgbClr val="1A1A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22"/>
              <a:buFont typeface="Open Sans"/>
              <a:buNone/>
            </a:pPr>
            <a:r>
              <a:rPr lang="en-US" sz="1727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Once Claude has an idea of what you’re looking for, it’ll run the task to verify all works.</a:t>
            </a:r>
            <a:endParaRPr sz="1727">
              <a:solidFill>
                <a:srgbClr val="1A1A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22"/>
              <a:buFont typeface="Open Sans"/>
              <a:buNone/>
            </a:pPr>
            <a:r>
              <a:t/>
            </a:r>
            <a:endParaRPr sz="1727">
              <a:solidFill>
                <a:srgbClr val="1A1A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22"/>
              <a:buFont typeface="Open Sans"/>
              <a:buNone/>
            </a:pPr>
            <a:r>
              <a:rPr lang="en-US" sz="1727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And then…YOU’RE DONE. YOU HAVE AN AGENT</a:t>
            </a:r>
            <a:endParaRPr sz="1727">
              <a:solidFill>
                <a:srgbClr val="1A1A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22"/>
              <a:buFont typeface="Open Sans"/>
              <a:buNone/>
            </a:pPr>
            <a:r>
              <a:t/>
            </a:r>
            <a:endParaRPr sz="1727">
              <a:solidFill>
                <a:srgbClr val="1A1A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22"/>
              <a:buFont typeface="Open Sans"/>
              <a:buNone/>
            </a:pPr>
            <a:r>
              <a:t/>
            </a:r>
            <a:endParaRPr sz="1727">
              <a:solidFill>
                <a:srgbClr val="1A1A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251d87f7e_0_16"/>
          <p:cNvSpPr/>
          <p:nvPr/>
        </p:nvSpPr>
        <p:spPr>
          <a:xfrm>
            <a:off x="11430000" y="310896"/>
            <a:ext cx="475500" cy="4206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f251d87f7e_0_16"/>
          <p:cNvSpPr/>
          <p:nvPr/>
        </p:nvSpPr>
        <p:spPr>
          <a:xfrm>
            <a:off x="11430000" y="310896"/>
            <a:ext cx="4755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SC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f251d87f7e_0_16"/>
          <p:cNvSpPr/>
          <p:nvPr/>
        </p:nvSpPr>
        <p:spPr>
          <a:xfrm>
            <a:off x="502920" y="384048"/>
            <a:ext cx="1026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6B78"/>
              </a:buClr>
              <a:buSzPts val="1100"/>
              <a:buFont typeface="Open Sans"/>
              <a:buNone/>
            </a:pPr>
            <a:r>
              <a:rPr b="1" lang="en-US" sz="1100">
                <a:solidFill>
                  <a:srgbClr val="6B6B78"/>
                </a:solidFill>
                <a:latin typeface="Open Sans"/>
                <a:ea typeface="Open Sans"/>
                <a:cs typeface="Open Sans"/>
                <a:sym typeface="Open Sans"/>
              </a:rPr>
              <a:t>BUILD THE AGENT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f251d87f7e_0_16"/>
          <p:cNvSpPr/>
          <p:nvPr/>
        </p:nvSpPr>
        <p:spPr>
          <a:xfrm>
            <a:off x="170075" y="731500"/>
            <a:ext cx="4240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300"/>
              <a:buFont typeface="Open Sans"/>
              <a:buNone/>
            </a:pPr>
            <a:r>
              <a:rPr b="1" lang="en-US" sz="33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Good Agent Design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f251d87f7e_0_16"/>
          <p:cNvSpPr/>
          <p:nvPr/>
        </p:nvSpPr>
        <p:spPr>
          <a:xfrm>
            <a:off x="502920" y="1481328"/>
            <a:ext cx="11183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6B78"/>
              </a:buClr>
              <a:buSzPts val="1350"/>
              <a:buFont typeface="Open Sans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g3f251d87f7e_0_16"/>
          <p:cNvCxnSpPr/>
          <p:nvPr/>
        </p:nvCxnSpPr>
        <p:spPr>
          <a:xfrm>
            <a:off x="502920" y="6327648"/>
            <a:ext cx="1920300" cy="0"/>
          </a:xfrm>
          <a:prstGeom prst="straightConnector1">
            <a:avLst/>
          </a:prstGeom>
          <a:noFill/>
          <a:ln cap="flat" cmpd="sng" w="1905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g3f251d87f7e_0_16"/>
          <p:cNvSpPr/>
          <p:nvPr/>
        </p:nvSpPr>
        <p:spPr>
          <a:xfrm>
            <a:off x="502920" y="6382512"/>
            <a:ext cx="11183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8"/>
              </a:buClr>
              <a:buSzPts val="1100"/>
              <a:buFont typeface="Open Sans"/>
              <a:buNone/>
            </a:pPr>
            <a:r>
              <a:rPr i="1" lang="en-US" sz="1100">
                <a:solidFill>
                  <a:srgbClr val="6B6B78"/>
                </a:solidFill>
                <a:latin typeface="Open Sans"/>
                <a:ea typeface="Open Sans"/>
                <a:cs typeface="Open Sans"/>
                <a:sym typeface="Open Sans"/>
              </a:rPr>
              <a:t>The agent removes the busywork. You stay the decision-maker.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g3f251d87f7e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0575" y="0"/>
            <a:ext cx="7781425" cy="586602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f251d87f7e_0_16"/>
          <p:cNvSpPr/>
          <p:nvPr/>
        </p:nvSpPr>
        <p:spPr>
          <a:xfrm>
            <a:off x="267350" y="1600300"/>
            <a:ext cx="3829200" cy="684900"/>
          </a:xfrm>
          <a:prstGeom prst="roundRect">
            <a:avLst>
              <a:gd fmla="val 5056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f251d87f7e_0_16"/>
          <p:cNvSpPr/>
          <p:nvPr/>
        </p:nvSpPr>
        <p:spPr>
          <a:xfrm>
            <a:off x="541665" y="1856332"/>
            <a:ext cx="164700" cy="164700"/>
          </a:xfrm>
          <a:prstGeom prst="ellipse">
            <a:avLst/>
          </a:prstGeom>
          <a:solidFill>
            <a:srgbClr val="8B6E5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f251d87f7e_0_16"/>
          <p:cNvSpPr/>
          <p:nvPr/>
        </p:nvSpPr>
        <p:spPr>
          <a:xfrm>
            <a:off x="834275" y="1783175"/>
            <a:ext cx="3262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Open Sans"/>
              <a:buNone/>
            </a:pPr>
            <a:r>
              <a:rPr b="1" lang="en-US" sz="13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Persona – </a:t>
            </a:r>
            <a:r>
              <a:rPr lang="en-US" sz="13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who are you and why are you doing it? I always like to give my agents names 😀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g3f251d87f7e_0_16"/>
          <p:cNvSpPr/>
          <p:nvPr/>
        </p:nvSpPr>
        <p:spPr>
          <a:xfrm>
            <a:off x="267350" y="2446350"/>
            <a:ext cx="3829200" cy="684900"/>
          </a:xfrm>
          <a:prstGeom prst="roundRect">
            <a:avLst>
              <a:gd fmla="val 5056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f251d87f7e_0_16"/>
          <p:cNvSpPr/>
          <p:nvPr/>
        </p:nvSpPr>
        <p:spPr>
          <a:xfrm>
            <a:off x="541665" y="2702382"/>
            <a:ext cx="164700" cy="164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f251d87f7e_0_16"/>
          <p:cNvSpPr/>
          <p:nvPr/>
        </p:nvSpPr>
        <p:spPr>
          <a:xfrm>
            <a:off x="834275" y="2578499"/>
            <a:ext cx="3262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Open Sans"/>
              <a:buNone/>
            </a:pPr>
            <a:r>
              <a:rPr b="1" lang="en-US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Tools</a:t>
            </a:r>
            <a:r>
              <a:rPr b="1" lang="en-US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– </a:t>
            </a:r>
            <a:r>
              <a:rPr lang="en-US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define the connectors this agent will be doing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" name="Google Shape;186;g3f251d87f7e_0_16"/>
          <p:cNvSpPr/>
          <p:nvPr/>
        </p:nvSpPr>
        <p:spPr>
          <a:xfrm>
            <a:off x="267350" y="3292400"/>
            <a:ext cx="3829200" cy="684900"/>
          </a:xfrm>
          <a:prstGeom prst="roundRect">
            <a:avLst>
              <a:gd fmla="val 5056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f251d87f7e_0_16"/>
          <p:cNvSpPr/>
          <p:nvPr/>
        </p:nvSpPr>
        <p:spPr>
          <a:xfrm>
            <a:off x="541665" y="3548432"/>
            <a:ext cx="164700" cy="1647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f251d87f7e_0_16"/>
          <p:cNvSpPr/>
          <p:nvPr/>
        </p:nvSpPr>
        <p:spPr>
          <a:xfrm>
            <a:off x="834275" y="3475276"/>
            <a:ext cx="326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Open Sans"/>
              <a:buNone/>
            </a:pPr>
            <a:r>
              <a:rPr b="1" lang="en-US" sz="13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The Task</a:t>
            </a:r>
            <a:r>
              <a:rPr b="1" lang="en-US" sz="13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– </a:t>
            </a:r>
            <a:r>
              <a:rPr lang="en-US" sz="13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define the task to be done </a:t>
            </a:r>
            <a:r>
              <a:rPr b="1" lang="en-US" sz="13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in plain english!</a:t>
            </a:r>
            <a:r>
              <a:rPr lang="en-US" sz="13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Pretend like you’re coaching a toddler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g3f251d87f7e_0_16"/>
          <p:cNvSpPr/>
          <p:nvPr/>
        </p:nvSpPr>
        <p:spPr>
          <a:xfrm>
            <a:off x="267350" y="4073025"/>
            <a:ext cx="3829200" cy="684900"/>
          </a:xfrm>
          <a:prstGeom prst="roundRect">
            <a:avLst>
              <a:gd fmla="val 5056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f251d87f7e_0_16"/>
          <p:cNvSpPr/>
          <p:nvPr/>
        </p:nvSpPr>
        <p:spPr>
          <a:xfrm>
            <a:off x="541665" y="4329057"/>
            <a:ext cx="164700" cy="16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f251d87f7e_0_16"/>
          <p:cNvSpPr/>
          <p:nvPr/>
        </p:nvSpPr>
        <p:spPr>
          <a:xfrm>
            <a:off x="834275" y="4255901"/>
            <a:ext cx="326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Open Sans"/>
              <a:buNone/>
            </a:pPr>
            <a:r>
              <a:rPr b="1" lang="en-US" sz="13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Frequency</a:t>
            </a:r>
            <a:r>
              <a:rPr b="1" lang="en-US" sz="13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– </a:t>
            </a:r>
            <a:r>
              <a:rPr lang="en-US" sz="13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you can easily change this later. But how often do you do stuff?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" name="Google Shape;192;g3f251d87f7e_0_16"/>
          <p:cNvSpPr/>
          <p:nvPr/>
        </p:nvSpPr>
        <p:spPr>
          <a:xfrm>
            <a:off x="267350" y="4853650"/>
            <a:ext cx="3829200" cy="684900"/>
          </a:xfrm>
          <a:prstGeom prst="roundRect">
            <a:avLst>
              <a:gd fmla="val 5056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f251d87f7e_0_16"/>
          <p:cNvSpPr/>
          <p:nvPr/>
        </p:nvSpPr>
        <p:spPr>
          <a:xfrm>
            <a:off x="541665" y="5109682"/>
            <a:ext cx="164700" cy="1647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f251d87f7e_0_16"/>
          <p:cNvSpPr/>
          <p:nvPr/>
        </p:nvSpPr>
        <p:spPr>
          <a:xfrm>
            <a:off x="834275" y="5036525"/>
            <a:ext cx="3262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Open Sans"/>
              <a:buNone/>
            </a:pPr>
            <a:r>
              <a:rPr b="1" lang="en-US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Exceptions</a:t>
            </a:r>
            <a:r>
              <a:rPr b="1" lang="en-US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– </a:t>
            </a:r>
            <a:r>
              <a:rPr lang="en-US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“send me a text message if all hell breaks loose”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"/>
          <p:cNvSpPr/>
          <p:nvPr/>
        </p:nvSpPr>
        <p:spPr>
          <a:xfrm>
            <a:off x="11430000" y="310896"/>
            <a:ext cx="475488" cy="420624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11430000" y="310896"/>
            <a:ext cx="47548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SC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4"/>
          <p:cNvSpPr/>
          <p:nvPr/>
        </p:nvSpPr>
        <p:spPr>
          <a:xfrm>
            <a:off x="502920" y="384048"/>
            <a:ext cx="102687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8"/>
              </a:buClr>
              <a:buSzPts val="1100"/>
              <a:buFont typeface="Open Sans"/>
              <a:buNone/>
            </a:pPr>
            <a:r>
              <a:rPr b="1" lang="en-US" sz="1100">
                <a:solidFill>
                  <a:srgbClr val="6B6B78"/>
                </a:solidFill>
                <a:latin typeface="Open Sans"/>
                <a:ea typeface="Open Sans"/>
                <a:cs typeface="Open Sans"/>
                <a:sym typeface="Open Sans"/>
              </a:rPr>
              <a:t>THE INFRASTRUCTURE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502920" y="640080"/>
            <a:ext cx="1118311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300"/>
              <a:buFont typeface="Open Sans"/>
              <a:buNone/>
            </a:pPr>
            <a:r>
              <a:rPr b="1" lang="en-US" sz="33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So what does an agent…look like?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4"/>
          <p:cNvSpPr/>
          <p:nvPr/>
        </p:nvSpPr>
        <p:spPr>
          <a:xfrm>
            <a:off x="6766560" y="2377440"/>
            <a:ext cx="4965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Open Sans"/>
              <a:buNone/>
            </a:pPr>
            <a:r>
              <a:rPr b="1" lang="en-US" sz="16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How does it work?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6720840" y="2834640"/>
            <a:ext cx="4965192" cy="932688"/>
          </a:xfrm>
          <a:prstGeom prst="roundRect">
            <a:avLst>
              <a:gd fmla="val 8824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6976872" y="3054096"/>
            <a:ext cx="146304" cy="146304"/>
          </a:xfrm>
          <a:prstGeom prst="ellipse">
            <a:avLst/>
          </a:prstGeom>
          <a:solidFill>
            <a:srgbClr val="5B8A7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7232904" y="2980944"/>
            <a:ext cx="4233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Open Sans"/>
              <a:buNone/>
            </a:pPr>
            <a:r>
              <a:rPr b="1" lang="en-US" sz="135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The agent runs locally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7232904" y="3291840"/>
            <a:ext cx="42336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237341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632"/>
              <a:buFont typeface="Open Sans"/>
              <a:buNone/>
            </a:pPr>
            <a:r>
              <a:rPr lang="en-US" sz="1033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The agent actually runs on your machine (more on this next)</a:t>
            </a:r>
            <a:endParaRPr sz="10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6720840" y="3904488"/>
            <a:ext cx="4965192" cy="932688"/>
          </a:xfrm>
          <a:prstGeom prst="roundRect">
            <a:avLst>
              <a:gd fmla="val 8824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6976872" y="4123944"/>
            <a:ext cx="146304" cy="146304"/>
          </a:xfrm>
          <a:prstGeom prst="ellipse">
            <a:avLst/>
          </a:prstGeom>
          <a:solidFill>
            <a:srgbClr val="5A7D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7232904" y="4050792"/>
            <a:ext cx="4233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Open Sans"/>
              <a:buNone/>
            </a:pPr>
            <a:r>
              <a:rPr b="1" lang="en-US" sz="135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It’s just…text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7232904" y="4361688"/>
            <a:ext cx="42336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86335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05"/>
              <a:buFont typeface="Open Sans"/>
              <a:buNone/>
            </a:pPr>
            <a:r>
              <a:rPr lang="en-US" sz="1005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An agent is just markdown (fancy text). You can edit anytime!</a:t>
            </a:r>
            <a:endParaRPr sz="100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14"/>
          <p:cNvCxnSpPr/>
          <p:nvPr/>
        </p:nvCxnSpPr>
        <p:spPr>
          <a:xfrm>
            <a:off x="502920" y="6327648"/>
            <a:ext cx="1920240" cy="0"/>
          </a:xfrm>
          <a:prstGeom prst="straightConnector1">
            <a:avLst/>
          </a:prstGeom>
          <a:noFill/>
          <a:ln cap="flat" cmpd="sng" w="1905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4" name="Google Shape;21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5" y="1347049"/>
            <a:ext cx="5510950" cy="551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2560d3e9d_0_0"/>
          <p:cNvSpPr/>
          <p:nvPr/>
        </p:nvSpPr>
        <p:spPr>
          <a:xfrm>
            <a:off x="11430000" y="310896"/>
            <a:ext cx="475500" cy="4206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f2560d3e9d_0_0"/>
          <p:cNvSpPr/>
          <p:nvPr/>
        </p:nvSpPr>
        <p:spPr>
          <a:xfrm>
            <a:off x="11430000" y="310896"/>
            <a:ext cx="4755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SC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f2560d3e9d_0_0"/>
          <p:cNvSpPr/>
          <p:nvPr/>
        </p:nvSpPr>
        <p:spPr>
          <a:xfrm>
            <a:off x="502920" y="384048"/>
            <a:ext cx="1026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8"/>
              </a:buClr>
              <a:buSzPts val="1100"/>
              <a:buFont typeface="Open Sans"/>
              <a:buNone/>
            </a:pPr>
            <a:r>
              <a:rPr b="1" lang="en-US" sz="1100">
                <a:solidFill>
                  <a:srgbClr val="6B6B78"/>
                </a:solidFill>
                <a:latin typeface="Open Sans"/>
                <a:ea typeface="Open Sans"/>
                <a:cs typeface="Open Sans"/>
                <a:sym typeface="Open Sans"/>
              </a:rPr>
              <a:t>THE INFRASTRUCTURE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f2560d3e9d_0_0"/>
          <p:cNvSpPr/>
          <p:nvPr/>
        </p:nvSpPr>
        <p:spPr>
          <a:xfrm>
            <a:off x="246897" y="658250"/>
            <a:ext cx="4298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300"/>
              <a:buFont typeface="Open Sans"/>
              <a:buNone/>
            </a:pPr>
            <a:r>
              <a:rPr b="1" lang="en-US" sz="33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Manage an agent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g3f2560d3e9d_0_0"/>
          <p:cNvCxnSpPr/>
          <p:nvPr/>
        </p:nvCxnSpPr>
        <p:spPr>
          <a:xfrm>
            <a:off x="502920" y="6327648"/>
            <a:ext cx="1920300" cy="0"/>
          </a:xfrm>
          <a:prstGeom prst="straightConnector1">
            <a:avLst/>
          </a:prstGeom>
          <a:noFill/>
          <a:ln cap="flat" cmpd="sng" w="1905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25" name="Google Shape;225;g3f2560d3e9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5625" y="0"/>
            <a:ext cx="7890900" cy="6667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f2560d3e9d_0_0"/>
          <p:cNvSpPr/>
          <p:nvPr/>
        </p:nvSpPr>
        <p:spPr>
          <a:xfrm>
            <a:off x="102350" y="1640500"/>
            <a:ext cx="4298700" cy="2408400"/>
          </a:xfrm>
          <a:prstGeom prst="roundRect">
            <a:avLst>
              <a:gd fmla="val 8824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 past runs to see how they performed (click into the individual run)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 instructions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Edit frequency (or manual)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manually –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always manually run an agent the first time to properly set permissions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f2560d3e9d_0_0"/>
          <p:cNvSpPr/>
          <p:nvPr/>
        </p:nvSpPr>
        <p:spPr>
          <a:xfrm>
            <a:off x="102350" y="4466300"/>
            <a:ext cx="4298700" cy="539400"/>
          </a:xfrm>
          <a:prstGeom prst="roundRect">
            <a:avLst>
              <a:gd fmla="val 8824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f2560d3e9d_0_0"/>
          <p:cNvSpPr/>
          <p:nvPr/>
        </p:nvSpPr>
        <p:spPr>
          <a:xfrm>
            <a:off x="356522" y="4662796"/>
            <a:ext cx="146400" cy="14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f2560d3e9d_0_0"/>
          <p:cNvSpPr txBox="1"/>
          <p:nvPr/>
        </p:nvSpPr>
        <p:spPr>
          <a:xfrm>
            <a:off x="720450" y="4525700"/>
            <a:ext cx="3351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Blue dot – success</a:t>
            </a:r>
            <a:endParaRPr/>
          </a:p>
        </p:txBody>
      </p:sp>
      <p:sp>
        <p:nvSpPr>
          <p:cNvPr id="230" name="Google Shape;230;g3f2560d3e9d_0_0"/>
          <p:cNvSpPr/>
          <p:nvPr/>
        </p:nvSpPr>
        <p:spPr>
          <a:xfrm>
            <a:off x="102350" y="5298725"/>
            <a:ext cx="4298700" cy="539400"/>
          </a:xfrm>
          <a:prstGeom prst="roundRect">
            <a:avLst>
              <a:gd fmla="val 8824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f2560d3e9d_0_0"/>
          <p:cNvSpPr/>
          <p:nvPr/>
        </p:nvSpPr>
        <p:spPr>
          <a:xfrm>
            <a:off x="356522" y="5495221"/>
            <a:ext cx="146400" cy="146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f2560d3e9d_0_0"/>
          <p:cNvSpPr txBox="1"/>
          <p:nvPr/>
        </p:nvSpPr>
        <p:spPr>
          <a:xfrm>
            <a:off x="720450" y="5358125"/>
            <a:ext cx="35745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Yellow  dot – failure (usually permissions)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251d87f7e_0_48"/>
          <p:cNvSpPr/>
          <p:nvPr/>
        </p:nvSpPr>
        <p:spPr>
          <a:xfrm>
            <a:off x="11430000" y="310896"/>
            <a:ext cx="475500" cy="4206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f251d87f7e_0_48"/>
          <p:cNvSpPr/>
          <p:nvPr/>
        </p:nvSpPr>
        <p:spPr>
          <a:xfrm>
            <a:off x="11430000" y="310896"/>
            <a:ext cx="4755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Open Sans"/>
              <a:buNone/>
            </a:pPr>
            <a:r>
              <a:rPr b="1" lang="en-US" sz="9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SC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f251d87f7e_0_48"/>
          <p:cNvSpPr/>
          <p:nvPr/>
        </p:nvSpPr>
        <p:spPr>
          <a:xfrm>
            <a:off x="502920" y="384048"/>
            <a:ext cx="1026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8"/>
              </a:buClr>
              <a:buSzPts val="1100"/>
              <a:buFont typeface="Open Sans"/>
              <a:buNone/>
            </a:pPr>
            <a:r>
              <a:rPr b="1" lang="en-US" sz="1100">
                <a:solidFill>
                  <a:srgbClr val="6B6B78"/>
                </a:solidFill>
                <a:latin typeface="Open Sans"/>
                <a:ea typeface="Open Sans"/>
                <a:cs typeface="Open Sans"/>
                <a:sym typeface="Open Sans"/>
              </a:rPr>
              <a:t>THE BIG ONE: HOSTING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f251d87f7e_0_48"/>
          <p:cNvSpPr/>
          <p:nvPr/>
        </p:nvSpPr>
        <p:spPr>
          <a:xfrm>
            <a:off x="502920" y="640080"/>
            <a:ext cx="11183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300"/>
              <a:buFont typeface="Open Sans"/>
              <a:buNone/>
            </a:pPr>
            <a:r>
              <a:rPr b="1" lang="en-US" sz="33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“It runs on my laptop?”  Yes — for now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f251d87f7e_0_48"/>
          <p:cNvSpPr/>
          <p:nvPr/>
        </p:nvSpPr>
        <p:spPr>
          <a:xfrm>
            <a:off x="502920" y="1481328"/>
            <a:ext cx="11183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6B78"/>
              </a:buClr>
              <a:buSzPts val="1350"/>
              <a:buFont typeface="Open Sans"/>
              <a:buNone/>
            </a:pPr>
            <a:r>
              <a:rPr lang="en-US" sz="1350">
                <a:solidFill>
                  <a:srgbClr val="6B6B78"/>
                </a:solidFill>
                <a:latin typeface="Open Sans"/>
                <a:ea typeface="Open Sans"/>
                <a:cs typeface="Open Sans"/>
                <a:sym typeface="Open Sans"/>
              </a:rPr>
              <a:t>This is the limitation people hit first, so it’s worth understanding plainly.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f251d87f7e_0_48"/>
          <p:cNvSpPr/>
          <p:nvPr/>
        </p:nvSpPr>
        <p:spPr>
          <a:xfrm>
            <a:off x="502920" y="2331720"/>
            <a:ext cx="5852100" cy="3337500"/>
          </a:xfrm>
          <a:prstGeom prst="roundRect">
            <a:avLst>
              <a:gd fmla="val 1644" name="adj"/>
            </a:avLst>
          </a:prstGeom>
          <a:solidFill>
            <a:srgbClr val="2414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f251d87f7e_0_48"/>
          <p:cNvSpPr/>
          <p:nvPr/>
        </p:nvSpPr>
        <p:spPr>
          <a:xfrm>
            <a:off x="868680" y="2624328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pen Sans"/>
              <a:buNone/>
            </a:pPr>
            <a:r>
              <a:rPr b="1"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What this means in practice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f251d87f7e_0_48"/>
          <p:cNvSpPr/>
          <p:nvPr/>
        </p:nvSpPr>
        <p:spPr>
          <a:xfrm>
            <a:off x="868680" y="3200400"/>
            <a:ext cx="51207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D9D4E6"/>
              </a:buClr>
              <a:buSzPts val="1400"/>
              <a:buFont typeface="Open Sans"/>
              <a:buNone/>
            </a:pPr>
            <a:r>
              <a:rPr lang="en-US" sz="1400">
                <a:solidFill>
                  <a:srgbClr val="D9D4E6"/>
                </a:solidFill>
                <a:latin typeface="Open Sans"/>
                <a:ea typeface="Open Sans"/>
                <a:cs typeface="Open Sans"/>
                <a:sym typeface="Open Sans"/>
              </a:rPr>
              <a:t>The agent lives on your computer, not on an always-on server.</a:t>
            </a:r>
            <a:br>
              <a:rPr lang="en-US" sz="1400">
                <a:solidFill>
                  <a:srgbClr val="D9D4E6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-US" sz="1400">
                <a:solidFill>
                  <a:srgbClr val="D9D4E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400">
                <a:solidFill>
                  <a:srgbClr val="D9D4E6"/>
                </a:solidFill>
                <a:latin typeface="Open Sans"/>
                <a:ea typeface="Open Sans"/>
                <a:cs typeface="Open Sans"/>
                <a:sym typeface="Open Sans"/>
              </a:rPr>
              <a:t>•  If your laptop is asleep or off, a 6am scheduled run won’t fire.</a:t>
            </a:r>
            <a:br>
              <a:rPr lang="en-US" sz="1400">
                <a:solidFill>
                  <a:srgbClr val="D9D4E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400">
                <a:solidFill>
                  <a:srgbClr val="D9D4E6"/>
                </a:solidFill>
                <a:latin typeface="Open Sans"/>
                <a:ea typeface="Open Sans"/>
                <a:cs typeface="Open Sans"/>
                <a:sym typeface="Open Sans"/>
              </a:rPr>
              <a:t>•  Close the app mid-task and the task stops.</a:t>
            </a:r>
            <a:br>
              <a:rPr lang="en-US" sz="1400">
                <a:solidFill>
                  <a:srgbClr val="D9D4E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400">
                <a:solidFill>
                  <a:srgbClr val="D9D4E6"/>
                </a:solidFill>
                <a:latin typeface="Open Sans"/>
                <a:ea typeface="Open Sans"/>
                <a:cs typeface="Open Sans"/>
                <a:sym typeface="Open Sans"/>
              </a:rPr>
              <a:t>•  It uses your machine’s resources while it works.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f251d87f7e_0_48"/>
          <p:cNvSpPr/>
          <p:nvPr/>
        </p:nvSpPr>
        <p:spPr>
          <a:xfrm>
            <a:off x="6766560" y="2377440"/>
            <a:ext cx="4965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Open Sans"/>
              <a:buNone/>
            </a:pPr>
            <a:r>
              <a:rPr b="1" lang="en-US" sz="16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How to live with it today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f251d87f7e_0_48"/>
          <p:cNvSpPr/>
          <p:nvPr/>
        </p:nvSpPr>
        <p:spPr>
          <a:xfrm>
            <a:off x="6720840" y="2834640"/>
            <a:ext cx="4965300" cy="932700"/>
          </a:xfrm>
          <a:prstGeom prst="roundRect">
            <a:avLst>
              <a:gd fmla="val 8824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f251d87f7e_0_48"/>
          <p:cNvSpPr/>
          <p:nvPr/>
        </p:nvSpPr>
        <p:spPr>
          <a:xfrm>
            <a:off x="6976872" y="3054096"/>
            <a:ext cx="146400" cy="146400"/>
          </a:xfrm>
          <a:prstGeom prst="ellipse">
            <a:avLst/>
          </a:prstGeom>
          <a:solidFill>
            <a:srgbClr val="5B8A7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f251d87f7e_0_48"/>
          <p:cNvSpPr/>
          <p:nvPr/>
        </p:nvSpPr>
        <p:spPr>
          <a:xfrm>
            <a:off x="7232904" y="2980944"/>
            <a:ext cx="4233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Open Sans"/>
              <a:buNone/>
            </a:pPr>
            <a:r>
              <a:rPr b="1" lang="en-US" sz="135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Keep the machine awake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f251d87f7e_0_48"/>
          <p:cNvSpPr/>
          <p:nvPr/>
        </p:nvSpPr>
        <p:spPr>
          <a:xfrm>
            <a:off x="7232904" y="3291840"/>
            <a:ext cx="4233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37341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632"/>
              <a:buFont typeface="Open Sans"/>
              <a:buNone/>
            </a:pPr>
            <a:r>
              <a:rPr lang="en-US" sz="633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For scheduled jobs, leave it plugged in with sleep disabled — or use a dedicated always-on machine.</a:t>
            </a:r>
            <a:endParaRPr sz="6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f251d87f7e_0_48"/>
          <p:cNvSpPr/>
          <p:nvPr/>
        </p:nvSpPr>
        <p:spPr>
          <a:xfrm>
            <a:off x="6720840" y="3904488"/>
            <a:ext cx="4965300" cy="932700"/>
          </a:xfrm>
          <a:prstGeom prst="roundRect">
            <a:avLst>
              <a:gd fmla="val 8824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f251d87f7e_0_48"/>
          <p:cNvSpPr/>
          <p:nvPr/>
        </p:nvSpPr>
        <p:spPr>
          <a:xfrm>
            <a:off x="6976872" y="4123944"/>
            <a:ext cx="146400" cy="146400"/>
          </a:xfrm>
          <a:prstGeom prst="ellipse">
            <a:avLst/>
          </a:prstGeom>
          <a:solidFill>
            <a:srgbClr val="5A7D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f251d87f7e_0_48"/>
          <p:cNvSpPr/>
          <p:nvPr/>
        </p:nvSpPr>
        <p:spPr>
          <a:xfrm>
            <a:off x="7232904" y="4050792"/>
            <a:ext cx="4233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Open Sans"/>
              <a:buNone/>
            </a:pPr>
            <a:r>
              <a:rPr b="1" lang="en-US" sz="135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Run heavy jobs while you work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f251d87f7e_0_48"/>
          <p:cNvSpPr/>
          <p:nvPr/>
        </p:nvSpPr>
        <p:spPr>
          <a:xfrm>
            <a:off x="7232904" y="4361688"/>
            <a:ext cx="4233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86335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05"/>
              <a:buFont typeface="Open Sans"/>
              <a:buNone/>
            </a:pPr>
            <a:r>
              <a:rPr lang="en-US" sz="805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Kick off big tasks during the day when the computer’s already on and you can watch.</a:t>
            </a:r>
            <a:endParaRPr sz="80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f251d87f7e_0_48"/>
          <p:cNvSpPr/>
          <p:nvPr/>
        </p:nvSpPr>
        <p:spPr>
          <a:xfrm>
            <a:off x="6720840" y="4974336"/>
            <a:ext cx="4965300" cy="932700"/>
          </a:xfrm>
          <a:prstGeom prst="roundRect">
            <a:avLst>
              <a:gd fmla="val 8824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f251d87f7e_0_48"/>
          <p:cNvSpPr/>
          <p:nvPr/>
        </p:nvSpPr>
        <p:spPr>
          <a:xfrm>
            <a:off x="6976872" y="5193792"/>
            <a:ext cx="146400" cy="146400"/>
          </a:xfrm>
          <a:prstGeom prst="ellipse">
            <a:avLst/>
          </a:prstGeom>
          <a:solidFill>
            <a:srgbClr val="C495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f251d87f7e_0_48"/>
          <p:cNvSpPr/>
          <p:nvPr/>
        </p:nvSpPr>
        <p:spPr>
          <a:xfrm>
            <a:off x="7232904" y="5120640"/>
            <a:ext cx="4233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Open Sans"/>
              <a:buNone/>
            </a:pPr>
            <a:r>
              <a:rPr b="1" lang="en-US" sz="135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Cloud hosting is coming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f251d87f7e_0_48"/>
          <p:cNvSpPr/>
          <p:nvPr/>
        </p:nvSpPr>
        <p:spPr>
          <a:xfrm>
            <a:off x="7232904" y="5431536"/>
            <a:ext cx="4233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86335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05"/>
              <a:buFont typeface="Open Sans"/>
              <a:buNone/>
            </a:pPr>
            <a:r>
              <a:rPr lang="en-US" sz="805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Always-on, server-side agents are on the roadmap — this constraint is temporary.</a:t>
            </a:r>
            <a:endParaRPr sz="80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g3f251d87f7e_0_48"/>
          <p:cNvCxnSpPr/>
          <p:nvPr/>
        </p:nvCxnSpPr>
        <p:spPr>
          <a:xfrm>
            <a:off x="502920" y="6327648"/>
            <a:ext cx="1920300" cy="0"/>
          </a:xfrm>
          <a:prstGeom prst="straightConnector1">
            <a:avLst/>
          </a:prstGeom>
          <a:noFill/>
          <a:ln cap="flat" cmpd="sng" w="1905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g3f251d87f7e_0_48"/>
          <p:cNvSpPr/>
          <p:nvPr/>
        </p:nvSpPr>
        <p:spPr>
          <a:xfrm>
            <a:off x="502920" y="6382512"/>
            <a:ext cx="11183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8"/>
              </a:buClr>
              <a:buSzPts val="1100"/>
              <a:buFont typeface="Open Sans"/>
              <a:buNone/>
            </a:pPr>
            <a:r>
              <a:rPr i="1" lang="en-US" sz="1100">
                <a:solidFill>
                  <a:srgbClr val="6B6B78"/>
                </a:solidFill>
                <a:latin typeface="Open Sans"/>
                <a:ea typeface="Open Sans"/>
                <a:cs typeface="Open Sans"/>
                <a:sym typeface="Open Sans"/>
              </a:rPr>
              <a:t>Plan around “my computer has to be on” and most of the friction disappears.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452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6"/>
          <p:cNvSpPr/>
          <p:nvPr/>
        </p:nvSpPr>
        <p:spPr>
          <a:xfrm>
            <a:off x="502920" y="457200"/>
            <a:ext cx="548640" cy="493776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9050">
            <a:solidFill>
              <a:srgbClr val="8E8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502920" y="457200"/>
            <a:ext cx="5486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C4DA"/>
              </a:buClr>
              <a:buSzPts val="1100"/>
              <a:buFont typeface="Open Sans"/>
              <a:buNone/>
            </a:pPr>
            <a:r>
              <a:rPr b="1" lang="en-US" sz="1100">
                <a:solidFill>
                  <a:srgbClr val="C9C4DA"/>
                </a:solidFill>
                <a:latin typeface="Open Sans"/>
                <a:ea typeface="Open Sans"/>
                <a:cs typeface="Open Sans"/>
                <a:sym typeface="Open Sans"/>
              </a:rPr>
              <a:t>SC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1170432" y="521208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DA"/>
              </a:buClr>
              <a:buSzPts val="1300"/>
              <a:buFont typeface="Open Sans"/>
              <a:buNone/>
            </a:pPr>
            <a:r>
              <a:rPr b="1" lang="en-US" sz="1300">
                <a:solidFill>
                  <a:srgbClr val="C9C4DA"/>
                </a:solidFill>
                <a:latin typeface="Open Sans"/>
                <a:ea typeface="Open Sans"/>
                <a:cs typeface="Open Sans"/>
                <a:sym typeface="Open Sans"/>
              </a:rPr>
              <a:t>STANDARD CO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502920" y="2148840"/>
            <a:ext cx="10607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pen Sans"/>
              <a:buNone/>
            </a:pPr>
            <a:r>
              <a:rPr b="1"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Think of an agent as someone who does the bullshit you don’t wanna do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502920" y="361188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4E6"/>
              </a:buClr>
              <a:buSzPts val="1600"/>
              <a:buFont typeface="Open Sans"/>
              <a:buNone/>
            </a:pPr>
            <a:r>
              <a:rPr lang="en-US" sz="1600">
                <a:solidFill>
                  <a:srgbClr val="D9D4E6"/>
                </a:solidFill>
                <a:latin typeface="Open Sans"/>
                <a:ea typeface="Open Sans"/>
                <a:cs typeface="Open Sans"/>
                <a:sym typeface="Open Sans"/>
              </a:rPr>
              <a:t>It connects to your tools, looks things up, and gets the task done — with you setting the goal and keeping the final say. </a:t>
            </a:r>
            <a:r>
              <a:rPr b="1"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Start with one small, repeatable job and grow from there.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p16"/>
          <p:cNvCxnSpPr/>
          <p:nvPr/>
        </p:nvCxnSpPr>
        <p:spPr>
          <a:xfrm>
            <a:off x="502920" y="5212080"/>
            <a:ext cx="1920240" cy="0"/>
          </a:xfrm>
          <a:prstGeom prst="straightConnector1">
            <a:avLst/>
          </a:prstGeom>
          <a:noFill/>
          <a:ln cap="flat" cmpd="sng" w="19050">
            <a:solidFill>
              <a:srgbClr val="C4955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16"/>
          <p:cNvSpPr/>
          <p:nvPr/>
        </p:nvSpPr>
        <p:spPr>
          <a:xfrm>
            <a:off x="502920" y="5321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DA"/>
              </a:buClr>
              <a:buSzPts val="1300"/>
              <a:buFont typeface="Open Sans"/>
              <a:buNone/>
            </a:pPr>
            <a:r>
              <a:rPr i="1" lang="en-US" sz="1300">
                <a:solidFill>
                  <a:srgbClr val="C9C4DA"/>
                </a:solidFill>
                <a:latin typeface="Open Sans"/>
                <a:ea typeface="Open Sans"/>
                <a:cs typeface="Open Sans"/>
                <a:sym typeface="Open Sans"/>
              </a:rPr>
              <a:t>Pick a task this week. Let it draft. You decide.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2026-06-22T21:45:12Z</dcterms:created>
  <dc:creator>PptxGenJS</dc:creator>
</cp:coreProperties>
</file>