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303" r:id="rId3"/>
    <p:sldId id="328" r:id="rId4"/>
    <p:sldId id="332" r:id="rId5"/>
    <p:sldId id="306" r:id="rId6"/>
    <p:sldId id="307" r:id="rId7"/>
    <p:sldId id="308" r:id="rId8"/>
    <p:sldId id="309" r:id="rId9"/>
    <p:sldId id="310" r:id="rId10"/>
    <p:sldId id="311" r:id="rId11"/>
    <p:sldId id="349" r:id="rId12"/>
    <p:sldId id="341" r:id="rId13"/>
    <p:sldId id="340" r:id="rId14"/>
    <p:sldId id="346" r:id="rId15"/>
    <p:sldId id="344" r:id="rId16"/>
    <p:sldId id="314" r:id="rId17"/>
    <p:sldId id="337" r:id="rId18"/>
    <p:sldId id="338" r:id="rId19"/>
    <p:sldId id="317" r:id="rId20"/>
    <p:sldId id="329" r:id="rId21"/>
    <p:sldId id="336" r:id="rId22"/>
    <p:sldId id="320" r:id="rId23"/>
    <p:sldId id="321" r:id="rId24"/>
    <p:sldId id="322" r:id="rId25"/>
    <p:sldId id="32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80"/>
    <p:restoredTop sz="94673"/>
  </p:normalViewPr>
  <p:slideViewPr>
    <p:cSldViewPr snapToGrid="0">
      <p:cViewPr varScale="1">
        <p:scale>
          <a:sx n="117" d="100"/>
          <a:sy n="117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F32A-D454-47DD-F6C8-AE1B0D7B1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07325-FD76-0BF3-DB53-ED10725CF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0589-F28F-B2B8-EDD2-1FDC43E7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CC974-F842-0E7C-6D68-4EB97114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3510E-3E8C-B29E-C09E-421D3582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8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AA34-A747-B8CD-711F-F4DC2E81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0F15-DB30-1151-20C4-9044C5FFC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AD0D-7AE3-A805-90BE-FD7D3A88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E3C25-AF17-535C-6373-52842684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38E2C-FF2D-5F69-6DC1-EC988FCD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1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E291-3D0B-89B3-830C-39AFA525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74F0C-C837-4F3F-4E98-C37CE2D30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7372A-1731-F9B3-7018-EAB9AFC8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D33EA-41ED-198B-446D-2FF68A5F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10B22-6DF4-029B-134E-CAFE3D54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2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2BF8-CD98-E511-BAAB-2903D4CA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90A5-FF89-A736-C38D-0003C825C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5C2C0-A6C2-4FD4-F546-9093ED042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6DED4-D52A-4C70-2887-883FCF67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D86D5-A095-20BD-8477-B3F8D0FE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070A7-7605-0AC2-E767-C5A273E6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56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5253-60C1-4786-B349-A2F1AD2D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2B35F-B17E-2202-161E-F94A73F28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3D44F-E47B-5B9B-3168-92D3CC584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C0CAE-2F6A-9F06-91FC-8932EAEF2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6DBAB-6605-F591-CA9F-D1AC5D78B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ED92C-F0D6-9525-C55A-959A15C7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8534A-643A-5611-D304-080DAD3B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ABC1B-A7A4-5055-0E9F-7B1441D8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4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A6BD5-B233-1B1E-E45B-405C972E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40FD0-A8EF-524A-C236-406C16C4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4E310-7566-476C-DFF3-46153753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055CC-C6AC-28D0-A6D6-90C1FD64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11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F7387-0F0D-0BC0-4112-701F330B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F2DEF-AE6E-5AD8-0D81-7A19210D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78BC0-69A1-EC89-F10D-A2967B00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0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6155-7970-5F27-34C0-5017D133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45249-B574-7485-0A69-0FA36A4C5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64777-E8C3-1FB2-D17B-09F0E9818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0FA00-422E-49CE-B62A-D7042996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33F0A-F7B8-B0C8-12F1-6E6AB3E6C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D531D-D38A-0E05-5FB5-FA88CAA9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96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EC16-E8E2-3277-5784-03EFD99F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45FF2-8658-6067-D2A8-074681C08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DB3A9-79F1-C60C-B7FF-4E6F61E4F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E41C1-853B-4DC4-98E3-51379B3B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FA45F-1BE7-43E7-0511-44683080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A5ABA-38C2-C50F-46C3-D19D8741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4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5B6B-AD39-4FDC-DA6F-EEEC39DB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C3BCA-8129-FD51-C4F3-3B12D0EF7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4C35D-C832-6BC7-39C0-16EF59E75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A7079-C062-CC25-9F3B-C5A90D2D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CE43D-4231-0C70-FF40-BF8AE874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2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67391-B1B8-7CDD-000B-AE0558CA8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FD1AD-338C-5095-E983-E87AB9101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6D5EF-B2AC-F49D-CE33-F36C3BD6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C21A1-39EF-B476-2C85-54EE0410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6449D-AE9A-C0E6-54C9-562ED470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4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26FC7-53E9-655C-8AE9-87AA2E0AF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6DDCD-14D0-9F63-C946-A7CA71E9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423D-8436-D4F7-E2DF-EB2F438A5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4E297-38B4-404D-8278-58C10D23577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304A-EC5C-A3D6-B83F-B7F250850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D8FD-3F43-7502-B456-1F6C6B72F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B0C1C-F2D5-254F-A710-A70CBA84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6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A2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standardco/claude-standard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standardco/claude-standards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randWordmark">
            <a:extLst>
              <a:ext uri="{FF2B5EF4-FFF2-40B4-BE49-F238E27FC236}">
                <a16:creationId xmlns:a16="http://schemas.microsoft.com/office/drawing/2014/main" id="{299C234B-CE33-EE49-AD85-270B3B5087A7}"/>
              </a:ext>
            </a:extLst>
          </p:cNvPr>
          <p:cNvSpPr txBox="1"/>
          <p:nvPr/>
        </p:nvSpPr>
        <p:spPr>
          <a:xfrm>
            <a:off x="5676900" y="7620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7" name="TitleMain">
            <a:extLst>
              <a:ext uri="{FF2B5EF4-FFF2-40B4-BE49-F238E27FC236}">
                <a16:creationId xmlns:a16="http://schemas.microsoft.com/office/drawing/2014/main" id="{1BBB87A3-4CC8-9F45-A5C1-6B3E8F4AB0CB}"/>
              </a:ext>
            </a:extLst>
          </p:cNvPr>
          <p:cNvSpPr txBox="1"/>
          <p:nvPr/>
        </p:nvSpPr>
        <p:spPr>
          <a:xfrm>
            <a:off x="1016000" y="22225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Going Deeper on Standards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C87EE981-720F-1D48-B759-080544D4058E}"/>
              </a:ext>
            </a:extLst>
          </p:cNvPr>
          <p:cNvSpPr txBox="1"/>
          <p:nvPr/>
        </p:nvSpPr>
        <p:spPr>
          <a:xfrm>
            <a:off x="1016000" y="31115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From individual prompts to shared standards</a:t>
            </a:r>
          </a:p>
        </p:txBody>
      </p:sp>
      <p:sp>
        <p:nvSpPr>
          <p:cNvPr id="9" name="MetaLine">
            <a:extLst>
              <a:ext uri="{FF2B5EF4-FFF2-40B4-BE49-F238E27FC236}">
                <a16:creationId xmlns:a16="http://schemas.microsoft.com/office/drawing/2014/main" id="{8E7D65FC-2819-2147-8604-125C2955D1E8}"/>
              </a:ext>
            </a:extLst>
          </p:cNvPr>
          <p:cNvSpPr txBox="1"/>
          <p:nvPr/>
        </p:nvSpPr>
        <p:spPr>
          <a:xfrm>
            <a:off x="1016000" y="37465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Jonathan Nesbitt  |  Standard Co  |  Thursday Deep Dive</a:t>
            </a:r>
          </a:p>
        </p:txBody>
      </p:sp>
      <p:sp>
        <p:nvSpPr>
          <p:cNvPr id="10" name="FooterBar">
            <a:extLst>
              <a:ext uri="{FF2B5EF4-FFF2-40B4-BE49-F238E27FC236}">
                <a16:creationId xmlns:a16="http://schemas.microsoft.com/office/drawing/2014/main" id="{CCFC1877-9283-DE46-81BA-1D60E3135417}"/>
              </a:ext>
            </a:extLst>
          </p:cNvPr>
          <p:cNvSpPr/>
          <p:nvPr/>
        </p:nvSpPr>
        <p:spPr>
          <a:xfrm>
            <a:off x="635000" y="6286500"/>
            <a:ext cx="2540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041" y="571500"/>
            <a:ext cx="757717" cy="71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D2D6CE-FFD8-698F-171A-FA6C14093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311" y="647700"/>
            <a:ext cx="63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56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Title">
            <a:extLst>
              <a:ext uri="{FF2B5EF4-FFF2-40B4-BE49-F238E27FC236}">
                <a16:creationId xmlns:a16="http://schemas.microsoft.com/office/drawing/2014/main" id="{A3E79BD6-9C0B-A84A-A511-4570C8A59C7C}"/>
              </a:ext>
            </a:extLst>
          </p:cNvPr>
          <p:cNvSpPr txBox="1"/>
          <p:nvPr/>
        </p:nvSpPr>
        <p:spPr>
          <a:xfrm>
            <a:off x="635000" y="508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Where We Left Off — and What's Next</a:t>
            </a:r>
          </a:p>
        </p:txBody>
      </p:sp>
      <p:sp>
        <p:nvSpPr>
          <p:cNvPr id="5" name="IntroLine">
            <a:extLst>
              <a:ext uri="{FF2B5EF4-FFF2-40B4-BE49-F238E27FC236}">
                <a16:creationId xmlns:a16="http://schemas.microsoft.com/office/drawing/2014/main" id="{4FAADEE2-A1F6-C24B-94EF-90CF3EB27D51}"/>
              </a:ext>
            </a:extLst>
          </p:cNvPr>
          <p:cNvSpPr txBox="1"/>
          <p:nvPr/>
        </p:nvSpPr>
        <p:spPr>
          <a:xfrm>
            <a:off x="635000" y="12065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The rollout deck made the case for shared standards. Today's the practical guide.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3B9653-EAE3-7141-8B47-72F7F971399F}"/>
              </a:ext>
            </a:extLst>
          </p:cNvPr>
          <p:cNvSpPr/>
          <p:nvPr/>
        </p:nvSpPr>
        <p:spPr>
          <a:xfrm>
            <a:off x="635000" y="1841500"/>
            <a:ext cx="5080000" cy="2667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58DFF-A190-1248-932D-2E330D812442}"/>
              </a:ext>
            </a:extLst>
          </p:cNvPr>
          <p:cNvSpPr/>
          <p:nvPr/>
        </p:nvSpPr>
        <p:spPr>
          <a:xfrm>
            <a:off x="635000" y="2095500"/>
            <a:ext cx="50800" cy="21590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9A363-D61C-4749-8551-CC45666317BE}"/>
              </a:ext>
            </a:extLst>
          </p:cNvPr>
          <p:cNvSpPr txBox="1"/>
          <p:nvPr/>
        </p:nvSpPr>
        <p:spPr>
          <a:xfrm>
            <a:off x="939800" y="20574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Then: Last Session</a:t>
            </a:r>
          </a:p>
        </p:txBody>
      </p:sp>
      <p:sp>
        <p:nvSpPr>
          <p:cNvPr id="9" name="ThenLastSessionBody">
            <a:extLst>
              <a:ext uri="{FF2B5EF4-FFF2-40B4-BE49-F238E27FC236}">
                <a16:creationId xmlns:a16="http://schemas.microsoft.com/office/drawing/2014/main" id="{2F5AAC26-E0C1-104C-A0BD-EE9DFCE43B53}"/>
              </a:ext>
            </a:extLst>
          </p:cNvPr>
          <p:cNvSpPr txBox="1"/>
          <p:nvPr/>
        </p:nvSpPr>
        <p:spPr>
          <a:xfrm>
            <a:off x="939800" y="2540000"/>
            <a:ext cx="4572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Introduced Claude Code &amp; Cowork as the default dev workflow</a:t>
            </a:r>
          </a:p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Argued that shared standards prevent silos and drift</a:t>
            </a:r>
          </a:p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Promised a standards repo every project pulls from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17F647-8231-7C47-B783-83D03D501DB6}"/>
              </a:ext>
            </a:extLst>
          </p:cNvPr>
          <p:cNvSpPr/>
          <p:nvPr/>
        </p:nvSpPr>
        <p:spPr>
          <a:xfrm>
            <a:off x="6477000" y="1841500"/>
            <a:ext cx="5080000" cy="2667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2D61C1-91AF-9E48-86ED-C9F5144499A6}"/>
              </a:ext>
            </a:extLst>
          </p:cNvPr>
          <p:cNvSpPr/>
          <p:nvPr/>
        </p:nvSpPr>
        <p:spPr>
          <a:xfrm>
            <a:off x="6477000" y="2095500"/>
            <a:ext cx="50800" cy="21590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65413-9090-EF40-BD10-4DF965C9BD2B}"/>
              </a:ext>
            </a:extLst>
          </p:cNvPr>
          <p:cNvSpPr txBox="1"/>
          <p:nvPr/>
        </p:nvSpPr>
        <p:spPr>
          <a:xfrm>
            <a:off x="6781800" y="20574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Now: Today's Deep Dive</a:t>
            </a:r>
          </a:p>
        </p:txBody>
      </p:sp>
      <p:sp>
        <p:nvSpPr>
          <p:cNvPr id="13" name="NowTodaysDeepDiveBody">
            <a:extLst>
              <a:ext uri="{FF2B5EF4-FFF2-40B4-BE49-F238E27FC236}">
                <a16:creationId xmlns:a16="http://schemas.microsoft.com/office/drawing/2014/main" id="{B74E532D-8386-7844-B0BD-F0840E01B47B}"/>
              </a:ext>
            </a:extLst>
          </p:cNvPr>
          <p:cNvSpPr txBox="1"/>
          <p:nvPr/>
        </p:nvSpPr>
        <p:spPr>
          <a:xfrm>
            <a:off x="6781800" y="2540000"/>
            <a:ext cx="4572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What goes in CLAUDE.md and why it loads automatically</a:t>
            </a:r>
          </a:p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How the .claude/ folder holds reusable assets</a:t>
            </a:r>
          </a:p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Notion as the org-wide knowledgebase</a:t>
            </a:r>
          </a:p>
          <a:p>
            <a:pPr marL="228600" indent="-22860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The standards repo, first draft available on </a:t>
            </a:r>
            <a:r>
              <a:rPr lang="en-US" sz="1400" dirty="0" err="1">
                <a:solidFill>
                  <a:srgbClr val="2D2D2D"/>
                </a:solidFill>
                <a:latin typeface="Open Sans"/>
              </a:rPr>
              <a:t>Github</a:t>
            </a:r>
            <a:r>
              <a:rPr lang="en-US" sz="1400" dirty="0">
                <a:solidFill>
                  <a:srgbClr val="2D2D2D"/>
                </a:solidFill>
                <a:latin typeface="Open Sans"/>
              </a:rPr>
              <a:t> </a:t>
            </a:r>
            <a:r>
              <a:rPr lang="en-US" sz="1400" dirty="0">
                <a:solidFill>
                  <a:srgbClr val="2D2D2D"/>
                </a:solidFill>
                <a:hlinkClick r:id="rId2"/>
              </a:rPr>
              <a:t>https://github.com/standardco/claude-standards</a:t>
            </a:r>
            <a:r>
              <a:rPr lang="en-US" sz="1400" dirty="0">
                <a:solidFill>
                  <a:srgbClr val="2D2D2D"/>
                </a:solidFill>
              </a:rPr>
              <a:t> </a:t>
            </a:r>
            <a:endParaRPr lang="en-US" sz="1400" dirty="0">
              <a:solidFill>
                <a:srgbClr val="2D2D2D"/>
              </a:solidFill>
              <a:latin typeface="Open San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5933E-B12D-7545-AD6F-EC7FDD5E248A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03878-7375-7945-A6D0-AA4F156E77E7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Less philosophy, more "here's what we're shipping."</a:t>
            </a:r>
          </a:p>
        </p:txBody>
      </p:sp>
      <p:pic>
        <p:nvPicPr>
          <p:cNvPr id="16" name="Copied Picture 16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yebrow">
            <a:extLst>
              <a:ext uri="{FF2B5EF4-FFF2-40B4-BE49-F238E27FC236}">
                <a16:creationId xmlns:a16="http://schemas.microsoft.com/office/drawing/2014/main" id="{413108CA-827C-2947-9CC9-E5BF9D89B877}"/>
              </a:ext>
            </a:extLst>
          </p:cNvPr>
          <p:cNvSpPr txBox="1"/>
          <p:nvPr/>
        </p:nvSpPr>
        <p:spPr>
          <a:xfrm>
            <a:off x="635000" y="533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GOAL</a:t>
            </a:r>
          </a:p>
        </p:txBody>
      </p:sp>
      <p:sp>
        <p:nvSpPr>
          <p:cNvPr id="5" name="SlideTitle">
            <a:extLst>
              <a:ext uri="{FF2B5EF4-FFF2-40B4-BE49-F238E27FC236}">
                <a16:creationId xmlns:a16="http://schemas.microsoft.com/office/drawing/2014/main" id="{F9B77845-9C95-AB48-86C2-9D37AB8A7A20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One standards repo. Every project pulls from it.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9A413EF6-B493-9249-B3EF-E43D0D3E92F1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Same baseline conventions, same prompt patterns, same review bar — wherever Claude is working.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C79C51-446F-8545-B58E-CA8EA704E859}"/>
              </a:ext>
            </a:extLst>
          </p:cNvPr>
          <p:cNvSpPr/>
          <p:nvPr/>
        </p:nvSpPr>
        <p:spPr>
          <a:xfrm>
            <a:off x="635000" y="2540000"/>
            <a:ext cx="3556000" cy="2921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C326BB-7EC9-0A40-858E-ED36041A13B8}"/>
              </a:ext>
            </a:extLst>
          </p:cNvPr>
          <p:cNvSpPr/>
          <p:nvPr/>
        </p:nvSpPr>
        <p:spPr>
          <a:xfrm>
            <a:off x="939800" y="27940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76B5D-2324-BD4F-AA26-4CDCFFE6692C}"/>
              </a:ext>
            </a:extLst>
          </p:cNvPr>
          <p:cNvSpPr txBox="1"/>
          <p:nvPr/>
        </p:nvSpPr>
        <p:spPr>
          <a:xfrm>
            <a:off x="939800" y="3429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Easier onboarding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ECB43-610A-E84D-BD79-51456D60C292}"/>
              </a:ext>
            </a:extLst>
          </p:cNvPr>
          <p:cNvSpPr txBox="1"/>
          <p:nvPr/>
        </p:nvSpPr>
        <p:spPr>
          <a:xfrm>
            <a:off x="939800" y="3873500"/>
            <a:ext cx="2946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Developers go from clone to first PR without hunting for setup steps. Claude knows how to run the codebase locally and the path from code change to review to deploy.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B45E97-B0B0-1241-B289-8F914406A0C1}"/>
              </a:ext>
            </a:extLst>
          </p:cNvPr>
          <p:cNvSpPr/>
          <p:nvPr/>
        </p:nvSpPr>
        <p:spPr>
          <a:xfrm>
            <a:off x="4318000" y="2540000"/>
            <a:ext cx="3556000" cy="2921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F41AC3-39A7-174D-8192-2A4804770E02}"/>
              </a:ext>
            </a:extLst>
          </p:cNvPr>
          <p:cNvSpPr/>
          <p:nvPr/>
        </p:nvSpPr>
        <p:spPr>
          <a:xfrm>
            <a:off x="4622800" y="27940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5B29D0-FB28-A24E-9E65-E3AC65C94D2D}"/>
              </a:ext>
            </a:extLst>
          </p:cNvPr>
          <p:cNvSpPr txBox="1"/>
          <p:nvPr/>
        </p:nvSpPr>
        <p:spPr>
          <a:xfrm>
            <a:off x="4622800" y="3429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Higher quality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BC19A-66BA-EA4E-A32E-5C96D86BBDFA}"/>
              </a:ext>
            </a:extLst>
          </p:cNvPr>
          <p:cNvSpPr txBox="1"/>
          <p:nvPr/>
        </p:nvSpPr>
        <p:spPr>
          <a:xfrm>
            <a:off x="4622800" y="3873500"/>
            <a:ext cx="2946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Our review checklist lives in the repo. Conventions, security checks, styles, and tests get applied automatically instead of relying on memory.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49CA969-DE26-384C-8308-DEF38D15AD20}"/>
              </a:ext>
            </a:extLst>
          </p:cNvPr>
          <p:cNvSpPr/>
          <p:nvPr/>
        </p:nvSpPr>
        <p:spPr>
          <a:xfrm>
            <a:off x="8001000" y="2540000"/>
            <a:ext cx="3556000" cy="2921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F7DDA2-B937-8E4E-A359-6AC5EF38E33E}"/>
              </a:ext>
            </a:extLst>
          </p:cNvPr>
          <p:cNvSpPr/>
          <p:nvPr/>
        </p:nvSpPr>
        <p:spPr>
          <a:xfrm>
            <a:off x="8305800" y="27940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C00D3-3C79-CB48-A15A-73A3E7168F4E}"/>
              </a:ext>
            </a:extLst>
          </p:cNvPr>
          <p:cNvSpPr txBox="1"/>
          <p:nvPr/>
        </p:nvSpPr>
        <p:spPr>
          <a:xfrm>
            <a:off x="8305800" y="3429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Security &amp; privacy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888A7D-B538-5547-9246-6062B84C81BE}"/>
              </a:ext>
            </a:extLst>
          </p:cNvPr>
          <p:cNvSpPr txBox="1"/>
          <p:nvPr/>
        </p:nvSpPr>
        <p:spPr>
          <a:xfrm>
            <a:off x="8305800" y="3873500"/>
            <a:ext cx="2946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Guardrails are codified, not remembered. Sensitive paths, secret handling, and review gates apply to every session by default.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52013E-47D7-B247-B1E4-A9DD7DED3FB7}"/>
              </a:ext>
            </a:extLst>
          </p:cNvPr>
          <p:cNvSpPr/>
          <p:nvPr/>
        </p:nvSpPr>
        <p:spPr>
          <a:xfrm>
            <a:off x="635000" y="5930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4299B-FD17-7244-ADDC-169B01ADA695}"/>
              </a:ext>
            </a:extLst>
          </p:cNvPr>
          <p:cNvSpPr txBox="1"/>
          <p:nvPr/>
        </p:nvSpPr>
        <p:spPr>
          <a:xfrm>
            <a:off x="635000" y="6070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If it's worth doing once, it's worth standardizing.</a:t>
            </a:r>
          </a:p>
        </p:txBody>
      </p:sp>
      <p:pic>
        <p:nvPicPr>
          <p:cNvPr id="21" name="Copied Picture 21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5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008D1-515F-2F45-80E1-B52EEE89CC67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MENTAL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DFE71-B620-934A-8FAD-1C13ABFA2262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Two layers: persistent context and the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5D048-EA4F-8D46-90FE-6F02C14D5F62}"/>
              </a:ext>
            </a:extLst>
          </p:cNvPr>
          <p:cNvSpPr txBox="1"/>
          <p:nvPr/>
        </p:nvSpPr>
        <p:spPr>
          <a:xfrm>
            <a:off x="635000" y="1651000"/>
            <a:ext cx="1092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Context = everything Claude knows before you type.</a:t>
            </a:r>
            <a:r>
              <a:rPr lang="en-US" sz="1600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 Pull the reusable stuff out of the prompt and into files — Claude picks it up automatically.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1FB6C2-D488-9A4C-BAA7-FE68535D9481}"/>
              </a:ext>
            </a:extLst>
          </p:cNvPr>
          <p:cNvSpPr/>
          <p:nvPr/>
        </p:nvSpPr>
        <p:spPr>
          <a:xfrm>
            <a:off x="635000" y="2540000"/>
            <a:ext cx="53975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5DFEA-F682-6340-ABCB-9439479D6D91}"/>
              </a:ext>
            </a:extLst>
          </p:cNvPr>
          <p:cNvSpPr txBox="1"/>
          <p:nvPr/>
        </p:nvSpPr>
        <p:spPr>
          <a:xfrm>
            <a:off x="939800" y="2768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LAYER 1 — PERSISTENT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589C3-D19B-C848-A97E-12671F9DE474}"/>
              </a:ext>
            </a:extLst>
          </p:cNvPr>
          <p:cNvSpPr txBox="1"/>
          <p:nvPr/>
        </p:nvSpPr>
        <p:spPr>
          <a:xfrm>
            <a:off x="939800" y="30480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Files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6607C-3CAB-224E-AF8B-2E08F4E0F0C5}"/>
              </a:ext>
            </a:extLst>
          </p:cNvPr>
          <p:cNvSpPr txBox="1"/>
          <p:nvPr/>
        </p:nvSpPr>
        <p:spPr>
          <a:xfrm>
            <a:off x="939800" y="3530600"/>
            <a:ext cx="482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Loaded automatically. Carry conventions, architecture, and review standards across every session. Write once, reused forever.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5FA58D-FB79-B644-B767-9590AFE1A5F4}"/>
              </a:ext>
            </a:extLst>
          </p:cNvPr>
          <p:cNvSpPr/>
          <p:nvPr/>
        </p:nvSpPr>
        <p:spPr>
          <a:xfrm>
            <a:off x="939800" y="4673600"/>
            <a:ext cx="4826000" cy="635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dirty="0" err="1">
                <a:solidFill>
                  <a:srgbClr val="1A1A2E"/>
                </a:solidFill>
                <a:latin typeface="Consolas"/>
                <a:cs typeface="Consolas"/>
              </a:rPr>
              <a:t>CLAUDE.md</a:t>
            </a:r>
            <a:r>
              <a:rPr lang="en-US" sz="1300" dirty="0">
                <a:solidFill>
                  <a:srgbClr val="1A1A2E"/>
                </a:solidFill>
                <a:latin typeface="Consolas"/>
                <a:cs typeface="Consolas"/>
              </a:rPr>
              <a:t>   .</a:t>
            </a:r>
            <a:r>
              <a:rPr lang="en-US" sz="1300" dirty="0" err="1">
                <a:solidFill>
                  <a:srgbClr val="1A1A2E"/>
                </a:solidFill>
                <a:latin typeface="Consolas"/>
                <a:cs typeface="Consolas"/>
              </a:rPr>
              <a:t>claude</a:t>
            </a:r>
            <a:r>
              <a:rPr lang="en-US" sz="1300" dirty="0">
                <a:solidFill>
                  <a:srgbClr val="1A1A2E"/>
                </a:solidFill>
                <a:latin typeface="Consolas"/>
                <a:cs typeface="Consolas"/>
              </a:rPr>
              <a:t>/   .</a:t>
            </a:r>
            <a:r>
              <a:rPr lang="en-US" sz="1300" dirty="0" err="1">
                <a:solidFill>
                  <a:srgbClr val="1A1A2E"/>
                </a:solidFill>
                <a:latin typeface="Consolas"/>
                <a:cs typeface="Consolas"/>
              </a:rPr>
              <a:t>mcp.json</a:t>
            </a:r>
            <a:endParaRPr lang="en-US" sz="1300" dirty="0">
              <a:solidFill>
                <a:srgbClr val="1A1A2E"/>
              </a:solidFill>
              <a:latin typeface="Consolas"/>
              <a:cs typeface="Consola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10397CF-2044-814C-A64E-43345DD0331F}"/>
              </a:ext>
            </a:extLst>
          </p:cNvPr>
          <p:cNvSpPr/>
          <p:nvPr/>
        </p:nvSpPr>
        <p:spPr>
          <a:xfrm>
            <a:off x="6159500" y="2540000"/>
            <a:ext cx="53975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AD7425-E0B5-8C42-BA8D-DB6FECDA15A5}"/>
              </a:ext>
            </a:extLst>
          </p:cNvPr>
          <p:cNvSpPr txBox="1"/>
          <p:nvPr/>
        </p:nvSpPr>
        <p:spPr>
          <a:xfrm>
            <a:off x="6464300" y="2768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LAYER 2 — EPHEMERAL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5DDF8-E7A4-FA45-A7A9-B286F5644D0A}"/>
              </a:ext>
            </a:extLst>
          </p:cNvPr>
          <p:cNvSpPr txBox="1"/>
          <p:nvPr/>
        </p:nvSpPr>
        <p:spPr>
          <a:xfrm>
            <a:off x="6464300" y="30480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Prompts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CF01CB-7A0A-E649-912C-D6054A46AAF4}"/>
              </a:ext>
            </a:extLst>
          </p:cNvPr>
          <p:cNvSpPr txBox="1"/>
          <p:nvPr/>
        </p:nvSpPr>
        <p:spPr>
          <a:xfrm>
            <a:off x="6464300" y="3530600"/>
            <a:ext cx="482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you type today. Should describe the task, not re-explain how the codebase works. Short and specific.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DDC8DA-DE4B-5646-8C25-DE019E02D515}"/>
              </a:ext>
            </a:extLst>
          </p:cNvPr>
          <p:cNvSpPr/>
          <p:nvPr/>
        </p:nvSpPr>
        <p:spPr>
          <a:xfrm>
            <a:off x="6464300" y="4673600"/>
            <a:ext cx="4826000" cy="635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dirty="0">
                <a:solidFill>
                  <a:srgbClr val="1A1A2E"/>
                </a:solidFill>
                <a:latin typeface="Consolas"/>
                <a:cs typeface="Consolas"/>
              </a:rPr>
              <a:t>"Carry over additional columns from source table A to the aggregated export spreadsheet."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D91933-DABB-5D47-84FA-B505B299E58E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AEDE19-5B03-F54C-9E01-1E3612329228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If you'd type it twice, it belongs in a file.</a:t>
            </a:r>
          </a:p>
        </p:txBody>
      </p:sp>
      <p:pic>
        <p:nvPicPr>
          <p:cNvPr id="19" name="Copied Picture 19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3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PROJECT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1A1A2E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A markdown file at the project root. Claude loads it automatically on every session.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What it is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 plain markdown file checked into your repo.
Lives at the project root alongside README.md.
Becomes part of Claude's context the moment a session starts — no copy-paste, no re-priming.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Why it matters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Stops every session starting cold.
You can start development with a self-aware codebase and switch hats more quickly.
Makes Claude consistent across the team — same context, same answers, regardless of who's at the keyboard.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Think of it as the README that Claude actually reads.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65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OWNERSHIP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1A1A2E"/>
                </a:solidFill>
                <a:latin typeface="Consolas"/>
                <a:cs typeface="Consolas"/>
              </a:rPr>
              <a:t>Who edits CLAUDE.md?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Two hands on the same file. A simple split keeps it useful instead of bloated.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Claude-managed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Durable preferences and style rules picked up from your corrections.
Conventions Claude infers from repeated patterns across sessions.
Triggered by "remember this" — or quietly, when the same nudge keeps recurring.</a:t>
            </a:r>
          </a:p>
          <a:p>
            <a:pPr algn="l"/>
            <a:endParaRPr lang="en-US" sz="1400" dirty="0">
              <a:solidFill>
                <a:srgbClr val="2D2D2D"/>
              </a:solidFill>
              <a:latin typeface="Open Sans"/>
              <a:ea typeface="Open Sans"/>
              <a:cs typeface="Open Sans"/>
            </a:endParaRPr>
          </a:p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Most common approach currently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Human-managed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Project context, scope, and architectural decisions.
Sensitive setup notes that shouldn't be auto-edited.
One-off directives that shouldn't ossify into permanent rules.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Claude owns how it works. You own what it's working on.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6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D3FEC7-6657-8843-BB6D-6AB0CC915B7A}"/>
              </a:ext>
            </a:extLst>
          </p:cNvPr>
          <p:cNvSpPr txBox="1"/>
          <p:nvPr/>
        </p:nvSpPr>
        <p:spPr>
          <a:xfrm>
            <a:off x="635000" y="533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ANATOMY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59CFC-7869-2F4B-B55E-BEFD7372E550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Four sections every CLAUDE.md should have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2549FC-5C5C-5646-928F-B78C79C4EA8F}"/>
              </a:ext>
            </a:extLst>
          </p:cNvPr>
          <p:cNvSpPr/>
          <p:nvPr/>
        </p:nvSpPr>
        <p:spPr>
          <a:xfrm>
            <a:off x="635000" y="1905000"/>
            <a:ext cx="406400" cy="4064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3529A-2C2B-3045-B2E1-0B41C9257C40}"/>
              </a:ext>
            </a:extLst>
          </p:cNvPr>
          <p:cNvSpPr txBox="1"/>
          <p:nvPr/>
        </p:nvSpPr>
        <p:spPr>
          <a:xfrm>
            <a:off x="1206500" y="1879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35003-402A-3140-B69D-39988D4D724B}"/>
              </a:ext>
            </a:extLst>
          </p:cNvPr>
          <p:cNvSpPr txBox="1"/>
          <p:nvPr/>
        </p:nvSpPr>
        <p:spPr>
          <a:xfrm>
            <a:off x="1206500" y="2184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this codebase does, who uses it, what it depends on.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CE48C7-98AE-204B-926B-4013C8662D46}"/>
              </a:ext>
            </a:extLst>
          </p:cNvPr>
          <p:cNvSpPr/>
          <p:nvPr/>
        </p:nvSpPr>
        <p:spPr>
          <a:xfrm>
            <a:off x="635000" y="2895600"/>
            <a:ext cx="406400" cy="4064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AB6C9-99EB-0045-B95F-83C6C850BC19}"/>
              </a:ext>
            </a:extLst>
          </p:cNvPr>
          <p:cNvSpPr txBox="1"/>
          <p:nvPr/>
        </p:nvSpPr>
        <p:spPr>
          <a:xfrm>
            <a:off x="1206500" y="28702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Coding Standards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72967-8420-F948-B531-FCCB860CD36D}"/>
              </a:ext>
            </a:extLst>
          </p:cNvPr>
          <p:cNvSpPr txBox="1"/>
          <p:nvPr/>
        </p:nvSpPr>
        <p:spPr>
          <a:xfrm>
            <a:off x="1206500" y="31750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Style, naming, testing rules, security must-haves.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1B8ACF-9556-9E4A-9E60-B4EFCF8A4ED4}"/>
              </a:ext>
            </a:extLst>
          </p:cNvPr>
          <p:cNvSpPr/>
          <p:nvPr/>
        </p:nvSpPr>
        <p:spPr>
          <a:xfrm>
            <a:off x="635000" y="3886200"/>
            <a:ext cx="406400" cy="4064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10B0FE-A043-634E-A026-203052B9E8F6}"/>
              </a:ext>
            </a:extLst>
          </p:cNvPr>
          <p:cNvSpPr txBox="1"/>
          <p:nvPr/>
        </p:nvSpPr>
        <p:spPr>
          <a:xfrm>
            <a:off x="1206500" y="38608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Architecture Notes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EC419-A75C-1B40-AC48-A5ED13CC301C}"/>
              </a:ext>
            </a:extLst>
          </p:cNvPr>
          <p:cNvSpPr txBox="1"/>
          <p:nvPr/>
        </p:nvSpPr>
        <p:spPr>
          <a:xfrm>
            <a:off x="1206500" y="41656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Key services, data flow, gotchas a newcomer would miss.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FEA4AE-E450-1C4F-B38D-1B08F23C7622}"/>
              </a:ext>
            </a:extLst>
          </p:cNvPr>
          <p:cNvSpPr/>
          <p:nvPr/>
        </p:nvSpPr>
        <p:spPr>
          <a:xfrm>
            <a:off x="635000" y="4876800"/>
            <a:ext cx="406400" cy="4064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C2C6E-7BC6-B549-931E-04215B8E814A}"/>
              </a:ext>
            </a:extLst>
          </p:cNvPr>
          <p:cNvSpPr txBox="1"/>
          <p:nvPr/>
        </p:nvSpPr>
        <p:spPr>
          <a:xfrm>
            <a:off x="1206500" y="4851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Review Checklist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00B475-F3C8-6B41-93AB-14EF5ABB9568}"/>
              </a:ext>
            </a:extLst>
          </p:cNvPr>
          <p:cNvSpPr txBox="1"/>
          <p:nvPr/>
        </p:nvSpPr>
        <p:spPr>
          <a:xfrm>
            <a:off x="1206500" y="51562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every change needs before it's merge-ready.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4FBB6A8-3386-0F45-948A-36CA4A176827}"/>
              </a:ext>
            </a:extLst>
          </p:cNvPr>
          <p:cNvSpPr/>
          <p:nvPr/>
        </p:nvSpPr>
        <p:spPr>
          <a:xfrm>
            <a:off x="6096000" y="1841500"/>
            <a:ext cx="5461000" cy="3746500"/>
          </a:xfrm>
          <a:prstGeom prst="round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78103-ED2C-6548-9363-CA95D06C0AF6}"/>
              </a:ext>
            </a:extLst>
          </p:cNvPr>
          <p:cNvSpPr txBox="1"/>
          <p:nvPr/>
        </p:nvSpPr>
        <p:spPr>
          <a:xfrm>
            <a:off x="6350000" y="2006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A89BC9"/>
                </a:solidFill>
                <a:latin typeface="Open Sans"/>
                <a:ea typeface="Open Sans"/>
                <a:cs typeface="Open Sans"/>
              </a:rPr>
              <a:t>EXAMPLE  ·  CLAUDE.md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5534E0-BF8D-7A4C-9B00-848DE2145369}"/>
              </a:ext>
            </a:extLst>
          </p:cNvPr>
          <p:cNvSpPr txBox="1"/>
          <p:nvPr/>
        </p:nvSpPr>
        <p:spPr>
          <a:xfrm>
            <a:off x="6350000" y="2286000"/>
            <a:ext cx="50800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8E4F0"/>
                </a:solidFill>
                <a:latin typeface="Consolas"/>
                <a:cs typeface="Consolas"/>
              </a:rPr>
              <a:t>## Project Overview
Node/Postgres API powering the Standard Co
client portal. Auth via Auth0.
## Coding Standards
- TypeScript strict; no any
- Tests required for every route
- Never log PII or tokens
## Architecture
- Webhooks → queue → workers (idempotent)
- DB migrations via Prisma only
## Review Checklist
- [ ] Tests green   - [ ] No console.log
- [ ] Migration reviewed   - [ ] Errors typed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AE62AC-6ADD-B045-9EBE-DF13FF4D0EF7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73C211-177E-7B49-98F2-3011715C430C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Short, opinionated, and kept in sync with how you actually work.</a:t>
            </a:r>
          </a:p>
        </p:txBody>
      </p:sp>
      <p:pic>
        <p:nvPicPr>
          <p:cNvPr id="23" name="Copied Picture 23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1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F706682-F7E9-E846-9B46-1B5796733F78}"/>
              </a:ext>
            </a:extLst>
          </p:cNvPr>
          <p:cNvSpPr/>
          <p:nvPr/>
        </p:nvSpPr>
        <p:spPr>
          <a:xfrm>
            <a:off x="8128000" y="4254500"/>
            <a:ext cx="3429000" cy="1714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1335D7D-18A3-344F-843F-A02FACD72DDD}"/>
              </a:ext>
            </a:extLst>
          </p:cNvPr>
          <p:cNvSpPr/>
          <p:nvPr/>
        </p:nvSpPr>
        <p:spPr>
          <a:xfrm>
            <a:off x="4381500" y="4254500"/>
            <a:ext cx="3429000" cy="1714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4020D35-5486-8E4C-9680-484476EFF5B6}"/>
              </a:ext>
            </a:extLst>
          </p:cNvPr>
          <p:cNvSpPr/>
          <p:nvPr/>
        </p:nvSpPr>
        <p:spPr>
          <a:xfrm>
            <a:off x="635000" y="4254500"/>
            <a:ext cx="3429000" cy="1714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3CD24-56BF-A248-8020-C2E4C27B0346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FOLDER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63FE2-BC70-2048-855F-B0BA5FD96355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3600" b="1" dirty="0">
                <a:solidFill>
                  <a:srgbClr val="1A1A2E"/>
                </a:solidFill>
                <a:latin typeface="Open Sans"/>
              </a:rPr>
              <a:t>Inside ./.claude/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7EFC1-5EC2-5249-9937-3ACB43D4C304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dirty="0">
                <a:solidFill>
                  <a:srgbClr val="1A1A2E"/>
                </a:solidFill>
                <a:latin typeface="Open Sans"/>
              </a:rPr>
              <a:t>Six things live here. CLAUDE.md tells Claude what to know — this folder gives Claude what to do.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86C298-3C81-A84E-8291-B90291CAE48E}"/>
              </a:ext>
            </a:extLst>
          </p:cNvPr>
          <p:cNvSpPr/>
          <p:nvPr/>
        </p:nvSpPr>
        <p:spPr>
          <a:xfrm>
            <a:off x="635000" y="2286000"/>
            <a:ext cx="3429000" cy="1714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77980-5E6E-524F-A9AE-951988A57B3D}"/>
              </a:ext>
            </a:extLst>
          </p:cNvPr>
          <p:cNvSpPr/>
          <p:nvPr/>
        </p:nvSpPr>
        <p:spPr>
          <a:xfrm>
            <a:off x="635000" y="22860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E5D3D-D523-EB46-9D0E-BECC95626DB8}"/>
              </a:ext>
            </a:extLst>
          </p:cNvPr>
          <p:cNvSpPr txBox="1"/>
          <p:nvPr/>
        </p:nvSpPr>
        <p:spPr>
          <a:xfrm>
            <a:off x="838200" y="24892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PERMISSIONS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BD8BD2-5B7B-B74A-AEF1-EF497C5FFD02}"/>
              </a:ext>
            </a:extLst>
          </p:cNvPr>
          <p:cNvSpPr txBox="1"/>
          <p:nvPr/>
        </p:nvSpPr>
        <p:spPr>
          <a:xfrm>
            <a:off x="838200" y="27432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800" b="1" dirty="0">
                <a:solidFill>
                  <a:srgbClr val="241452"/>
                </a:solidFill>
                <a:latin typeface="Open Sans"/>
              </a:rPr>
              <a:t>Settings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A3D9B-917D-A94C-84D9-C6483E23C79D}"/>
              </a:ext>
            </a:extLst>
          </p:cNvPr>
          <p:cNvSpPr txBox="1"/>
          <p:nvPr/>
        </p:nvSpPr>
        <p:spPr>
          <a:xfrm>
            <a:off x="838200" y="3175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settings.json</a:t>
            </a:r>
          </a:p>
          <a:p>
            <a:r>
              <a:rPr lang="en-US" sz="6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300" dirty="0">
                <a:solidFill>
                  <a:srgbClr val="2D2D2D"/>
                </a:solidFill>
                <a:latin typeface="Open Sans"/>
              </a:rPr>
              <a:t>What Claude can do. Permissions, hooks config, MCP gates.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007891-8A3B-8843-9498-F9FB60AD997B}"/>
              </a:ext>
            </a:extLst>
          </p:cNvPr>
          <p:cNvSpPr/>
          <p:nvPr/>
        </p:nvSpPr>
        <p:spPr>
          <a:xfrm>
            <a:off x="4381500" y="2286000"/>
            <a:ext cx="3429000" cy="1714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CAF1D0-A1CD-FB40-A978-11AF668ADEDE}"/>
              </a:ext>
            </a:extLst>
          </p:cNvPr>
          <p:cNvSpPr/>
          <p:nvPr/>
        </p:nvSpPr>
        <p:spPr>
          <a:xfrm>
            <a:off x="4381500" y="22860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AB59E-1561-9540-9921-7C91A3897E8B}"/>
              </a:ext>
            </a:extLst>
          </p:cNvPr>
          <p:cNvSpPr txBox="1"/>
          <p:nvPr/>
        </p:nvSpPr>
        <p:spPr>
          <a:xfrm>
            <a:off x="4584700" y="24892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GUARDRAILS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6F318-42FD-5440-8D40-646F50AA20CA}"/>
              </a:ext>
            </a:extLst>
          </p:cNvPr>
          <p:cNvSpPr txBox="1"/>
          <p:nvPr/>
        </p:nvSpPr>
        <p:spPr>
          <a:xfrm>
            <a:off x="4584700" y="27432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800" b="1" dirty="0">
                <a:solidFill>
                  <a:srgbClr val="241452"/>
                </a:solidFill>
                <a:latin typeface="Open Sans"/>
              </a:rPr>
              <a:t>Rules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F044D-D02A-6E47-B607-B43CDFD93CC3}"/>
              </a:ext>
            </a:extLst>
          </p:cNvPr>
          <p:cNvSpPr txBox="1"/>
          <p:nvPr/>
        </p:nvSpPr>
        <p:spPr>
          <a:xfrm>
            <a:off x="4584700" y="3175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rules/</a:t>
            </a:r>
          </a:p>
          <a:p>
            <a:r>
              <a:rPr lang="en-US" sz="6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300" dirty="0">
                <a:solidFill>
                  <a:srgbClr val="2D2D2D"/>
                </a:solidFill>
                <a:latin typeface="Open Sans"/>
              </a:rPr>
              <a:t>Hard limits. Always-do, never-do.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186E8E8-F4DE-284C-8D33-432F0E4377EF}"/>
              </a:ext>
            </a:extLst>
          </p:cNvPr>
          <p:cNvSpPr/>
          <p:nvPr/>
        </p:nvSpPr>
        <p:spPr>
          <a:xfrm>
            <a:off x="8128000" y="2286000"/>
            <a:ext cx="3429000" cy="1714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30C712-E94E-5241-AA43-15D373536542}"/>
              </a:ext>
            </a:extLst>
          </p:cNvPr>
          <p:cNvSpPr/>
          <p:nvPr/>
        </p:nvSpPr>
        <p:spPr>
          <a:xfrm>
            <a:off x="8128000" y="22860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E20BB-95E3-8F46-86C9-A08A1F6FF7E6}"/>
              </a:ext>
            </a:extLst>
          </p:cNvPr>
          <p:cNvSpPr txBox="1"/>
          <p:nvPr/>
        </p:nvSpPr>
        <p:spPr>
          <a:xfrm>
            <a:off x="8331200" y="24892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ON-DEMAND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8BB2D-35C0-5B4C-BFB9-D709155A1F4B}"/>
              </a:ext>
            </a:extLst>
          </p:cNvPr>
          <p:cNvSpPr txBox="1"/>
          <p:nvPr/>
        </p:nvSpPr>
        <p:spPr>
          <a:xfrm>
            <a:off x="8331200" y="27432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800" b="1" dirty="0">
                <a:solidFill>
                  <a:srgbClr val="241452"/>
                </a:solidFill>
                <a:latin typeface="Open Sans"/>
              </a:rPr>
              <a:t>Commands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61EEB9-E575-5B45-8943-445A86349A5D}"/>
              </a:ext>
            </a:extLst>
          </p:cNvPr>
          <p:cNvSpPr txBox="1"/>
          <p:nvPr/>
        </p:nvSpPr>
        <p:spPr>
          <a:xfrm>
            <a:off x="8331200" y="3175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commands/</a:t>
            </a:r>
          </a:p>
          <a:p>
            <a:r>
              <a:rPr lang="en-US" sz="6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300" dirty="0">
                <a:solidFill>
                  <a:srgbClr val="2D2D2D"/>
                </a:solidFill>
                <a:latin typeface="Open Sans"/>
              </a:rPr>
              <a:t>Slash commands you trigger. /review-pr, /release-notes.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507EC4-3B59-774B-8CAF-D4CA78E06A08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D5ADB1-7296-D34D-B955-65F1CB66996C}"/>
              </a:ext>
            </a:extLst>
          </p:cNvPr>
          <p:cNvSpPr/>
          <p:nvPr/>
        </p:nvSpPr>
        <p:spPr>
          <a:xfrm>
            <a:off x="635000" y="4254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C6B5A1-4C5C-C445-B662-F0D9B0AB07CF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 dirty="0">
                <a:solidFill>
                  <a:srgbClr val="666666"/>
                </a:solidFill>
                <a:latin typeface="Open Sans"/>
              </a:rPr>
              <a:t>CLAUDE.md is what Claude knows. ./.claude/ is what Claude can do.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449769-CC54-4E4E-B180-C0EB7FA9AFD7}"/>
              </a:ext>
            </a:extLst>
          </p:cNvPr>
          <p:cNvSpPr txBox="1"/>
          <p:nvPr/>
        </p:nvSpPr>
        <p:spPr>
          <a:xfrm>
            <a:off x="838200" y="4457700"/>
            <a:ext cx="30480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WORKFLOWS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6AEBFE-17DE-9342-AA0B-7AE618A5A37C}"/>
              </a:ext>
            </a:extLst>
          </p:cNvPr>
          <p:cNvSpPr txBox="1"/>
          <p:nvPr/>
        </p:nvSpPr>
        <p:spPr>
          <a:xfrm>
            <a:off x="838200" y="47117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800" b="1" dirty="0">
                <a:solidFill>
                  <a:srgbClr val="241452"/>
                </a:solidFill>
                <a:latin typeface="Open Sans"/>
              </a:rPr>
              <a:t>Skills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540690-E8AA-EC44-8782-039528EB49E3}"/>
              </a:ext>
            </a:extLst>
          </p:cNvPr>
          <p:cNvSpPr/>
          <p:nvPr/>
        </p:nvSpPr>
        <p:spPr>
          <a:xfrm>
            <a:off x="4381500" y="4254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92D99A-1019-F549-95AC-E0509B6BDFA0}"/>
              </a:ext>
            </a:extLst>
          </p:cNvPr>
          <p:cNvSpPr txBox="1"/>
          <p:nvPr/>
        </p:nvSpPr>
        <p:spPr>
          <a:xfrm>
            <a:off x="838200" y="5143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skills/</a:t>
            </a:r>
          </a:p>
          <a:p>
            <a:r>
              <a:rPr lang="en-US" sz="6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300" dirty="0">
                <a:solidFill>
                  <a:srgbClr val="2D2D2D"/>
                </a:solidFill>
                <a:latin typeface="Open Sans"/>
              </a:rPr>
              <a:t>Reusable workflow templates for repeat tasks.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C8F158-31FE-1641-BA4A-88E8BDDC64AC}"/>
              </a:ext>
            </a:extLst>
          </p:cNvPr>
          <p:cNvSpPr txBox="1"/>
          <p:nvPr/>
        </p:nvSpPr>
        <p:spPr>
          <a:xfrm>
            <a:off x="4584700" y="4457700"/>
            <a:ext cx="30480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SPECIALISTS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DD7FB8-D699-7645-B194-ADA476F7D7E5}"/>
              </a:ext>
            </a:extLst>
          </p:cNvPr>
          <p:cNvSpPr txBox="1"/>
          <p:nvPr/>
        </p:nvSpPr>
        <p:spPr>
          <a:xfrm>
            <a:off x="4584700" y="47117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800" b="1" dirty="0">
                <a:solidFill>
                  <a:srgbClr val="241452"/>
                </a:solidFill>
                <a:latin typeface="Open Sans"/>
              </a:rPr>
              <a:t>Agents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D6D35C-2E7B-2846-9B79-10BE35312578}"/>
              </a:ext>
            </a:extLst>
          </p:cNvPr>
          <p:cNvSpPr/>
          <p:nvPr/>
        </p:nvSpPr>
        <p:spPr>
          <a:xfrm>
            <a:off x="8128000" y="4254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5E02CF-D795-9548-8BF3-F34331CAD609}"/>
              </a:ext>
            </a:extLst>
          </p:cNvPr>
          <p:cNvSpPr txBox="1"/>
          <p:nvPr/>
        </p:nvSpPr>
        <p:spPr>
          <a:xfrm>
            <a:off x="4584700" y="5143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agents/</a:t>
            </a:r>
          </a:p>
          <a:p>
            <a:r>
              <a:rPr lang="en-US" sz="6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300" dirty="0">
                <a:solidFill>
                  <a:srgbClr val="2D2D2D"/>
                </a:solidFill>
                <a:latin typeface="Open Sans"/>
              </a:rPr>
              <a:t>Sub-agents with their own prompts. Claude delegates to them.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A1B72E-B3A1-4446-8E37-97EEF69F94CA}"/>
              </a:ext>
            </a:extLst>
          </p:cNvPr>
          <p:cNvSpPr txBox="1"/>
          <p:nvPr/>
        </p:nvSpPr>
        <p:spPr>
          <a:xfrm>
            <a:off x="8331200" y="4457700"/>
            <a:ext cx="30480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EVENT-DRIVEN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76564D-FEE6-E648-9D99-B16E36D60DE6}"/>
              </a:ext>
            </a:extLst>
          </p:cNvPr>
          <p:cNvSpPr txBox="1"/>
          <p:nvPr/>
        </p:nvSpPr>
        <p:spPr>
          <a:xfrm>
            <a:off x="8331200" y="47117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800" b="1" dirty="0">
                <a:solidFill>
                  <a:srgbClr val="241452"/>
                </a:solidFill>
                <a:latin typeface="Open Sans"/>
              </a:rPr>
              <a:t>Hooks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1ECA83-91FE-5E43-B008-86A573392EFB}"/>
              </a:ext>
            </a:extLst>
          </p:cNvPr>
          <p:cNvSpPr txBox="1"/>
          <p:nvPr/>
        </p:nvSpPr>
        <p:spPr>
          <a:xfrm>
            <a:off x="8331200" y="5143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hooks/</a:t>
            </a:r>
          </a:p>
          <a:p>
            <a:r>
              <a:rPr lang="en-US" sz="6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300" dirty="0">
                <a:solidFill>
                  <a:srgbClr val="2D2D2D"/>
                </a:solidFill>
                <a:latin typeface="Open Sans"/>
              </a:rPr>
              <a:t>Shell commands that fire on lifecycle events.</a:t>
            </a:r>
          </a:p>
        </p:txBody>
      </p:sp>
      <p:pic>
        <p:nvPicPr>
          <p:cNvPr id="38" name="Copied Picture 38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5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SETTINGS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3600" b="1" dirty="0">
                <a:solidFill>
                  <a:srgbClr val="1A1A2E"/>
                </a:solidFill>
                <a:latin typeface="Consolas"/>
              </a:rPr>
              <a:t>settings.json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dirty="0">
                <a:solidFill>
                  <a:srgbClr val="1A1A2E"/>
                </a:solidFill>
                <a:latin typeface="Open Sans"/>
              </a:rPr>
              <a:t>The control panel. What Claude is allowed to do, and which auxiliary surfaces it loads.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b="1" dirty="0">
                <a:solidFill>
                  <a:srgbClr val="241452"/>
                </a:solidFill>
                <a:latin typeface="Open Sans"/>
              </a:rPr>
              <a:t>What it controls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Tool permissions — allow / deny / ask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Which MCPs auto-load (vs prompt)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Hooks — lifecycle event handlers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Model selection, env vars, plugins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2D2D2D"/>
                </a:solidFill>
                <a:latin typeface="Open Sans"/>
              </a:rPr>
              <a:t>Network &amp; sandbox restrictions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b="1" dirty="0">
                <a:solidFill>
                  <a:srgbClr val="241452"/>
                </a:solidFill>
                <a:latin typeface="Open Sans"/>
              </a:rPr>
              <a:t>Example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"permissions": {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  "allow": ["Bash(npm test:*)"],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  "deny":  ["Bash(rm -rf:*)"]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},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"enableAllProjectMcpServers": true,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"env": {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  "ANTHROPIC_MODEL": "claude-sonnet"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}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 dirty="0">
                <a:solidFill>
                  <a:srgbClr val="666666"/>
                </a:solidFill>
                <a:latin typeface="Open Sans"/>
              </a:rPr>
              <a:t>Settings is "what Claude can do." Read it before granting any new permission.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9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1A1A2E"/>
                </a:solidFill>
                <a:latin typeface="Consolas"/>
                <a:cs typeface="Consolas"/>
              </a:rPr>
              <a:t>The always/never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Short, declarative guardrails Claude reads alongside CLAUDE.md. One markdown file per topic.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What goes here</a:t>
            </a:r>
          </a:p>
          <a:p>
            <a:pPr algn="l"/>
            <a:r>
              <a:rPr lang="en-US" sz="1100">
                <a:solidFill>
                  <a:srgbClr val="666666"/>
                </a:solidFill>
                <a:latin typeface="Consolas"/>
                <a:cs typeface="Consolas"/>
              </a:rPr>
              <a:t>.claude/rules/*.md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Coding conventions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naming, error handling, test patterns.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Stack-specific rules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"use Active Record scopes, not raw SQL."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Hard prohibitions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"never edit migrations after merge."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How to write them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Imperative, not aspirational. "Always do X" or "Never do Y."
One file per topic so Claude can load just the relevant one.
Keep them short. If a rule needs three paragraphs of justification, it’s probably context for CLAUDE.md instead.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If you find yourself correcting the same thing twice, write a rule.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6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</a:rPr>
              <a:t>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</a:rPr>
              <a:t>Skills (formerly Commands)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</a:rPr>
              <a:t>Reusable instructions Claude loads on demand — either when you call them, or when context matches.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</a:rPr>
              <a:t>What it is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400">
                <a:solidFill>
                  <a:srgbClr val="1A1A2E"/>
                </a:solidFill>
                <a:latin typeface="Open Sans"/>
              </a:rPr>
              <a:t>A folder with a </a:t>
            </a:r>
            <a:r>
              <a:rPr lang="en-US" sz="1400" b="1">
                <a:solidFill>
                  <a:srgbClr val="1A1A2E"/>
                </a:solidFill>
                <a:latin typeface="Courier New"/>
              </a:rPr>
              <a:t>SKILL.md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file. Two parts: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400" b="1">
                <a:solidFill>
                  <a:srgbClr val="1A1A2E"/>
                </a:solidFill>
                <a:latin typeface="Open Sans"/>
              </a:rPr>
              <a:t>YAML frontmatter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— name, description, when to invoke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en-US" sz="1400" b="1">
                <a:solidFill>
                  <a:srgbClr val="1A1A2E"/>
                </a:solidFill>
                <a:latin typeface="Open Sans"/>
              </a:rPr>
              <a:t>Markdown body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— the actual instructions</a:t>
            </a:r>
          </a:p>
          <a:p>
            <a:pPr algn="l"/>
            <a:r>
              <a:rPr lang="en-US" sz="1200">
                <a:solidFill>
                  <a:srgbClr val="666666"/>
                </a:solidFill>
                <a:latin typeface="Courier New"/>
              </a:rPr>
              <a:t>~/.claude/skills/&lt;name&gt;/SKILL.md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</a:rPr>
              <a:t>What it does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400">
                <a:solidFill>
                  <a:srgbClr val="1A1A2E"/>
                </a:solidFill>
                <a:latin typeface="Open Sans"/>
              </a:rPr>
              <a:t>When invoked, the body loads into Claude’s context. Claude reads it and follows the steps.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Open Sans"/>
              </a:rPr>
              <a:t>You call it manually: </a:t>
            </a:r>
            <a:r>
              <a:rPr lang="en-US" sz="1400">
                <a:solidFill>
                  <a:srgbClr val="241452"/>
                </a:solidFill>
                <a:latin typeface="Courier New"/>
              </a:rPr>
              <a:t>/skill-name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Open Sans"/>
              </a:rPr>
              <a:t>Or Claude auto-invokes when the description matches the conversation</a:t>
            </a:r>
          </a:p>
          <a:p>
            <a:pPr algn="l"/>
            <a:r>
              <a:rPr lang="en-US" sz="1200">
                <a:solidFill>
                  <a:srgbClr val="666666"/>
                </a:solidFill>
                <a:latin typeface="Open Sans"/>
              </a:rPr>
              <a:t>Frontmatter decides which path is allowed.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</a:rPr>
              <a:t>Old </a:t>
            </a:r>
            <a:r>
              <a:rPr lang="en-US" sz="1400" i="1">
                <a:solidFill>
                  <a:srgbClr val="666666"/>
                </a:solidFill>
                <a:latin typeface="Courier New"/>
              </a:rPr>
              <a:t>.claude/commands/</a:t>
            </a:r>
            <a:r>
              <a:rPr lang="en-US" sz="1400" i="1">
                <a:solidFill>
                  <a:srgbClr val="666666"/>
                </a:solidFill>
                <a:latin typeface="Open Sans"/>
              </a:rPr>
              <a:t> files still work — they just don’t get the frontmatter or supporting-files features.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2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MANUAL-ONLY 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Skills you trigger by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Set disable-model-invocation: true. Now Claude won’t auto-run it — only you can.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WHAT IT LOOKS LIKE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.claude/skills/deploy/SKILL.md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sz="1400" b="1">
                <a:solidFill>
                  <a:srgbClr val="241452"/>
                </a:solidFill>
                <a:latin typeface="Courier New"/>
                <a:ea typeface="Courier New"/>
                <a:cs typeface="Courier New"/>
              </a:rPr>
              <a:t>---</a:t>
            </a:r>
          </a:p>
          <a:p>
            <a:pPr algn="l">
              <a:lnSpc>
                <a:spcPts val="1800"/>
              </a:lnSpc>
            </a:pPr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  <a:cs typeface="Courier New"/>
              </a:rPr>
              <a:t>name: deploy</a:t>
            </a:r>
          </a:p>
          <a:p>
            <a:pPr algn="l">
              <a:lnSpc>
                <a:spcPts val="1800"/>
              </a:lnSpc>
            </a:pPr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  <a:cs typeface="Courier New"/>
              </a:rPr>
              <a:t>description: Ship to prod</a:t>
            </a:r>
          </a:p>
          <a:p>
            <a:pPr algn="l">
              <a:lnSpc>
                <a:spcPts val="1800"/>
              </a:lnSpc>
            </a:pPr>
            <a:r>
              <a:rPr lang="en-US" sz="1400" b="1">
                <a:solidFill>
                  <a:srgbClr val="241452"/>
                </a:solidFill>
                <a:latin typeface="Courier New"/>
                <a:ea typeface="Courier New"/>
                <a:cs typeface="Courier New"/>
              </a:rPr>
              <a:t>disable-model-invocation: true</a:t>
            </a:r>
          </a:p>
          <a:p>
            <a:pPr algn="l">
              <a:lnSpc>
                <a:spcPts val="1800"/>
              </a:lnSpc>
            </a:pPr>
            <a:r>
              <a:rPr lang="en-US" sz="1400" b="1">
                <a:solidFill>
                  <a:srgbClr val="241452"/>
                </a:solidFill>
                <a:latin typeface="Courier New"/>
                <a:ea typeface="Courier New"/>
                <a:cs typeface="Courier New"/>
              </a:rPr>
              <a:t>---</a:t>
            </a:r>
          </a:p>
          <a:p>
            <a:pPr algn="l">
              <a:lnSpc>
                <a:spcPts val="1800"/>
              </a:lnSpc>
            </a:pPr>
            <a:r>
              <a:rPr lang="en-US" sz="140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Run tests, build, push…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WHEN TO USE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Anything with side effects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00000" indent="-200000" algn="l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Deploys, releases, migrations</a:t>
            </a:r>
          </a:p>
          <a:p>
            <a:pPr marL="200000" indent="-200000" algn="l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Anything that posts, sends, or pushes</a:t>
            </a:r>
          </a:p>
          <a:p>
            <a:pPr marL="200000" indent="-200000" algn="l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Long prompts you reuse as macros</a:t>
            </a:r>
          </a:p>
          <a:p>
            <a:pPr marL="200000" indent="-200000" algn="l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Workflows where timing matters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Rule of thumb: if Claude shouldn’t decide when this runs, lock it to manual.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7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COMMANDS &amp; 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They’re the same thing now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Anthropic merged custom commands into skills. One file format, one folder, three ways to invoke.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286000"/>
            <a:ext cx="3429000" cy="3492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540000"/>
            <a:ext cx="50800" cy="2984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5019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DEFAULT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You or Claude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2984500"/>
            <a:ext cx="2921000" cy="2603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You can type </a:t>
            </a:r>
            <a:r>
              <a:rPr lang="en-US" sz="14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/skill-name</a:t>
            </a: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 to run it. Claude can also load it on its own when the task matches.</a:t>
            </a:r>
          </a:p>
          <a:p>
            <a:pPr algn="l">
              <a:lnSpc>
                <a:spcPts val="1900"/>
              </a:lnSpc>
              <a:spcBef>
                <a:spcPts val="600"/>
              </a:spcBef>
            </a:pPr>
            <a:r>
              <a:rPr lang="en-US" sz="12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Good for: most workflows.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4381500" y="2286000"/>
            <a:ext cx="3429000" cy="3492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4381500" y="2540000"/>
            <a:ext cx="50800" cy="2984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4686300" y="25019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YOU ONLY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Manual trigger only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4686300" y="2984500"/>
            <a:ext cx="2921000" cy="2603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Set </a:t>
            </a:r>
            <a:r>
              <a:rPr lang="en-US" sz="14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disable-model-invocation: true</a:t>
            </a: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. Claude won’t auto-run it; you have to type the slash.</a:t>
            </a:r>
          </a:p>
          <a:p>
            <a:pPr algn="l">
              <a:lnSpc>
                <a:spcPts val="1900"/>
              </a:lnSpc>
              <a:spcBef>
                <a:spcPts val="600"/>
              </a:spcBef>
            </a:pPr>
            <a:r>
              <a:rPr lang="en-US" sz="12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Good for: /deploy, /commit, /send-slack-message.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Legacy: .claude/commands/*.md still works and shows up as /name — but new work belongs in .claude/skills/&lt;name&gt;/SKILL.md.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  <p:sp>
        <p:nvSpPr>
          <p:cNvPr id="100" name="CardC_BG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8128000" y="2286000"/>
            <a:ext cx="3429000" cy="3492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1" name="CardC_Bar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8128000" y="2540000"/>
            <a:ext cx="50800" cy="2984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2" name="CardC_Header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8432800" y="25019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CLAUDE ONLY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Background knowledge</a:t>
            </a:r>
          </a:p>
        </p:txBody>
      </p:sp>
      <p:sp>
        <p:nvSpPr>
          <p:cNvPr id="103" name="CardC_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8432800" y="2984500"/>
            <a:ext cx="2921000" cy="2603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900"/>
              </a:lnSpc>
              <a:spcAft>
                <a:spcPts val="600"/>
              </a:spcAft>
            </a:pP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Set </a:t>
            </a:r>
            <a:r>
              <a:rPr lang="en-US" sz="14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user-invocable: false</a:t>
            </a: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. Hidden from the </a:t>
            </a:r>
            <a:r>
              <a:rPr lang="en-US" sz="14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/</a:t>
            </a:r>
            <a:r>
              <a:rPr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 menu. Claude pulls it in when relevant.</a:t>
            </a:r>
          </a:p>
          <a:p>
            <a:pPr algn="l">
              <a:lnSpc>
                <a:spcPts val="1900"/>
              </a:lnSpc>
              <a:spcBef>
                <a:spcPts val="600"/>
              </a:spcBef>
            </a:pPr>
            <a:r>
              <a:rPr lang="en-US" sz="12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Good for: codebase conventions, style guides.</a:t>
            </a:r>
          </a:p>
        </p:txBody>
      </p:sp>
    </p:spTree>
    <p:extLst>
      <p:ext uri="{BB962C8B-B14F-4D97-AF65-F5344CB8AC3E}">
        <p14:creationId xmlns:p14="http://schemas.microsoft.com/office/powerpoint/2010/main" val="3438968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</a:rPr>
              <a:t>SLASH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</a:rPr>
              <a:t>What actually runs when you type a slash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</a:rPr>
              <a:t>Three different things share the </a:t>
            </a:r>
            <a:r>
              <a:rPr lang="en-US" sz="1600">
                <a:solidFill>
                  <a:srgbClr val="1A1A2E"/>
                </a:solidFill>
                <a:latin typeface="Courier New"/>
              </a:rPr>
              <a:t>/</a:t>
            </a:r>
            <a:r>
              <a:rPr lang="en-US" sz="1600">
                <a:solidFill>
                  <a:srgbClr val="1A1A2E"/>
                </a:solidFill>
                <a:latin typeface="Open Sans"/>
              </a:rPr>
              <a:t> prefix. Here’s how Claude Code routes each one.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</a:rPr>
              <a:t>Custom skills shadow bundled skills with the same name. Type </a:t>
            </a:r>
            <a:r>
              <a:rPr lang="en-US" sz="1400" i="1">
                <a:solidFill>
                  <a:srgbClr val="666666"/>
                </a:solidFill>
                <a:latin typeface="Courier New"/>
              </a:rPr>
              <a:t>/skills</a:t>
            </a:r>
            <a:r>
              <a:rPr lang="en-US" sz="1400" i="1">
                <a:solidFill>
                  <a:srgbClr val="666666"/>
                </a:solidFill>
                <a:latin typeface="Open Sans"/>
              </a:rPr>
              <a:t> to see what’s actually loaded.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  <p:sp>
        <p:nvSpPr>
          <p:cNvPr id="200" name="InputPill"/>
          <p:cNvSpPr/>
          <p:nvPr/>
        </p:nvSpPr>
        <p:spPr>
          <a:xfrm>
            <a:off x="4572000" y="2286000"/>
            <a:ext cx="3048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1452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01" name="InputText"/>
          <p:cNvSpPr txBox="1"/>
          <p:nvPr/>
        </p:nvSpPr>
        <p:spPr>
          <a:xfrm>
            <a:off x="4572000" y="228600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666666"/>
                </a:solidFill>
                <a:latin typeface="Open Sans"/>
              </a:rPr>
              <a:t>User types </a:t>
            </a:r>
            <a:r>
              <a:rPr lang="en-US" sz="1400" b="1">
                <a:solidFill>
                  <a:srgbClr val="241452"/>
                </a:solidFill>
                <a:latin typeface="Courier New"/>
              </a:rPr>
              <a:t>/name</a:t>
            </a:r>
          </a:p>
        </p:txBody>
      </p:sp>
      <p:sp>
        <p:nvSpPr>
          <p:cNvPr id="202" name="Router"/>
          <p:cNvSpPr/>
          <p:nvPr/>
        </p:nvSpPr>
        <p:spPr>
          <a:xfrm>
            <a:off x="4445000" y="2971800"/>
            <a:ext cx="3302000" cy="406400"/>
          </a:xfrm>
          <a:prstGeom prst="roundRect">
            <a:avLst/>
          </a:prstGeom>
          <a:solidFill>
            <a:srgbClr val="241452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03" name="RouterText"/>
          <p:cNvSpPr txBox="1"/>
          <p:nvPr/>
        </p:nvSpPr>
        <p:spPr>
          <a:xfrm>
            <a:off x="4445000" y="2971800"/>
            <a:ext cx="3302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Open Sans"/>
              </a:rPr>
              <a:t>Claude Code resolver</a:t>
            </a:r>
          </a:p>
        </p:txBody>
      </p:sp>
      <p:cxnSp>
        <p:nvCxnSpPr>
          <p:cNvPr id="204" name="L_InputToRouter"/>
          <p:cNvCxnSpPr/>
          <p:nvPr/>
        </p:nvCxnSpPr>
        <p:spPr>
          <a:xfrm>
            <a:off x="6096000" y="2743200"/>
            <a:ext cx="12700" cy="228600"/>
          </a:xfrm>
          <a:prstGeom prst="line">
            <a:avLst/>
          </a:prstGeom>
          <a:ln w="19050">
            <a:solidFill>
              <a:srgbClr val="241452"/>
            </a:solidFill>
          </a:ln>
        </p:spPr>
      </p:cxnSp>
      <p:cxnSp>
        <p:nvCxnSpPr>
          <p:cNvPr id="205" name="Trunk_L"/>
          <p:cNvCxnSpPr/>
          <p:nvPr/>
        </p:nvCxnSpPr>
        <p:spPr>
          <a:xfrm>
            <a:off x="2159000" y="3562350"/>
            <a:ext cx="7874000" cy="12700"/>
          </a:xfrm>
          <a:prstGeom prst="line">
            <a:avLst/>
          </a:prstGeom>
          <a:ln w="19050">
            <a:solidFill>
              <a:srgbClr val="241452"/>
            </a:solidFill>
          </a:ln>
        </p:spPr>
      </p:cxnSp>
      <p:cxnSp>
        <p:nvCxnSpPr>
          <p:cNvPr id="206" name="Drop_R"/>
          <p:cNvCxnSpPr/>
          <p:nvPr/>
        </p:nvCxnSpPr>
        <p:spPr>
          <a:xfrm>
            <a:off x="6096000" y="3378200"/>
            <a:ext cx="12700" cy="184150"/>
          </a:xfrm>
          <a:prstGeom prst="line">
            <a:avLst/>
          </a:prstGeom>
          <a:ln w="19050">
            <a:solidFill>
              <a:srgbClr val="241452"/>
            </a:solidFill>
          </a:ln>
        </p:spPr>
      </p:cxnSp>
      <p:cxnSp>
        <p:nvCxnSpPr>
          <p:cNvPr id="207" name="Drop_C1"/>
          <p:cNvCxnSpPr/>
          <p:nvPr/>
        </p:nvCxnSpPr>
        <p:spPr>
          <a:xfrm>
            <a:off x="2159000" y="3562350"/>
            <a:ext cx="12700" cy="184150"/>
          </a:xfrm>
          <a:prstGeom prst="line">
            <a:avLst/>
          </a:prstGeom>
          <a:ln w="19050">
            <a:solidFill>
              <a:srgbClr val="241452"/>
            </a:solidFill>
          </a:ln>
        </p:spPr>
      </p:cxnSp>
      <p:cxnSp>
        <p:nvCxnSpPr>
          <p:cNvPr id="208" name="Drop_C2"/>
          <p:cNvCxnSpPr/>
          <p:nvPr/>
        </p:nvCxnSpPr>
        <p:spPr>
          <a:xfrm>
            <a:off x="6096000" y="3562350"/>
            <a:ext cx="12700" cy="184150"/>
          </a:xfrm>
          <a:prstGeom prst="line">
            <a:avLst/>
          </a:prstGeom>
          <a:ln w="19050">
            <a:solidFill>
              <a:srgbClr val="241452"/>
            </a:solidFill>
          </a:ln>
        </p:spPr>
      </p:cxnSp>
      <p:cxnSp>
        <p:nvCxnSpPr>
          <p:cNvPr id="209" name="Drop_C3"/>
          <p:cNvCxnSpPr/>
          <p:nvPr/>
        </p:nvCxnSpPr>
        <p:spPr>
          <a:xfrm>
            <a:off x="10033000" y="3562350"/>
            <a:ext cx="12700" cy="184150"/>
          </a:xfrm>
          <a:prstGeom prst="line">
            <a:avLst/>
          </a:prstGeom>
          <a:ln w="19050">
            <a:solidFill>
              <a:srgbClr val="241452"/>
            </a:solidFill>
          </a:ln>
        </p:spPr>
      </p:cxnSp>
      <p:sp>
        <p:nvSpPr>
          <p:cNvPr id="210" name="Card1_BG"/>
          <p:cNvSpPr/>
          <p:nvPr/>
        </p:nvSpPr>
        <p:spPr>
          <a:xfrm>
            <a:off x="381000" y="3746500"/>
            <a:ext cx="3556000" cy="222250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11" name="Card1_Bar"/>
          <p:cNvSpPr/>
          <p:nvPr/>
        </p:nvSpPr>
        <p:spPr>
          <a:xfrm>
            <a:off x="381000" y="3937000"/>
            <a:ext cx="50800" cy="18415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12" name="Card1_Label"/>
          <p:cNvSpPr txBox="1"/>
          <p:nvPr/>
        </p:nvSpPr>
        <p:spPr>
          <a:xfrm>
            <a:off x="609600" y="39243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  <a:latin typeface="Open Sans"/>
              </a:rPr>
              <a:t>1 — HARDCODED CLI</a:t>
            </a:r>
          </a:p>
        </p:txBody>
      </p:sp>
      <p:sp>
        <p:nvSpPr>
          <p:cNvPr id="213" name="Card1_Title"/>
          <p:cNvSpPr txBox="1"/>
          <p:nvPr/>
        </p:nvSpPr>
        <p:spPr>
          <a:xfrm>
            <a:off x="609600" y="4203700"/>
            <a:ext cx="320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>
                <a:solidFill>
                  <a:srgbClr val="1A1A2E"/>
                </a:solidFill>
                <a:latin typeface="Open Sans"/>
              </a:rPr>
              <a:t>Built into the binary</a:t>
            </a:r>
          </a:p>
        </p:txBody>
      </p:sp>
      <p:sp>
        <p:nvSpPr>
          <p:cNvPr id="214" name="Card1_Body"/>
          <p:cNvSpPr txBox="1"/>
          <p:nvPr/>
        </p:nvSpPr>
        <p:spPr>
          <a:xfrm>
            <a:off x="609600" y="4559300"/>
            <a:ext cx="3200400" cy="1282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100">
                <a:solidFill>
                  <a:srgbClr val="1A1A2E"/>
                </a:solidFill>
                <a:latin typeface="Courier New"/>
              </a:rPr>
              <a:t>/clear  /compact  /diff
/cost  /model  /help</a:t>
            </a:r>
          </a:p>
          <a:p>
            <a:pPr algn="l">
              <a:spcBef>
                <a:spcPts val="500"/>
              </a:spcBef>
            </a:pPr>
            <a:r>
              <a:rPr lang="en-US" sz="1200">
                <a:solidFill>
                  <a:srgbClr val="1A1A2E"/>
                </a:solidFill>
                <a:latin typeface="Open Sans"/>
              </a:rPr>
              <a:t>No AI. No markdown loaded. CLI code runs and returns.</a:t>
            </a:r>
          </a:p>
        </p:txBody>
      </p:sp>
      <p:sp>
        <p:nvSpPr>
          <p:cNvPr id="215" name="Card2_BG"/>
          <p:cNvSpPr/>
          <p:nvPr/>
        </p:nvSpPr>
        <p:spPr>
          <a:xfrm>
            <a:off x="4318000" y="3746500"/>
            <a:ext cx="3556000" cy="222250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16" name="Card2_Bar"/>
          <p:cNvSpPr/>
          <p:nvPr/>
        </p:nvSpPr>
        <p:spPr>
          <a:xfrm>
            <a:off x="4318000" y="3937000"/>
            <a:ext cx="50800" cy="18415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17" name="Card2_Label"/>
          <p:cNvSpPr txBox="1"/>
          <p:nvPr/>
        </p:nvSpPr>
        <p:spPr>
          <a:xfrm>
            <a:off x="4546600" y="39243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  <a:latin typeface="Open Sans"/>
              </a:rPr>
              <a:t>2 — SKILL</a:t>
            </a:r>
          </a:p>
        </p:txBody>
      </p:sp>
      <p:sp>
        <p:nvSpPr>
          <p:cNvPr id="218" name="Card2_Title"/>
          <p:cNvSpPr txBox="1"/>
          <p:nvPr/>
        </p:nvSpPr>
        <p:spPr>
          <a:xfrm>
            <a:off x="4546600" y="4203700"/>
            <a:ext cx="320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>
                <a:solidFill>
                  <a:srgbClr val="1A1A2E"/>
                </a:solidFill>
                <a:latin typeface="Open Sans"/>
              </a:rPr>
              <a:t>Markdown becomes a prompt</a:t>
            </a:r>
          </a:p>
        </p:txBody>
      </p:sp>
      <p:sp>
        <p:nvSpPr>
          <p:cNvPr id="219" name="Card2_Body"/>
          <p:cNvSpPr txBox="1"/>
          <p:nvPr/>
        </p:nvSpPr>
        <p:spPr>
          <a:xfrm>
            <a:off x="4546600" y="4559300"/>
            <a:ext cx="3200400" cy="1282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>
                <a:solidFill>
                  <a:srgbClr val="1A1A2E"/>
                </a:solidFill>
                <a:latin typeface="Courier New"/>
              </a:rPr>
              <a:t>~/.claude/skills/&lt;name&gt;/
  SKILL.md</a:t>
            </a:r>
          </a:p>
          <a:p>
            <a:pPr algn="l">
              <a:spcBef>
                <a:spcPts val="500"/>
              </a:spcBef>
            </a:pPr>
            <a:r>
              <a:rPr lang="en-US" sz="1200">
                <a:solidFill>
                  <a:srgbClr val="1A1A2E"/>
                </a:solidFill>
                <a:latin typeface="Open Sans"/>
              </a:rPr>
              <a:t>SKILL.md loads into context. Claude reads it and follows the steps.</a:t>
            </a:r>
          </a:p>
        </p:txBody>
      </p:sp>
      <p:sp>
        <p:nvSpPr>
          <p:cNvPr id="220" name="Card3_BG"/>
          <p:cNvSpPr/>
          <p:nvPr/>
        </p:nvSpPr>
        <p:spPr>
          <a:xfrm>
            <a:off x="8255000" y="3746500"/>
            <a:ext cx="3556000" cy="222250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21" name="Card3_Bar"/>
          <p:cNvSpPr/>
          <p:nvPr/>
        </p:nvSpPr>
        <p:spPr>
          <a:xfrm>
            <a:off x="8255000" y="3937000"/>
            <a:ext cx="50800" cy="18415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222" name="Card3_Label"/>
          <p:cNvSpPr txBox="1"/>
          <p:nvPr/>
        </p:nvSpPr>
        <p:spPr>
          <a:xfrm>
            <a:off x="8483600" y="39243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  <a:latin typeface="Open Sans"/>
              </a:rPr>
              <a:t>3 — LEGACY COMMAND</a:t>
            </a:r>
          </a:p>
        </p:txBody>
      </p:sp>
      <p:sp>
        <p:nvSpPr>
          <p:cNvPr id="223" name="Card3_Title"/>
          <p:cNvSpPr txBox="1"/>
          <p:nvPr/>
        </p:nvSpPr>
        <p:spPr>
          <a:xfrm>
            <a:off x="8483600" y="4203700"/>
            <a:ext cx="320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>
                <a:solidFill>
                  <a:srgbClr val="1A1A2E"/>
                </a:solidFill>
                <a:latin typeface="Open Sans"/>
              </a:rPr>
              <a:t>Old format, same path</a:t>
            </a:r>
          </a:p>
        </p:txBody>
      </p:sp>
      <p:sp>
        <p:nvSpPr>
          <p:cNvPr id="224" name="Card3_Body"/>
          <p:cNvSpPr txBox="1"/>
          <p:nvPr/>
        </p:nvSpPr>
        <p:spPr>
          <a:xfrm>
            <a:off x="8483600" y="4559300"/>
            <a:ext cx="3200400" cy="1282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>
                <a:solidFill>
                  <a:srgbClr val="1A1A2E"/>
                </a:solidFill>
                <a:latin typeface="Courier New"/>
              </a:rPr>
              <a:t>~/.claude/commands/
  &lt;name&gt;.md</a:t>
            </a:r>
          </a:p>
          <a:p>
            <a:pPr algn="l">
              <a:spcBef>
                <a:spcPts val="500"/>
              </a:spcBef>
            </a:pPr>
            <a:r>
              <a:rPr lang="en-US" sz="1200">
                <a:solidFill>
                  <a:srgbClr val="1A1A2E"/>
                </a:solidFill>
                <a:latin typeface="Open Sans"/>
              </a:rPr>
              <a:t>Merged into the skills system. Same execution, no frontmatter options.</a:t>
            </a:r>
          </a:p>
        </p:txBody>
      </p:sp>
    </p:spTree>
    <p:extLst>
      <p:ext uri="{BB962C8B-B14F-4D97-AF65-F5344CB8AC3E}">
        <p14:creationId xmlns:p14="http://schemas.microsoft.com/office/powerpoint/2010/main" val="283428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BIG REVEAL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The magic is just skills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Claude Code ships with bundled skills written the same way you’d write yours. Same machinery, same file format.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SHIPS WITH THE CLI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Bundled skills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/review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— multi-angle code review</a:t>
            </a:r>
          </a:p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/simplify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— spawn parallel reviewers, fix issues</a:t>
            </a:r>
          </a:p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/debug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— structured failure investigation</a:t>
            </a:r>
          </a:p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/batch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, </a:t>
            </a:r>
            <a:r>
              <a:rPr lang="en-US" sz="1400" b="1">
                <a:solidFill>
                  <a:srgbClr val="241452"/>
                </a:solidFill>
                <a:latin typeface="Courier New"/>
              </a:rPr>
              <a:t>/loop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— parallel/repeated runs</a:t>
            </a:r>
          </a:p>
          <a:p>
            <a:pPr algn="l">
              <a:lnSpc>
                <a:spcPts val="1900"/>
              </a:lnSpc>
              <a:spcBef>
                <a:spcPts val="700"/>
              </a:spcBef>
            </a:pPr>
            <a:r>
              <a:rPr lang="en-US" sz="1200" i="1">
                <a:solidFill>
                  <a:srgbClr val="666666"/>
                </a:solidFill>
                <a:latin typeface="Open Sans"/>
              </a:rPr>
              <a:t>Run /skills to see the full list.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SO WHAT</a:t>
            </a:r>
          </a:p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You can write your own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lang="en-US" sz="1400">
                <a:solidFill>
                  <a:srgbClr val="1A1A2E"/>
                </a:solidFill>
                <a:latin typeface="Open Sans"/>
              </a:rPr>
              <a:t>If </a:t>
            </a:r>
            <a:r>
              <a:rPr lang="en-US" sz="1400" b="1">
                <a:solidFill>
                  <a:srgbClr val="241452"/>
                </a:solidFill>
                <a:latin typeface="Courier New"/>
              </a:rPr>
              <a:t>/review</a:t>
            </a:r>
            <a:r>
              <a:rPr lang="en-US" sz="1400">
                <a:solidFill>
                  <a:srgbClr val="1A1A2E"/>
                </a:solidFill>
                <a:latin typeface="Open Sans"/>
              </a:rPr>
              <a:t> is just a SKILL.md, then so is:</a:t>
            </a:r>
          </a:p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/marketing-review</a:t>
            </a:r>
          </a:p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/api-design-review</a:t>
            </a:r>
          </a:p>
          <a:p>
            <a:pPr marL="200000" indent="-200000" algn="l">
              <a:lnSpc>
                <a:spcPts val="20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>
                <a:solidFill>
                  <a:srgbClr val="241452"/>
                </a:solidFill>
                <a:latin typeface="Courier New"/>
              </a:rPr>
              <a:t>/contract-redline</a:t>
            </a:r>
          </a:p>
          <a:p>
            <a:pPr algn="l">
              <a:lnSpc>
                <a:spcPts val="1900"/>
              </a:lnSpc>
              <a:spcBef>
                <a:spcPts val="700"/>
              </a:spcBef>
            </a:pPr>
            <a:r>
              <a:rPr lang="en-US" sz="1200" i="1">
                <a:solidFill>
                  <a:srgbClr val="666666"/>
                </a:solidFill>
                <a:latin typeface="Open Sans"/>
              </a:rPr>
              <a:t>Anthropic doesn’t have a privileged tier. The bundled skills aren’t a feature list — they’re a primitive.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The thing that feels like product is actually scaffolding. Build your own.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0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AGENTS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1A1A2E"/>
                </a:solidFill>
                <a:latin typeface="Consolas"/>
                <a:cs typeface="Consolas"/>
              </a:rPr>
              <a:t>Specialist sub-agents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Each agent has its own system prompt and tool scope. Claude delegates to them.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What goes here</a:t>
            </a:r>
          </a:p>
          <a:p>
            <a:pPr algn="l"/>
            <a:r>
              <a:rPr lang="en-US" sz="1100">
                <a:solidFill>
                  <a:srgbClr val="666666"/>
                </a:solidFill>
                <a:latin typeface="Consolas"/>
                <a:cs typeface="Consolas"/>
              </a:rPr>
              <a:t>.claude/agents/*.md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code-reviewer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reads diffs with our review heuristics in its prompt.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test-writer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specializes in our test patterns; only writes tests, doesn’t change app code.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data-analyst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SQL-only scope, points at read replicas.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Why split them out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Cleaner context. The reviewer doesn’t need migration history; the test-writer doesn’t need deploy keys.
Tighter permissions. Each agent gets only the tools its job requires.
Reusable across the team. Once written, anyone can invoke them.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If a job needs a different mental model, it deserves its own agent.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13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434C8-87C7-FE4F-9A80-38222F1C26BA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HOOKS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0B05D-D7FA-E740-A8EF-D9A76CC0D61B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1A1A2E"/>
                </a:solidFill>
                <a:latin typeface="Consolas"/>
                <a:cs typeface="Consolas"/>
              </a:rPr>
              <a:t>Event-driven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423F-F0DD-E349-AFEA-DAD71F0D20DC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Shell commands Claude runs at lifecycle events. Configured in settings.json.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0A5DE-76C2-1248-A6FD-AE37D98265F2}"/>
              </a:ext>
            </a:extLst>
          </p:cNvPr>
          <p:cNvSpPr/>
          <p:nvPr/>
        </p:nvSpPr>
        <p:spPr>
          <a:xfrm>
            <a:off x="6350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242A2-DA78-7146-8346-4A681B70E6A7}"/>
              </a:ext>
            </a:extLst>
          </p:cNvPr>
          <p:cNvSpPr/>
          <p:nvPr/>
        </p:nvSpPr>
        <p:spPr>
          <a:xfrm>
            <a:off x="635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550E-4F50-AA42-AB77-C90C46B1EDEE}"/>
              </a:ext>
            </a:extLst>
          </p:cNvPr>
          <p:cNvSpPr txBox="1"/>
          <p:nvPr/>
        </p:nvSpPr>
        <p:spPr>
          <a:xfrm>
            <a:off x="939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What goes here</a:t>
            </a:r>
          </a:p>
          <a:p>
            <a:pPr algn="l"/>
            <a:r>
              <a:rPr lang="en-US" sz="1100">
                <a:solidFill>
                  <a:srgbClr val="666666"/>
                </a:solidFill>
                <a:latin typeface="Consolas"/>
                <a:cs typeface="Consolas"/>
              </a:rPr>
              <a:t>.claude/settings.json → hooks</a:t>
            </a:r>
          </a:p>
        </p:txBody>
      </p:sp>
      <p:sp>
        <p:nvSpPr>
          <p:cNvPr id="10" name="LeftBody">
            <a:extLst>
              <a:ext uri="{FF2B5EF4-FFF2-40B4-BE49-F238E27FC236}">
                <a16:creationId xmlns:a16="http://schemas.microsoft.com/office/drawing/2014/main" id="{D0BEFA95-CEEB-0F48-8E03-2125296A4B51}"/>
              </a:ext>
            </a:extLst>
          </p:cNvPr>
          <p:cNvSpPr txBox="1"/>
          <p:nvPr/>
        </p:nvSpPr>
        <p:spPr>
          <a:xfrm>
            <a:off x="9398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PreToolUse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gate before Claude runs a tool. Block destructive ops.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PostToolUse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run linter or formatter after every edit.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Stop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cleanup or audit log when a session ends.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7991-CCFE-D849-827F-461B1BC6237D}"/>
              </a:ext>
            </a:extLst>
          </p:cNvPr>
          <p:cNvSpPr/>
          <p:nvPr/>
        </p:nvSpPr>
        <p:spPr>
          <a:xfrm>
            <a:off x="6159500" y="2476500"/>
            <a:ext cx="53975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140B4-38CD-5947-95E2-E1BB4F4160AE}"/>
              </a:ext>
            </a:extLst>
          </p:cNvPr>
          <p:cNvSpPr/>
          <p:nvPr/>
        </p:nvSpPr>
        <p:spPr>
          <a:xfrm>
            <a:off x="61595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83182-E7B4-E849-A725-9865366182D2}"/>
              </a:ext>
            </a:extLst>
          </p:cNvPr>
          <p:cNvSpPr txBox="1"/>
          <p:nvPr/>
        </p:nvSpPr>
        <p:spPr>
          <a:xfrm>
            <a:off x="64643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Use sparingly</a:t>
            </a:r>
          </a:p>
        </p:txBody>
      </p:sp>
      <p:sp>
        <p:nvSpPr>
          <p:cNvPr id="14" name="RightBody">
            <a:extLst>
              <a:ext uri="{FF2B5EF4-FFF2-40B4-BE49-F238E27FC236}">
                <a16:creationId xmlns:a16="http://schemas.microsoft.com/office/drawing/2014/main" id="{975BA5C0-9232-AE46-AF54-DB127DD60A7B}"/>
              </a:ext>
            </a:extLst>
          </p:cNvPr>
          <p:cNvSpPr txBox="1"/>
          <p:nvPr/>
        </p:nvSpPr>
        <p:spPr>
          <a:xfrm>
            <a:off x="6464300" y="3175000"/>
            <a:ext cx="48260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Hooks run on every event. A slow hook makes Claude feel slow.
Good for safety nets — lint, format, “don’t run that.” Bad for heavy work; that belongs in CI.
Debug them with verbose logs. A silently-failing hook looks like Claude misbehaving.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D1784-B95A-6B41-9AAB-A74AC4674B3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F081F-3218-BC40-89F7-9EAF8C2164E5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Hooks are safety nets, not workhorses. Heavy work belongs in CI.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73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03CD24-56BF-A248-8020-C2E4C27B0346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MCP GOTCHAS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63FE2-BC70-2048-855F-B0BA5FD96355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3600" b="1" dirty="0">
                <a:solidFill>
                  <a:srgbClr val="1A1A2E"/>
                </a:solidFill>
                <a:latin typeface="Open Sans"/>
              </a:rPr>
              <a:t>What quietly breaks MCP setups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7EFC1-5EC2-5249-9937-3ACB43D4C304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dirty="0">
                <a:solidFill>
                  <a:srgbClr val="1A1A2E"/>
                </a:solidFill>
                <a:latin typeface="Open Sans"/>
              </a:rPr>
              <a:t>Check these three things before you start debugging the server itself.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86C298-3C81-A84E-8291-B90291CAE48E}"/>
              </a:ext>
            </a:extLst>
          </p:cNvPr>
          <p:cNvSpPr/>
          <p:nvPr/>
        </p:nvSpPr>
        <p:spPr>
          <a:xfrm>
            <a:off x="635000" y="2476500"/>
            <a:ext cx="3429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77980-5E6E-524F-A9AE-951988A57B3D}"/>
              </a:ext>
            </a:extLst>
          </p:cNvPr>
          <p:cNvSpPr/>
          <p:nvPr/>
        </p:nvSpPr>
        <p:spPr>
          <a:xfrm>
            <a:off x="635000" y="2476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E5D3D-D523-EB46-9D0E-BECC95626DB8}"/>
              </a:ext>
            </a:extLst>
          </p:cNvPr>
          <p:cNvSpPr txBox="1"/>
          <p:nvPr/>
        </p:nvSpPr>
        <p:spPr>
          <a:xfrm>
            <a:off x="8382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THE APPROVAL PROMPT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BD8BD2-5B7B-B74A-AEF1-EF497C5FFD02}"/>
              </a:ext>
            </a:extLst>
          </p:cNvPr>
          <p:cNvSpPr txBox="1"/>
          <p:nvPr/>
        </p:nvSpPr>
        <p:spPr>
          <a:xfrm>
            <a:off x="838200" y="29718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 b="1" dirty="0">
                <a:solidFill>
                  <a:srgbClr val="241452"/>
                </a:solidFill>
                <a:latin typeface="Open Sans"/>
              </a:rPr>
              <a:t>Auto-approve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A3D9B-917D-A94C-84D9-C6483E23C79D}"/>
              </a:ext>
            </a:extLst>
          </p:cNvPr>
          <p:cNvSpPr txBox="1"/>
          <p:nvPr/>
        </p:nvSpPr>
        <p:spPr>
          <a:xfrm>
            <a:off x="838200" y="36830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.claude/settings.json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Project MCPs don't auto-load — each dev gets a one-time prompt. Skip it with: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"enableAllProjectMcpServers": true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007891-8A3B-8843-9498-F9FB60AD997B}"/>
              </a:ext>
            </a:extLst>
          </p:cNvPr>
          <p:cNvSpPr/>
          <p:nvPr/>
        </p:nvSpPr>
        <p:spPr>
          <a:xfrm>
            <a:off x="4381500" y="2476500"/>
            <a:ext cx="3429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CAF1D0-A1CD-FB40-A978-11AF668ADEDE}"/>
              </a:ext>
            </a:extLst>
          </p:cNvPr>
          <p:cNvSpPr/>
          <p:nvPr/>
        </p:nvSpPr>
        <p:spPr>
          <a:xfrm>
            <a:off x="4381500" y="2476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AB59E-1561-9540-9921-7C91A3897E8B}"/>
              </a:ext>
            </a:extLst>
          </p:cNvPr>
          <p:cNvSpPr txBox="1"/>
          <p:nvPr/>
        </p:nvSpPr>
        <p:spPr>
          <a:xfrm>
            <a:off x="45847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THE BLAST RADIUS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6F318-42FD-5440-8D40-646F50AA20CA}"/>
              </a:ext>
            </a:extLst>
          </p:cNvPr>
          <p:cNvSpPr txBox="1"/>
          <p:nvPr/>
        </p:nvSpPr>
        <p:spPr>
          <a:xfrm>
            <a:off x="4584700" y="29718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 b="1" dirty="0">
                <a:solidFill>
                  <a:srgbClr val="241452"/>
                </a:solidFill>
                <a:latin typeface="Open Sans"/>
              </a:rPr>
              <a:t>Whitelist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F044D-D02A-6E47-B607-B43CDFD93CC3}"/>
              </a:ext>
            </a:extLst>
          </p:cNvPr>
          <p:cNvSpPr txBox="1"/>
          <p:nvPr/>
        </p:nvSpPr>
        <p:spPr>
          <a:xfrm>
            <a:off x="4584700" y="36830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.claude/settings.json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Trust some servers, not others: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"enabledMcpjsonServers":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  ["github", "sentry"]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Only those load without prompting.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186E8E8-F4DE-284C-8D33-432F0E4377EF}"/>
              </a:ext>
            </a:extLst>
          </p:cNvPr>
          <p:cNvSpPr/>
          <p:nvPr/>
        </p:nvSpPr>
        <p:spPr>
          <a:xfrm>
            <a:off x="8128000" y="2476500"/>
            <a:ext cx="3429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30C712-E94E-5241-AA43-15D373536542}"/>
              </a:ext>
            </a:extLst>
          </p:cNvPr>
          <p:cNvSpPr/>
          <p:nvPr/>
        </p:nvSpPr>
        <p:spPr>
          <a:xfrm>
            <a:off x="8128000" y="2476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E20BB-95E3-8F46-86C9-A08A1F6FF7E6}"/>
              </a:ext>
            </a:extLst>
          </p:cNvPr>
          <p:cNvSpPr txBox="1"/>
          <p:nvPr/>
        </p:nvSpPr>
        <p:spPr>
          <a:xfrm>
            <a:off x="83312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THE SECRETS PROBLEM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8BB2D-35C0-5B4C-BFB9-D709155A1F4B}"/>
              </a:ext>
            </a:extLst>
          </p:cNvPr>
          <p:cNvSpPr txBox="1"/>
          <p:nvPr/>
        </p:nvSpPr>
        <p:spPr>
          <a:xfrm>
            <a:off x="8331200" y="29718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 b="1" dirty="0">
                <a:solidFill>
                  <a:srgbClr val="241452"/>
                </a:solidFill>
                <a:latin typeface="Open Sans"/>
              </a:rPr>
              <a:t>Env vars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61EEB9-E575-5B45-8943-445A86349A5D}"/>
              </a:ext>
            </a:extLst>
          </p:cNvPr>
          <p:cNvSpPr txBox="1"/>
          <p:nvPr/>
        </p:nvSpPr>
        <p:spPr>
          <a:xfrm>
            <a:off x="8331200" y="36830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.env, vault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.mcp.json is committed. Reference secrets in the server's </a:t>
            </a:r>
            <a:r>
              <a:rPr lang="en-US" sz="1400" dirty="0">
                <a:solidFill>
                  <a:srgbClr val="2D2D2D"/>
                </a:solidFill>
                <a:latin typeface="Consolas"/>
              </a:rPr>
              <a:t>env</a:t>
            </a:r>
            <a:r>
              <a:rPr lang="en-US" sz="1400" dirty="0">
                <a:solidFill>
                  <a:srgbClr val="2D2D2D"/>
                </a:solidFill>
                <a:latin typeface="Open Sans"/>
              </a:rPr>
              <a:t> block: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${DB_PASSWORD}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Keep the value out of the repo.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507EC4-3B59-774B-8CAF-D4CA78E06A08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C6B5A1-4C5C-C445-B662-F0D9B0AB07CF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 dirty="0">
                <a:solidFill>
                  <a:srgbClr val="666666"/>
                </a:solidFill>
                <a:latin typeface="Open Sans"/>
              </a:rPr>
              <a:t>If a teammate runs claude and the MCP "isn't there," check settings.json before debugging the server.</a:t>
            </a:r>
          </a:p>
        </p:txBody>
      </p:sp>
      <p:pic>
        <p:nvPicPr>
          <p:cNvPr id="34" name="Copied Picture 34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83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03CD24-56BF-A248-8020-C2E4C27B0346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EXTERNAL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63FE2-BC70-2048-855F-B0BA5FD96355}"/>
              </a:ext>
            </a:extLst>
          </p:cNvPr>
          <p:cNvSpPr txBox="1"/>
          <p:nvPr/>
        </p:nvSpPr>
        <p:spPr>
          <a:xfrm>
            <a:off x="635000" y="889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3600" b="1" dirty="0">
                <a:solidFill>
                  <a:srgbClr val="1A1A2E"/>
                </a:solidFill>
                <a:latin typeface="Open Sans"/>
              </a:rPr>
              <a:t>MCPs are project config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7EFC1-5EC2-5249-9937-3ACB43D4C304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dirty="0">
                <a:solidFill>
                  <a:srgbClr val="1A1A2E"/>
                </a:solidFill>
                <a:latin typeface="Open Sans"/>
              </a:rPr>
              <a:t>Three scopes, two files. The codebase commits the servers; your home directory holds your private ones.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86C298-3C81-A84E-8291-B90291CAE48E}"/>
              </a:ext>
            </a:extLst>
          </p:cNvPr>
          <p:cNvSpPr/>
          <p:nvPr/>
        </p:nvSpPr>
        <p:spPr>
          <a:xfrm>
            <a:off x="635000" y="2476500"/>
            <a:ext cx="3429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77980-5E6E-524F-A9AE-951988A57B3D}"/>
              </a:ext>
            </a:extLst>
          </p:cNvPr>
          <p:cNvSpPr/>
          <p:nvPr/>
        </p:nvSpPr>
        <p:spPr>
          <a:xfrm>
            <a:off x="635000" y="2476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E5D3D-D523-EB46-9D0E-BECC95626DB8}"/>
              </a:ext>
            </a:extLst>
          </p:cNvPr>
          <p:cNvSpPr txBox="1"/>
          <p:nvPr/>
        </p:nvSpPr>
        <p:spPr>
          <a:xfrm>
            <a:off x="8382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TEAM-SHARED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BD8BD2-5B7B-B74A-AEF1-EF497C5FFD02}"/>
              </a:ext>
            </a:extLst>
          </p:cNvPr>
          <p:cNvSpPr txBox="1"/>
          <p:nvPr/>
        </p:nvSpPr>
        <p:spPr>
          <a:xfrm>
            <a:off x="838200" y="29718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 b="1" dirty="0">
                <a:solidFill>
                  <a:srgbClr val="241452"/>
                </a:solidFill>
                <a:latin typeface="Open Sans"/>
              </a:rPr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A3D9B-917D-A94C-84D9-C6483E23C79D}"/>
              </a:ext>
            </a:extLst>
          </p:cNvPr>
          <p:cNvSpPr txBox="1"/>
          <p:nvPr/>
        </p:nvSpPr>
        <p:spPr>
          <a:xfrm>
            <a:off x="838200" y="36830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./.mcp.json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Committed to the repo. Run:</a:t>
            </a:r>
          </a:p>
          <a:p>
            <a:r>
              <a:rPr lang="en-US" sz="1100" dirty="0">
                <a:solidFill>
                  <a:srgbClr val="2D2D2D"/>
                </a:solidFill>
                <a:latin typeface="Consolas"/>
              </a:rPr>
              <a:t>claude mcp add --scope project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Claude writes the JSON for you.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007891-8A3B-8843-9498-F9FB60AD997B}"/>
              </a:ext>
            </a:extLst>
          </p:cNvPr>
          <p:cNvSpPr/>
          <p:nvPr/>
        </p:nvSpPr>
        <p:spPr>
          <a:xfrm>
            <a:off x="4381500" y="2476500"/>
            <a:ext cx="3429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CAF1D0-A1CD-FB40-A978-11AF668ADEDE}"/>
              </a:ext>
            </a:extLst>
          </p:cNvPr>
          <p:cNvSpPr/>
          <p:nvPr/>
        </p:nvSpPr>
        <p:spPr>
          <a:xfrm>
            <a:off x="4381500" y="2476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AB59E-1561-9540-9921-7C91A3897E8B}"/>
              </a:ext>
            </a:extLst>
          </p:cNvPr>
          <p:cNvSpPr txBox="1"/>
          <p:nvPr/>
        </p:nvSpPr>
        <p:spPr>
          <a:xfrm>
            <a:off x="45847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PERSONAL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6F318-42FD-5440-8D40-646F50AA20CA}"/>
              </a:ext>
            </a:extLst>
          </p:cNvPr>
          <p:cNvSpPr txBox="1"/>
          <p:nvPr/>
        </p:nvSpPr>
        <p:spPr>
          <a:xfrm>
            <a:off x="4584700" y="29718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000" b="1" dirty="0">
                <a:solidFill>
                  <a:srgbClr val="241452"/>
                </a:solidFill>
                <a:latin typeface="Open Sans"/>
              </a:rPr>
              <a:t>Local &amp; user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F044D-D02A-6E47-B607-B43CDFD93CC3}"/>
              </a:ext>
            </a:extLst>
          </p:cNvPr>
          <p:cNvSpPr txBox="1"/>
          <p:nvPr/>
        </p:nvSpPr>
        <p:spPr>
          <a:xfrm>
            <a:off x="4584700" y="36830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666666"/>
                </a:solidFill>
                <a:latin typeface="Consolas"/>
              </a:rPr>
              <a:t>~/.claude.json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b="1" dirty="0">
                <a:solidFill>
                  <a:srgbClr val="2D2D2D"/>
                </a:solidFill>
                <a:latin typeface="Open Sans"/>
              </a:rPr>
              <a:t>Local </a:t>
            </a:r>
            <a:r>
              <a:rPr lang="en-US" sz="1400" dirty="0">
                <a:solidFill>
                  <a:srgbClr val="2D2D2D"/>
                </a:solidFill>
                <a:latin typeface="Open Sans"/>
              </a:rPr>
              <a:t>(default): scoped under the project's path. The default when you run </a:t>
            </a:r>
            <a:r>
              <a:rPr lang="en-US" sz="1400" dirty="0">
                <a:solidFill>
                  <a:srgbClr val="2D2D2D"/>
                </a:solidFill>
                <a:latin typeface="Consolas"/>
              </a:rPr>
              <a:t>claude mcp add</a:t>
            </a:r>
            <a:r>
              <a:rPr lang="en-US" sz="1400" dirty="0">
                <a:solidFill>
                  <a:srgbClr val="2D2D2D"/>
                </a:solidFill>
                <a:latin typeface="Open Sans"/>
              </a:rPr>
              <a:t>.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b="1" dirty="0">
                <a:solidFill>
                  <a:srgbClr val="2D2D2D"/>
                </a:solidFill>
                <a:latin typeface="Open Sans"/>
              </a:rPr>
              <a:t>User</a:t>
            </a:r>
            <a:r>
              <a:rPr lang="en-US" sz="1400" dirty="0">
                <a:solidFill>
                  <a:srgbClr val="2D2D2D"/>
                </a:solidFill>
                <a:latin typeface="Open Sans"/>
              </a:rPr>
              <a:t>: across all your projects. Neither is committed.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186E8E8-F4DE-284C-8D33-432F0E4377EF}"/>
              </a:ext>
            </a:extLst>
          </p:cNvPr>
          <p:cNvSpPr/>
          <p:nvPr/>
        </p:nvSpPr>
        <p:spPr>
          <a:xfrm>
            <a:off x="8128000" y="2476500"/>
            <a:ext cx="3429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30C712-E94E-5241-AA43-15D373536542}"/>
              </a:ext>
            </a:extLst>
          </p:cNvPr>
          <p:cNvSpPr/>
          <p:nvPr/>
        </p:nvSpPr>
        <p:spPr>
          <a:xfrm>
            <a:off x="8128000" y="2476500"/>
            <a:ext cx="3429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E20BB-95E3-8F46-86C9-A08A1F6FF7E6}"/>
              </a:ext>
            </a:extLst>
          </p:cNvPr>
          <p:cNvSpPr txBox="1"/>
          <p:nvPr/>
        </p:nvSpPr>
        <p:spPr>
          <a:xfrm>
            <a:off x="83312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000" b="1" dirty="0">
                <a:solidFill>
                  <a:srgbClr val="241452"/>
                </a:solidFill>
                <a:latin typeface="Open Sans"/>
              </a:rPr>
              <a:t>PRECEDENCE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8BB2D-35C0-5B4C-BFB9-D709155A1F4B}"/>
              </a:ext>
            </a:extLst>
          </p:cNvPr>
          <p:cNvSpPr txBox="1"/>
          <p:nvPr/>
        </p:nvSpPr>
        <p:spPr>
          <a:xfrm>
            <a:off x="8331200" y="29718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b="1" dirty="0">
                <a:solidFill>
                  <a:srgbClr val="241452"/>
                </a:solidFill>
                <a:latin typeface="Consolas"/>
              </a:rPr>
              <a:t>local &gt; project &gt; user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61EEB9-E575-5B45-8943-445A86349A5D}"/>
              </a:ext>
            </a:extLst>
          </p:cNvPr>
          <p:cNvSpPr txBox="1"/>
          <p:nvPr/>
        </p:nvSpPr>
        <p:spPr>
          <a:xfrm>
            <a:off x="8331200" y="36830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Same server name in two scopes? Local wins.</a:t>
            </a:r>
          </a:p>
          <a:p>
            <a:r>
              <a:rPr lang="en-US" sz="800" dirty="0">
                <a:solidFill>
                  <a:srgbClr val="2D2D2D"/>
                </a:solidFill>
                <a:latin typeface="Open Sans"/>
              </a:rPr>
              <a:t> </a:t>
            </a:r>
          </a:p>
          <a:p>
            <a:r>
              <a:rPr lang="en-US" sz="1400" dirty="0">
                <a:solidFill>
                  <a:srgbClr val="2D2D2D"/>
                </a:solidFill>
                <a:latin typeface="Open Sans"/>
              </a:rPr>
              <a:t>Pattern: team commits the server in </a:t>
            </a:r>
            <a:r>
              <a:rPr lang="en-US" sz="1400" dirty="0">
                <a:solidFill>
                  <a:srgbClr val="2D2D2D"/>
                </a:solidFill>
                <a:latin typeface="Consolas"/>
              </a:rPr>
              <a:t>.mcp.json</a:t>
            </a:r>
            <a:r>
              <a:rPr lang="en-US" sz="1400" dirty="0">
                <a:solidFill>
                  <a:srgbClr val="2D2D2D"/>
                </a:solidFill>
                <a:latin typeface="Open Sans"/>
              </a:rPr>
              <a:t>; each dev overrides locally with their own credentials.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507EC4-3B59-774B-8CAF-D4CA78E06A08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C6B5A1-4C5C-C445-B662-F0D9B0AB07CF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 dirty="0">
                <a:solidFill>
                  <a:srgbClr val="666666"/>
                </a:solidFill>
                <a:latin typeface="Open Sans"/>
              </a:rPr>
              <a:t>Server definitions are project config. Credentials stay in env vars or local scope.</a:t>
            </a:r>
          </a:p>
        </p:txBody>
      </p:sp>
      <p:pic>
        <p:nvPicPr>
          <p:cNvPr id="34" name="Copied Picture 34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70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0BF8C3-D114-F74A-90B4-984F10C33631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THREE PLACES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E947D-9E27-7647-B49C-CC4BAEDB558B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Three places context can go — pick the right one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3CCAFB-C54A-384D-8BB2-2E6420E25CB0}"/>
              </a:ext>
            </a:extLst>
          </p:cNvPr>
          <p:cNvSpPr/>
          <p:nvPr/>
        </p:nvSpPr>
        <p:spPr>
          <a:xfrm>
            <a:off x="635000" y="1841500"/>
            <a:ext cx="3556000" cy="3746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4EEB91-2274-E346-BE33-1B33163E624C}"/>
              </a:ext>
            </a:extLst>
          </p:cNvPr>
          <p:cNvSpPr/>
          <p:nvPr/>
        </p:nvSpPr>
        <p:spPr>
          <a:xfrm>
            <a:off x="635000" y="1841500"/>
            <a:ext cx="3556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97A07-C0B1-EC47-8469-B241FBB0C338}"/>
              </a:ext>
            </a:extLst>
          </p:cNvPr>
          <p:cNvSpPr txBox="1"/>
          <p:nvPr/>
        </p:nvSpPr>
        <p:spPr>
          <a:xfrm>
            <a:off x="889000" y="20574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PERSISTENT + REUSABLE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6365C-DA2D-184D-AEB8-B44406F18D88}"/>
              </a:ext>
            </a:extLst>
          </p:cNvPr>
          <p:cNvSpPr txBox="1"/>
          <p:nvPr/>
        </p:nvSpPr>
        <p:spPr>
          <a:xfrm>
            <a:off x="889000" y="23495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In a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7F3FF-08FD-8A4E-A403-2EB6E27C130E}"/>
              </a:ext>
            </a:extLst>
          </p:cNvPr>
          <p:cNvSpPr txBox="1"/>
          <p:nvPr/>
        </p:nvSpPr>
        <p:spPr>
          <a:xfrm>
            <a:off x="889000" y="2819400"/>
            <a:ext cx="304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Lives in CLAUDE.md or .claude/. Loaded automatically or on demand.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9699E5-FA92-EA4F-8B82-3AE9B79186FF}"/>
              </a:ext>
            </a:extLst>
          </p:cNvPr>
          <p:cNvSpPr txBox="1"/>
          <p:nvPr/>
        </p:nvSpPr>
        <p:spPr>
          <a:xfrm>
            <a:off x="889000" y="4064000"/>
            <a:ext cx="304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Examples:
• Coding conventions
• Architecture notes
• Review checklist
• Prompt templates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33AC4A-DFE4-6149-B06B-C3FC87A78689}"/>
              </a:ext>
            </a:extLst>
          </p:cNvPr>
          <p:cNvSpPr/>
          <p:nvPr/>
        </p:nvSpPr>
        <p:spPr>
          <a:xfrm>
            <a:off x="4318000" y="1841500"/>
            <a:ext cx="3556000" cy="3746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F0553C-F387-0144-AF60-DFD2203E0B8B}"/>
              </a:ext>
            </a:extLst>
          </p:cNvPr>
          <p:cNvSpPr/>
          <p:nvPr/>
        </p:nvSpPr>
        <p:spPr>
          <a:xfrm>
            <a:off x="4318000" y="1841500"/>
            <a:ext cx="3556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B6D35-A022-BB46-BA98-3842E8869B21}"/>
              </a:ext>
            </a:extLst>
          </p:cNvPr>
          <p:cNvSpPr txBox="1"/>
          <p:nvPr/>
        </p:nvSpPr>
        <p:spPr>
          <a:xfrm>
            <a:off x="4572000" y="20574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TASK-SPECIFIC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1D41BD-DA17-9349-B9BB-631FFFD60148}"/>
              </a:ext>
            </a:extLst>
          </p:cNvPr>
          <p:cNvSpPr txBox="1"/>
          <p:nvPr/>
        </p:nvSpPr>
        <p:spPr>
          <a:xfrm>
            <a:off x="4572000" y="23495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In the prompt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C396-458C-7E43-AD07-1818230D9C0A}"/>
              </a:ext>
            </a:extLst>
          </p:cNvPr>
          <p:cNvSpPr txBox="1"/>
          <p:nvPr/>
        </p:nvSpPr>
        <p:spPr>
          <a:xfrm>
            <a:off x="4572000" y="2819400"/>
            <a:ext cx="304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Goes in the message you're typing right now. Short, specific, scoped to this task.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78BA8B-47EA-E547-BCC2-00E99DC2A66C}"/>
              </a:ext>
            </a:extLst>
          </p:cNvPr>
          <p:cNvSpPr txBox="1"/>
          <p:nvPr/>
        </p:nvSpPr>
        <p:spPr>
          <a:xfrm>
            <a:off x="4572000" y="4064000"/>
            <a:ext cx="304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Examples:
• "Add retry logic here"
• "Write tests for this function"
• "Refactor this module"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6656697-9F47-C641-B1A8-3D74B9EA883A}"/>
              </a:ext>
            </a:extLst>
          </p:cNvPr>
          <p:cNvSpPr/>
          <p:nvPr/>
        </p:nvSpPr>
        <p:spPr>
          <a:xfrm>
            <a:off x="8001000" y="1841500"/>
            <a:ext cx="3556000" cy="3746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FC3036-D87C-3046-92EA-3F47F1A432D2}"/>
              </a:ext>
            </a:extLst>
          </p:cNvPr>
          <p:cNvSpPr/>
          <p:nvPr/>
        </p:nvSpPr>
        <p:spPr>
          <a:xfrm>
            <a:off x="8001000" y="1841500"/>
            <a:ext cx="3556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2A808-363A-8A49-8815-FEF8C832560E}"/>
              </a:ext>
            </a:extLst>
          </p:cNvPr>
          <p:cNvSpPr txBox="1"/>
          <p:nvPr/>
        </p:nvSpPr>
        <p:spPr>
          <a:xfrm>
            <a:off x="8255000" y="20574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LARGE OR EXTERNAL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F6E03-13E5-7749-8155-C207C07FCE24}"/>
              </a:ext>
            </a:extLst>
          </p:cNvPr>
          <p:cNvSpPr txBox="1"/>
          <p:nvPr/>
        </p:nvSpPr>
        <p:spPr>
          <a:xfrm>
            <a:off x="8255000" y="23495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By reference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24B746-AB39-2848-9FE0-571A2745C80E}"/>
              </a:ext>
            </a:extLst>
          </p:cNvPr>
          <p:cNvSpPr txBox="1"/>
          <p:nvPr/>
        </p:nvSpPr>
        <p:spPr>
          <a:xfrm>
            <a:off x="8255000" y="2819400"/>
            <a:ext cx="304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Don't paste it. Point to a file or MCP source so Claude pulls only what's needed.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F41A6A-1533-3746-96A6-A7E23773E346}"/>
              </a:ext>
            </a:extLst>
          </p:cNvPr>
          <p:cNvSpPr txBox="1"/>
          <p:nvPr/>
        </p:nvSpPr>
        <p:spPr>
          <a:xfrm>
            <a:off x="8255000" y="4064000"/>
            <a:ext cx="304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Examples:
• Full schemas → @file path
• Docs → MCP / web fetch
• Notion pages → MCP
• 10k-row CSVs → tool call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DF2FC-A53A-4248-A409-308938EBE8BE}"/>
              </a:ext>
            </a:extLst>
          </p:cNvPr>
          <p:cNvSpPr/>
          <p:nvPr/>
        </p:nvSpPr>
        <p:spPr>
          <a:xfrm>
            <a:off x="635000" y="5930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E70DDF-9E7E-C74B-A6ED-3666E46B4629}"/>
              </a:ext>
            </a:extLst>
          </p:cNvPr>
          <p:cNvSpPr txBox="1"/>
          <p:nvPr/>
        </p:nvSpPr>
        <p:spPr>
          <a:xfrm>
            <a:off x="635000" y="6070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Pasting big context into prompts is a smell — the answer is almost always a file or a reference.</a:t>
            </a:r>
          </a:p>
        </p:txBody>
      </p:sp>
      <p:pic>
        <p:nvPicPr>
          <p:cNvPr id="26" name="Copied Picture 26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B39866-659D-424A-8B42-B5795739ECB8}"/>
              </a:ext>
            </a:extLst>
          </p:cNvPr>
          <p:cNvSpPr txBox="1"/>
          <p:nvPr/>
        </p:nvSpPr>
        <p:spPr>
          <a:xfrm>
            <a:off x="635000" y="15494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A5A6E"/>
                </a:solidFill>
                <a:latin typeface="Open Sans"/>
                <a:ea typeface="Open Sans"/>
                <a:cs typeface="Open Sans"/>
              </a:rPr>
              <a:t>Reminder: context = everything Claude knows before you type. Some lives in files, some in the prompt, some behind tools Claude can call.</a:t>
            </a:r>
          </a:p>
        </p:txBody>
      </p:sp>
    </p:spTree>
    <p:extLst>
      <p:ext uri="{BB962C8B-B14F-4D97-AF65-F5344CB8AC3E}">
        <p14:creationId xmlns:p14="http://schemas.microsoft.com/office/powerpoint/2010/main" val="4190694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686033-DAA0-F744-9769-B4400F960F1D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MCPs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9FF69-33AC-454A-9804-D188C8C13290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MCP is the default for external tools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7C08B4-BA02-3448-AD4C-3051CF7EA4DD}"/>
              </a:ext>
            </a:extLst>
          </p:cNvPr>
          <p:cNvSpPr/>
          <p:nvPr/>
        </p:nvSpPr>
        <p:spPr>
          <a:xfrm>
            <a:off x="635000" y="2476500"/>
            <a:ext cx="3556000" cy="3619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8864AC-DB8A-5F4E-8338-488DE552F109}"/>
              </a:ext>
            </a:extLst>
          </p:cNvPr>
          <p:cNvSpPr/>
          <p:nvPr/>
        </p:nvSpPr>
        <p:spPr>
          <a:xfrm>
            <a:off x="635000" y="2730500"/>
            <a:ext cx="50800" cy="3111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802CE-A049-5B47-9CAC-CCCF72716702}"/>
              </a:ext>
            </a:extLst>
          </p:cNvPr>
          <p:cNvSpPr txBox="1"/>
          <p:nvPr/>
        </p:nvSpPr>
        <p:spPr>
          <a:xfrm>
            <a:off x="9398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RULE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42FE2-B6E2-E449-BC4A-DC6E032520E6}"/>
              </a:ext>
            </a:extLst>
          </p:cNvPr>
          <p:cNvSpPr txBox="1"/>
          <p:nvPr/>
        </p:nvSpPr>
        <p:spPr>
          <a:xfrm>
            <a:off x="939800" y="2946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MCP is the default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D73EC-3761-9249-85F8-0F8BD7816032}"/>
              </a:ext>
            </a:extLst>
          </p:cNvPr>
          <p:cNvSpPr txBox="1"/>
          <p:nvPr/>
        </p:nvSpPr>
        <p:spPr>
          <a:xfrm>
            <a:off x="939800" y="3429000"/>
            <a:ext cx="3048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If two devs would benefit, write the MCP.
If a vendor ships one (GitHub, Notion, Slack, Linear), use it.
Skip MCP only when: it doesn’t exist yet, you’re doing one-shot dev inspection, or it’s a public API with no auth.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82853A-7B70-C048-96B4-E8A0AA9CC8E4}"/>
              </a:ext>
            </a:extLst>
          </p:cNvPr>
          <p:cNvSpPr/>
          <p:nvPr/>
        </p:nvSpPr>
        <p:spPr>
          <a:xfrm>
            <a:off x="4318000" y="2476500"/>
            <a:ext cx="3556000" cy="3619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B983E2-48F4-8B45-A68F-48B268B3F4F7}"/>
              </a:ext>
            </a:extLst>
          </p:cNvPr>
          <p:cNvSpPr/>
          <p:nvPr/>
        </p:nvSpPr>
        <p:spPr>
          <a:xfrm>
            <a:off x="4318000" y="2730500"/>
            <a:ext cx="50800" cy="3111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60E4D9-2EFD-3A40-9DAA-A8B7A44FB931}"/>
              </a:ext>
            </a:extLst>
          </p:cNvPr>
          <p:cNvSpPr txBox="1"/>
          <p:nvPr/>
        </p:nvSpPr>
        <p:spPr>
          <a:xfrm>
            <a:off x="46228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WHY MCP WINS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AA746-97D2-904D-8E5F-0D0FA845139E}"/>
              </a:ext>
            </a:extLst>
          </p:cNvPr>
          <p:cNvSpPr txBox="1"/>
          <p:nvPr/>
        </p:nvSpPr>
        <p:spPr>
          <a:xfrm>
            <a:off x="4622800" y="2946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Four reasons it stacks 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3DEC60-545E-F548-A42D-CC247220E1D6}"/>
              </a:ext>
            </a:extLst>
          </p:cNvPr>
          <p:cNvSpPr txBox="1"/>
          <p:nvPr/>
        </p:nvSpPr>
        <p:spPr>
          <a:xfrm>
            <a:off x="4622800" y="3429000"/>
            <a:ext cx="3048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Auth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solved once — secrets never enter the prompt.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Schema-aware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Claude doesn’t guess the API.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Auditable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tool list is visible; raw curl isn’t.
</a:t>
            </a:r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Shared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every teammate gets it on git clone.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73CF3-9CC4-4C40-B534-37155E40910E}"/>
              </a:ext>
            </a:extLst>
          </p:cNvPr>
          <p:cNvSpPr/>
          <p:nvPr/>
        </p:nvSpPr>
        <p:spPr>
          <a:xfrm>
            <a:off x="635000" y="63500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B8000E-F889-6E4D-B877-08E0026938EE}"/>
              </a:ext>
            </a:extLst>
          </p:cNvPr>
          <p:cNvSpPr txBox="1"/>
          <p:nvPr/>
        </p:nvSpPr>
        <p:spPr>
          <a:xfrm>
            <a:off x="635000" y="64897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Raw HTTP is the exception. If you find yourself reaching for it twice, that’s a missing MCP.</a:t>
            </a:r>
          </a:p>
        </p:txBody>
      </p:sp>
      <p:sp>
        <p:nvSpPr>
          <p:cNvPr id="19" name="CardC_BG">
            <a:extLst>
              <a:ext uri="{FF2B5EF4-FFF2-40B4-BE49-F238E27FC236}">
                <a16:creationId xmlns:a16="http://schemas.microsoft.com/office/drawing/2014/main" id="{6FC5E65B-1ACB-D847-9367-7767E3F3515A}"/>
              </a:ext>
            </a:extLst>
          </p:cNvPr>
          <p:cNvSpPr/>
          <p:nvPr/>
        </p:nvSpPr>
        <p:spPr>
          <a:xfrm>
            <a:off x="8001000" y="2476500"/>
            <a:ext cx="3556000" cy="3619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CardC_Bar">
            <a:extLst>
              <a:ext uri="{FF2B5EF4-FFF2-40B4-BE49-F238E27FC236}">
                <a16:creationId xmlns:a16="http://schemas.microsoft.com/office/drawing/2014/main" id="{4869C3E6-9956-954E-96C5-0C2FFE5B7F57}"/>
              </a:ext>
            </a:extLst>
          </p:cNvPr>
          <p:cNvSpPr/>
          <p:nvPr/>
        </p:nvSpPr>
        <p:spPr>
          <a:xfrm>
            <a:off x="8001000" y="2730500"/>
            <a:ext cx="50800" cy="3111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CardC_Tag">
            <a:extLst>
              <a:ext uri="{FF2B5EF4-FFF2-40B4-BE49-F238E27FC236}">
                <a16:creationId xmlns:a16="http://schemas.microsoft.com/office/drawing/2014/main" id="{57BF8CF5-A4D5-6B4F-9644-0F99028D9B74}"/>
              </a:ext>
            </a:extLst>
          </p:cNvPr>
          <p:cNvSpPr txBox="1"/>
          <p:nvPr/>
        </p:nvSpPr>
        <p:spPr>
          <a:xfrm>
            <a:off x="83058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WHERE WE ARE</a:t>
            </a:r>
          </a:p>
        </p:txBody>
      </p:sp>
      <p:sp>
        <p:nvSpPr>
          <p:cNvPr id="22" name="CardC_Head">
            <a:extLst>
              <a:ext uri="{FF2B5EF4-FFF2-40B4-BE49-F238E27FC236}">
                <a16:creationId xmlns:a16="http://schemas.microsoft.com/office/drawing/2014/main" id="{9A07378D-D2D0-5C42-8274-19DE770FAAD4}"/>
              </a:ext>
            </a:extLst>
          </p:cNvPr>
          <p:cNvSpPr txBox="1"/>
          <p:nvPr/>
        </p:nvSpPr>
        <p:spPr>
          <a:xfrm>
            <a:off x="8305800" y="2946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Building it out</a:t>
            </a:r>
          </a:p>
        </p:txBody>
      </p:sp>
      <p:sp>
        <p:nvSpPr>
          <p:cNvPr id="23" name="CardC_Body">
            <a:extLst>
              <a:ext uri="{FF2B5EF4-FFF2-40B4-BE49-F238E27FC236}">
                <a16:creationId xmlns:a16="http://schemas.microsoft.com/office/drawing/2014/main" id="{F9DB35C8-2B14-2D43-8241-0ED50E64CE91}"/>
              </a:ext>
            </a:extLst>
          </p:cNvPr>
          <p:cNvSpPr txBox="1"/>
          <p:nvPr/>
        </p:nvSpPr>
        <p:spPr>
          <a:xfrm>
            <a:off x="8305800" y="3429000"/>
            <a:ext cx="3048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Databases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Postgres, MySQL, SQL Server in scope.
</a:t>
            </a:r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Third-party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GitHub, Notion, Slack, </a:t>
            </a:r>
            <a:r>
              <a:rPr lang="en-US" sz="1400" dirty="0" err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Helpscout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rolling in.
</a:t>
            </a:r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Internal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staging, webhooks, ops services as we need them.
Converging on </a:t>
            </a:r>
            <a:r>
              <a:rPr lang="en-US" sz="1400" dirty="0">
                <a:solidFill>
                  <a:srgbClr val="2D2D2D"/>
                </a:solidFill>
                <a:latin typeface="Consolas"/>
                <a:cs typeface="Consolas"/>
              </a:rPr>
              <a:t>./.</a:t>
            </a:r>
            <a:r>
              <a:rPr lang="en-US" sz="1400" dirty="0" err="1">
                <a:solidFill>
                  <a:srgbClr val="2D2D2D"/>
                </a:solidFill>
                <a:latin typeface="Consolas"/>
                <a:cs typeface="Consolas"/>
              </a:rPr>
              <a:t>mcp.json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as the home.</a:t>
            </a:r>
          </a:p>
        </p:txBody>
      </p:sp>
      <p:pic>
        <p:nvPicPr>
          <p:cNvPr id="24" name="Copied Picture 24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FFE804-1649-624B-9B51-6A1907643D35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ARTIFACT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20F79-288C-AD44-AD6C-1732D66F74AE}"/>
              </a:ext>
            </a:extLst>
          </p:cNvPr>
          <p:cNvSpPr txBox="1"/>
          <p:nvPr/>
        </p:nvSpPr>
        <p:spPr>
          <a:xfrm>
            <a:off x="635000" y="889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 err="1">
                <a:solidFill>
                  <a:srgbClr val="1A1A2E"/>
                </a:solidFill>
                <a:latin typeface="Consolas"/>
                <a:cs typeface="Consolas"/>
              </a:rPr>
              <a:t>claude</a:t>
            </a:r>
            <a:r>
              <a:rPr lang="en-US" sz="3600" b="1" dirty="0">
                <a:solidFill>
                  <a:srgbClr val="1A1A2E"/>
                </a:solidFill>
                <a:latin typeface="Consolas"/>
                <a:cs typeface="Consolas"/>
              </a:rPr>
              <a:t>-standards repo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138A7-43FC-D746-8C5A-15E4D0F0C93A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One Git repo holding our base </a:t>
            </a:r>
            <a:r>
              <a:rPr lang="en-US" sz="1600" dirty="0" err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CLAUDE.md</a:t>
            </a:r>
            <a:r>
              <a:rPr lang="en-US" sz="1600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, .</a:t>
            </a:r>
            <a:r>
              <a:rPr lang="en-US" sz="1600" dirty="0" err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claude</a:t>
            </a:r>
            <a:r>
              <a:rPr lang="en-US" sz="1600" dirty="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/ defaults, and shared MCP config. Every project imports from it</a:t>
            </a:r>
            <a:r>
              <a:rPr lang="en-US" sz="1600" dirty="0">
                <a:solidFill>
                  <a:srgbClr val="1A1A2E"/>
                </a:solidFill>
                <a:ea typeface="Open Sans"/>
                <a:cs typeface="Open Sans"/>
              </a:rPr>
              <a:t>.      </a:t>
            </a:r>
            <a:r>
              <a:rPr lang="en-US" sz="1600" dirty="0">
                <a:solidFill>
                  <a:srgbClr val="1A1A2E"/>
                </a:solidFill>
                <a:ea typeface="Open Sans"/>
                <a:cs typeface="Open Sans"/>
                <a:hlinkClick r:id="rId2"/>
              </a:rPr>
              <a:t>https://github.com/standardco/claude-standards</a:t>
            </a:r>
            <a:r>
              <a:rPr lang="en-US" sz="1600" dirty="0">
                <a:solidFill>
                  <a:srgbClr val="1A1A2E"/>
                </a:solidFill>
                <a:ea typeface="Open Sans"/>
                <a:cs typeface="Open Sans"/>
              </a:rPr>
              <a:t> </a:t>
            </a:r>
            <a:endParaRPr lang="en-US" sz="1600" dirty="0">
              <a:solidFill>
                <a:srgbClr val="1A1A2E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DF2170-1F8A-0243-8EA4-504340BBA6F4}"/>
              </a:ext>
            </a:extLst>
          </p:cNvPr>
          <p:cNvSpPr/>
          <p:nvPr/>
        </p:nvSpPr>
        <p:spPr>
          <a:xfrm>
            <a:off x="635000" y="2476500"/>
            <a:ext cx="5207000" cy="3111500"/>
          </a:xfrm>
          <a:prstGeom prst="round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D077F-1A59-6849-9261-AC6C54B86FBA}"/>
              </a:ext>
            </a:extLst>
          </p:cNvPr>
          <p:cNvSpPr txBox="1"/>
          <p:nvPr/>
        </p:nvSpPr>
        <p:spPr>
          <a:xfrm>
            <a:off x="889000" y="2667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A89BC9"/>
                </a:solidFill>
                <a:latin typeface="Open Sans"/>
                <a:ea typeface="Open Sans"/>
                <a:cs typeface="Open Sans"/>
              </a:rPr>
              <a:t>REPO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7E1F0-231D-F247-B91F-46BB9D293F10}"/>
              </a:ext>
            </a:extLst>
          </p:cNvPr>
          <p:cNvSpPr txBox="1"/>
          <p:nvPr/>
        </p:nvSpPr>
        <p:spPr>
          <a:xfrm>
            <a:off x="889000" y="2946400"/>
            <a:ext cx="4826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 err="1">
                <a:solidFill>
                  <a:srgbClr val="E8E4F0"/>
                </a:solidFill>
                <a:latin typeface="Consolas"/>
                <a:cs typeface="Consolas"/>
              </a:rPr>
              <a:t>claude</a:t>
            </a:r>
            <a:r>
              <a:rPr lang="en-US" sz="1200" dirty="0">
                <a:solidFill>
                  <a:srgbClr val="E8E4F0"/>
                </a:solidFill>
                <a:latin typeface="Consolas"/>
                <a:cs typeface="Consolas"/>
              </a:rPr>
              <a:t>-standards/
├── </a:t>
            </a:r>
            <a:r>
              <a:rPr lang="en-US" sz="1200" dirty="0" err="1">
                <a:solidFill>
                  <a:srgbClr val="E8E4F0"/>
                </a:solidFill>
                <a:latin typeface="Consolas"/>
                <a:cs typeface="Consolas"/>
              </a:rPr>
              <a:t>CLAUDE.md</a:t>
            </a:r>
            <a:r>
              <a:rPr lang="en-US" sz="1200" dirty="0">
                <a:solidFill>
                  <a:srgbClr val="E8E4F0"/>
                </a:solidFill>
                <a:latin typeface="Consolas"/>
                <a:cs typeface="Consolas"/>
              </a:rPr>
              <a:t>            ← base conventions
├── .</a:t>
            </a:r>
            <a:r>
              <a:rPr lang="en-US" sz="1200" dirty="0" err="1">
                <a:solidFill>
                  <a:srgbClr val="E8E4F0"/>
                </a:solidFill>
                <a:latin typeface="Consolas"/>
                <a:cs typeface="Consolas"/>
              </a:rPr>
              <a:t>claude</a:t>
            </a:r>
            <a:r>
              <a:rPr lang="en-US" sz="1200" dirty="0">
                <a:solidFill>
                  <a:srgbClr val="E8E4F0"/>
                </a:solidFill>
                <a:latin typeface="Consolas"/>
                <a:cs typeface="Consolas"/>
              </a:rPr>
              <a:t>/
│   ├── prompts/         ← shared prompt library
│   ├── checklists/      ← review, security, release
│   └── examples/        ← good vs. bad outputs
├── </a:t>
            </a:r>
            <a:r>
              <a:rPr lang="en-US" sz="1200" dirty="0" err="1">
                <a:solidFill>
                  <a:srgbClr val="E8E4F0"/>
                </a:solidFill>
                <a:latin typeface="Consolas"/>
                <a:cs typeface="Consolas"/>
              </a:rPr>
              <a:t>mcp</a:t>
            </a:r>
            <a:r>
              <a:rPr lang="en-US" sz="1200" dirty="0">
                <a:solidFill>
                  <a:srgbClr val="E8E4F0"/>
                </a:solidFill>
                <a:latin typeface="Consolas"/>
                <a:cs typeface="Consolas"/>
              </a:rPr>
              <a:t>/
│   └── </a:t>
            </a:r>
            <a:r>
              <a:rPr lang="en-US" sz="1200" dirty="0" err="1">
                <a:solidFill>
                  <a:srgbClr val="E8E4F0"/>
                </a:solidFill>
                <a:latin typeface="Consolas"/>
                <a:cs typeface="Consolas"/>
              </a:rPr>
              <a:t>config.json</a:t>
            </a:r>
            <a:r>
              <a:rPr lang="en-US" sz="1200" dirty="0">
                <a:solidFill>
                  <a:srgbClr val="E8E4F0"/>
                </a:solidFill>
                <a:latin typeface="Consolas"/>
                <a:cs typeface="Consolas"/>
              </a:rPr>
              <a:t>      ← shared MCP servers
└── </a:t>
            </a:r>
            <a:r>
              <a:rPr lang="en-US" sz="1200" dirty="0" err="1">
                <a:solidFill>
                  <a:srgbClr val="E8E4F0"/>
                </a:solidFill>
                <a:latin typeface="Consolas"/>
                <a:cs typeface="Consolas"/>
              </a:rPr>
              <a:t>README.md</a:t>
            </a:r>
            <a:endParaRPr lang="en-US" sz="1200" dirty="0">
              <a:solidFill>
                <a:srgbClr val="E8E4F0"/>
              </a:solidFill>
              <a:latin typeface="Consolas"/>
              <a:cs typeface="Consola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CDC2AF-576F-FF49-8FF4-F4E97D10D28D}"/>
              </a:ext>
            </a:extLst>
          </p:cNvPr>
          <p:cNvSpPr/>
          <p:nvPr/>
        </p:nvSpPr>
        <p:spPr>
          <a:xfrm>
            <a:off x="6096000" y="2476500"/>
            <a:ext cx="5461000" cy="3111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4761BE-96E9-4442-8EC5-123B5A114713}"/>
              </a:ext>
            </a:extLst>
          </p:cNvPr>
          <p:cNvSpPr/>
          <p:nvPr/>
        </p:nvSpPr>
        <p:spPr>
          <a:xfrm>
            <a:off x="6096000" y="2730500"/>
            <a:ext cx="50800" cy="2603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E4B3B-19FA-0E4B-9E81-C6A4130A23A5}"/>
              </a:ext>
            </a:extLst>
          </p:cNvPr>
          <p:cNvSpPr txBox="1"/>
          <p:nvPr/>
        </p:nvSpPr>
        <p:spPr>
          <a:xfrm>
            <a:off x="6400800" y="2692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How projects use 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957D5-7B23-3343-A560-85C62BFA05B4}"/>
              </a:ext>
            </a:extLst>
          </p:cNvPr>
          <p:cNvSpPr txBox="1"/>
          <p:nvPr/>
        </p:nvSpPr>
        <p:spPr>
          <a:xfrm>
            <a:off x="6400800" y="3111500"/>
            <a:ext cx="4953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1.  Pull the base on </a:t>
            </a:r>
            <a:r>
              <a:rPr lang="en-US" sz="1400" dirty="0" err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init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a script copies </a:t>
            </a:r>
            <a:r>
              <a:rPr lang="en-US" sz="1400" dirty="0" err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CLAUDE.md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and .</a:t>
            </a:r>
            <a:r>
              <a:rPr lang="en-US" sz="1400" dirty="0" err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claude</a:t>
            </a:r>
            <a:r>
              <a:rPr lang="en-US" sz="14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/ defaults into the new repo.
2.  Override locally — projects extend the base with their own conventions, never re-write them.
3.  Contribute back — improvements flow upstream so every team benefits.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90159E-CCB1-4443-B60D-A1EF777A9DF6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D9931F-A2B5-9545-BCB1-3884DAFA66B0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Shipping this week.</a:t>
            </a:r>
          </a:p>
        </p:txBody>
      </p:sp>
      <p:pic>
        <p:nvPicPr>
          <p:cNvPr id="16" name="Copied Picture 16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47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686033-DAA0-F744-9769-B4400F960F1D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MCPs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9FF69-33AC-454A-9804-D188C8C13290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Retrofitting MCP onto an existing codebase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C0094-CDA1-B847-9A9E-5589F9BFD8EA}"/>
              </a:ext>
            </a:extLst>
          </p:cNvPr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Same rule, different starting line. The work isn’t writing MCPs — it’s migrating habits without breaking flow.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7C08B4-BA02-3448-AD4C-3051CF7EA4DD}"/>
              </a:ext>
            </a:extLst>
          </p:cNvPr>
          <p:cNvSpPr/>
          <p:nvPr/>
        </p:nvSpPr>
        <p:spPr>
          <a:xfrm>
            <a:off x="635000" y="2476500"/>
            <a:ext cx="3556000" cy="3619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8864AC-DB8A-5F4E-8338-488DE552F109}"/>
              </a:ext>
            </a:extLst>
          </p:cNvPr>
          <p:cNvSpPr/>
          <p:nvPr/>
        </p:nvSpPr>
        <p:spPr>
          <a:xfrm>
            <a:off x="635000" y="2730500"/>
            <a:ext cx="50800" cy="3111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802CE-A049-5B47-9CAC-CCCF72716702}"/>
              </a:ext>
            </a:extLst>
          </p:cNvPr>
          <p:cNvSpPr txBox="1"/>
          <p:nvPr/>
        </p:nvSpPr>
        <p:spPr>
          <a:xfrm>
            <a:off x="9398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START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42FE2-B6E2-E449-BC4A-DC6E032520E6}"/>
              </a:ext>
            </a:extLst>
          </p:cNvPr>
          <p:cNvSpPr txBox="1"/>
          <p:nvPr/>
        </p:nvSpPr>
        <p:spPr>
          <a:xfrm>
            <a:off x="939800" y="2946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Audit before you wire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D73EC-3761-9249-85F8-0F8BD7816032}"/>
              </a:ext>
            </a:extLst>
          </p:cNvPr>
          <p:cNvSpPr txBox="1"/>
          <p:nvPr/>
        </p:nvSpPr>
        <p:spPr>
          <a:xfrm>
            <a:off x="939800" y="3429000"/>
            <a:ext cx="3048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Log real usage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for a week — every curl, SDK call, and ad-hoc script.</a:t>
            </a:r>
          </a:p>
          <a:p>
            <a:pPr algn="l"/>
            <a:endParaRPr lang="en-US" sz="1400">
              <a:latin typeface="Open Sans"/>
            </a:endParaRPr>
          </a:p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Rank by frequency × pain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the loudest tool isn’t always the most-used one.</a:t>
            </a:r>
          </a:p>
          <a:p>
            <a:pPr algn="l"/>
            <a:endParaRPr lang="en-US" sz="1400">
              <a:latin typeface="Open Sans"/>
            </a:endParaRPr>
          </a:p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Top 3 to 5 entries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become the MCP backlog. Everything else waits.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82853A-7B70-C048-96B4-E8A0AA9CC8E4}"/>
              </a:ext>
            </a:extLst>
          </p:cNvPr>
          <p:cNvSpPr/>
          <p:nvPr/>
        </p:nvSpPr>
        <p:spPr>
          <a:xfrm>
            <a:off x="4318000" y="2476500"/>
            <a:ext cx="3556000" cy="3619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B983E2-48F4-8B45-A68F-48B268B3F4F7}"/>
              </a:ext>
            </a:extLst>
          </p:cNvPr>
          <p:cNvSpPr/>
          <p:nvPr/>
        </p:nvSpPr>
        <p:spPr>
          <a:xfrm>
            <a:off x="4318000" y="2730500"/>
            <a:ext cx="50800" cy="3111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60E4D9-2EFD-3A40-9DAA-A8B7A44FB931}"/>
              </a:ext>
            </a:extLst>
          </p:cNvPr>
          <p:cNvSpPr txBox="1"/>
          <p:nvPr/>
        </p:nvSpPr>
        <p:spPr>
          <a:xfrm>
            <a:off x="46228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HOW TO MIGRATE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AA746-97D2-904D-8E5F-0D0FA845139E}"/>
              </a:ext>
            </a:extLst>
          </p:cNvPr>
          <p:cNvSpPr txBox="1"/>
          <p:nvPr/>
        </p:nvSpPr>
        <p:spPr>
          <a:xfrm>
            <a:off x="4622800" y="2946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Replace, don’t mandate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3DEC60-545E-F548-A42D-CC247220E1D6}"/>
              </a:ext>
            </a:extLst>
          </p:cNvPr>
          <p:cNvSpPr txBox="1"/>
          <p:nvPr/>
        </p:nvSpPr>
        <p:spPr>
          <a:xfrm>
            <a:off x="4622800" y="3429000"/>
            <a:ext cx="3048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Ship the painful one first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make the MCP path strictly easier than the old one.</a:t>
            </a:r>
          </a:p>
          <a:p>
            <a:pPr algn="l"/>
            <a:endParaRPr lang="en-US" sz="1400">
              <a:latin typeface="Open Sans"/>
            </a:endParaRPr>
          </a:p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Wrap before you rewrite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the first MCP can shell out to existing CLIs or endpoints.</a:t>
            </a:r>
          </a:p>
          <a:p>
            <a:pPr algn="l"/>
            <a:endParaRPr lang="en-US" sz="1400">
              <a:latin typeface="Open Sans"/>
            </a:endParaRPr>
          </a:p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Adoption follows convenience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, not policy. Don’t ban raw HTTP — outclass it.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73CF3-9CC4-4C40-B534-37155E40910E}"/>
              </a:ext>
            </a:extLst>
          </p:cNvPr>
          <p:cNvSpPr/>
          <p:nvPr/>
        </p:nvSpPr>
        <p:spPr>
          <a:xfrm>
            <a:off x="635000" y="63500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B8000E-F889-6E4D-B877-08E0026938EE}"/>
              </a:ext>
            </a:extLst>
          </p:cNvPr>
          <p:cNvSpPr txBox="1"/>
          <p:nvPr/>
        </p:nvSpPr>
        <p:spPr>
          <a:xfrm>
            <a:off x="635000" y="64897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If you’d never run the command twice, don’t MCP it. The bar is reuse, not enthusiasm.</a:t>
            </a:r>
          </a:p>
        </p:txBody>
      </p:sp>
      <p:sp>
        <p:nvSpPr>
          <p:cNvPr id="19" name="CardC_BG">
            <a:extLst>
              <a:ext uri="{FF2B5EF4-FFF2-40B4-BE49-F238E27FC236}">
                <a16:creationId xmlns:a16="http://schemas.microsoft.com/office/drawing/2014/main" id="{6FC5E65B-1ACB-D847-9367-7767E3F3515A}"/>
              </a:ext>
            </a:extLst>
          </p:cNvPr>
          <p:cNvSpPr/>
          <p:nvPr/>
        </p:nvSpPr>
        <p:spPr>
          <a:xfrm>
            <a:off x="8001000" y="2476500"/>
            <a:ext cx="3556000" cy="36195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CardC_Bar">
            <a:extLst>
              <a:ext uri="{FF2B5EF4-FFF2-40B4-BE49-F238E27FC236}">
                <a16:creationId xmlns:a16="http://schemas.microsoft.com/office/drawing/2014/main" id="{4869C3E6-9956-954E-96C5-0C2FFE5B7F57}"/>
              </a:ext>
            </a:extLst>
          </p:cNvPr>
          <p:cNvSpPr/>
          <p:nvPr/>
        </p:nvSpPr>
        <p:spPr>
          <a:xfrm>
            <a:off x="8001000" y="2730500"/>
            <a:ext cx="50800" cy="31115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CardC_Tag">
            <a:extLst>
              <a:ext uri="{FF2B5EF4-FFF2-40B4-BE49-F238E27FC236}">
                <a16:creationId xmlns:a16="http://schemas.microsoft.com/office/drawing/2014/main" id="{57BF8CF5-A4D5-6B4F-9644-0F99028D9B74}"/>
              </a:ext>
            </a:extLst>
          </p:cNvPr>
          <p:cNvSpPr txBox="1"/>
          <p:nvPr/>
        </p:nvSpPr>
        <p:spPr>
          <a:xfrm>
            <a:off x="8305800" y="2692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KEEP IT HEALTHY</a:t>
            </a:r>
          </a:p>
        </p:txBody>
      </p:sp>
      <p:sp>
        <p:nvSpPr>
          <p:cNvPr id="22" name="CardC_Head">
            <a:extLst>
              <a:ext uri="{FF2B5EF4-FFF2-40B4-BE49-F238E27FC236}">
                <a16:creationId xmlns:a16="http://schemas.microsoft.com/office/drawing/2014/main" id="{9A07378D-D2D0-5C42-8274-19DE770FAAD4}"/>
              </a:ext>
            </a:extLst>
          </p:cNvPr>
          <p:cNvSpPr txBox="1"/>
          <p:nvPr/>
        </p:nvSpPr>
        <p:spPr>
          <a:xfrm>
            <a:off x="8305800" y="2946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Treat .mcp.json as living</a:t>
            </a:r>
          </a:p>
        </p:txBody>
      </p:sp>
      <p:sp>
        <p:nvSpPr>
          <p:cNvPr id="23" name="CardC_Body">
            <a:extLst>
              <a:ext uri="{FF2B5EF4-FFF2-40B4-BE49-F238E27FC236}">
                <a16:creationId xmlns:a16="http://schemas.microsoft.com/office/drawing/2014/main" id="{F9DB35C8-2B14-2D43-8241-0ED50E64CE91}"/>
              </a:ext>
            </a:extLst>
          </p:cNvPr>
          <p:cNvSpPr txBox="1"/>
          <p:nvPr/>
        </p:nvSpPr>
        <p:spPr>
          <a:xfrm>
            <a:off x="8305800" y="3429000"/>
            <a:ext cx="3048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Name an owner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for the file and a review process for new entries.</a:t>
            </a:r>
          </a:p>
          <a:p>
            <a:pPr algn="l"/>
            <a:endParaRPr lang="en-US" sz="1400">
              <a:latin typeface="Open Sans"/>
            </a:endParaRPr>
          </a:p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Prune as vendors ship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official servers — yours becomes redundant.</a:t>
            </a:r>
          </a:p>
          <a:p>
            <a:pPr algn="l"/>
            <a:endParaRPr lang="en-US" sz="1400">
              <a:latin typeface="Open Sans"/>
            </a:endParaRPr>
          </a:p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Watch context cost</a:t>
            </a:r>
            <a:r>
              <a:rPr lang="en-US" sz="14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 — every MCP adds tool defs to every session.</a:t>
            </a:r>
          </a:p>
        </p:txBody>
      </p:sp>
      <p:pic>
        <p:nvPicPr>
          <p:cNvPr id="24" name="Copied Picture 24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60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6FF08-9AA9-EE48-8AB4-750C7BA8457E}"/>
              </a:ext>
            </a:extLst>
          </p:cNvPr>
          <p:cNvSpPr txBox="1"/>
          <p:nvPr/>
        </p:nvSpPr>
        <p:spPr>
          <a:xfrm>
            <a:off x="635000" y="533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THE FULL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5DB06-105E-9643-8579-53C8B7B3B1B1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How the layers stack at runtime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C4E770-B9F6-DF49-9908-341C0D64C1EC}"/>
              </a:ext>
            </a:extLst>
          </p:cNvPr>
          <p:cNvSpPr/>
          <p:nvPr/>
        </p:nvSpPr>
        <p:spPr>
          <a:xfrm>
            <a:off x="2667000" y="1841500"/>
            <a:ext cx="6858000" cy="711200"/>
          </a:xfrm>
          <a:prstGeom prst="roundRect">
            <a:avLst/>
          </a:prstGeom>
          <a:solidFill>
            <a:srgbClr val="DEDC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E18DD0-5EBA-0E49-A64B-4E499651E42B}"/>
              </a:ext>
            </a:extLst>
          </p:cNvPr>
          <p:cNvSpPr/>
          <p:nvPr/>
        </p:nvSpPr>
        <p:spPr>
          <a:xfrm>
            <a:off x="2844800" y="2019300"/>
            <a:ext cx="13970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000" b="1" dirty="0">
                <a:solidFill>
                  <a:srgbClr val="241452"/>
                </a:solidFill>
                <a:latin typeface="Open Sans"/>
              </a:rPr>
              <a:t>EXTERNAL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8B465-35D1-6246-92B0-545ED6A6CD4E}"/>
              </a:ext>
            </a:extLst>
          </p:cNvPr>
          <p:cNvSpPr txBox="1"/>
          <p:nvPr/>
        </p:nvSpPr>
        <p:spPr>
          <a:xfrm>
            <a:off x="4445000" y="19431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b="1" dirty="0">
                <a:solidFill>
                  <a:srgbClr val="1A1A2E"/>
                </a:solidFill>
                <a:latin typeface="Open Sans"/>
              </a:rPr>
              <a:t>MCP Servers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02109-8F24-4A47-8B0F-1E5039B96FC8}"/>
              </a:ext>
            </a:extLst>
          </p:cNvPr>
          <p:cNvSpPr txBox="1"/>
          <p:nvPr/>
        </p:nvSpPr>
        <p:spPr>
          <a:xfrm>
            <a:off x="4445000" y="22225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666666"/>
                </a:solidFill>
                <a:latin typeface="Open Sans"/>
              </a:rPr>
              <a:t>Databases, internal APIs, Notion, Slack, GitHub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D2E839D9-8381-0F44-8AA3-75D04529DD32}"/>
              </a:ext>
            </a:extLst>
          </p:cNvPr>
          <p:cNvSpPr/>
          <p:nvPr/>
        </p:nvSpPr>
        <p:spPr>
          <a:xfrm>
            <a:off x="5918200" y="2514600"/>
            <a:ext cx="355600" cy="228600"/>
          </a:xfrm>
          <a:prstGeom prst="downArrow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D0F716-3891-E34A-BA1F-B3FDDF8C7060}"/>
              </a:ext>
            </a:extLst>
          </p:cNvPr>
          <p:cNvSpPr/>
          <p:nvPr/>
        </p:nvSpPr>
        <p:spPr>
          <a:xfrm>
            <a:off x="2667000" y="2705100"/>
            <a:ext cx="6858000" cy="711200"/>
          </a:xfrm>
          <a:prstGeom prst="roundRect">
            <a:avLst/>
          </a:prstGeom>
          <a:solidFill>
            <a:srgbClr val="BDB9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01E47-433F-7148-8433-0197D4A6969C}"/>
              </a:ext>
            </a:extLst>
          </p:cNvPr>
          <p:cNvSpPr/>
          <p:nvPr/>
        </p:nvSpPr>
        <p:spPr>
          <a:xfrm>
            <a:off x="2844800" y="2882900"/>
            <a:ext cx="13970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FOUNDATION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83FFB7-432D-C649-9777-83450E426E5B}"/>
              </a:ext>
            </a:extLst>
          </p:cNvPr>
          <p:cNvSpPr txBox="1"/>
          <p:nvPr/>
        </p:nvSpPr>
        <p:spPr>
          <a:xfrm>
            <a:off x="4445000" y="28067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claude-standards repo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D45E9-4C89-8A47-8363-930A9E0B07DF}"/>
              </a:ext>
            </a:extLst>
          </p:cNvPr>
          <p:cNvSpPr txBox="1"/>
          <p:nvPr/>
        </p:nvSpPr>
        <p:spPr>
          <a:xfrm>
            <a:off x="4445000" y="30861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Base CLAUDE.md  ·  .claude/ defaults  ·  shared MCPs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6823F21C-3BEA-364E-8D37-0FB82AC8A843}"/>
              </a:ext>
            </a:extLst>
          </p:cNvPr>
          <p:cNvSpPr/>
          <p:nvPr/>
        </p:nvSpPr>
        <p:spPr>
          <a:xfrm>
            <a:off x="5918200" y="3378200"/>
            <a:ext cx="355600" cy="228600"/>
          </a:xfrm>
          <a:prstGeom prst="downArrow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3ADCDC7-E092-3145-B24A-7A0C50D30F78}"/>
              </a:ext>
            </a:extLst>
          </p:cNvPr>
          <p:cNvSpPr/>
          <p:nvPr/>
        </p:nvSpPr>
        <p:spPr>
          <a:xfrm>
            <a:off x="2667000" y="3568700"/>
            <a:ext cx="6858000" cy="711200"/>
          </a:xfrm>
          <a:prstGeom prst="roundRect">
            <a:avLst/>
          </a:prstGeom>
          <a:solidFill>
            <a:srgbClr val="877E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181B86-54AF-D24E-8A9E-1CD6A56C251B}"/>
              </a:ext>
            </a:extLst>
          </p:cNvPr>
          <p:cNvSpPr/>
          <p:nvPr/>
        </p:nvSpPr>
        <p:spPr>
          <a:xfrm>
            <a:off x="2844800" y="3746500"/>
            <a:ext cx="13970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PROJECT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813F76-195C-2E43-A160-C1808EC566F9}"/>
              </a:ext>
            </a:extLst>
          </p:cNvPr>
          <p:cNvSpPr txBox="1"/>
          <p:nvPr/>
        </p:nvSpPr>
        <p:spPr>
          <a:xfrm>
            <a:off x="4445000" y="36703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Project CLAUDE.md + .claude/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A53C0-55AE-F34F-AC71-DE47389DCD98}"/>
              </a:ext>
            </a:extLst>
          </p:cNvPr>
          <p:cNvSpPr txBox="1"/>
          <p:nvPr/>
        </p:nvSpPr>
        <p:spPr>
          <a:xfrm>
            <a:off x="4445000" y="39497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4F0"/>
                </a:solidFill>
                <a:latin typeface="Open Sans"/>
                <a:ea typeface="Open Sans"/>
                <a:cs typeface="Open Sans"/>
              </a:rPr>
              <a:t>Local conventions and overrides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C2E1276B-9873-284B-8D33-F35E5040945F}"/>
              </a:ext>
            </a:extLst>
          </p:cNvPr>
          <p:cNvSpPr/>
          <p:nvPr/>
        </p:nvSpPr>
        <p:spPr>
          <a:xfrm>
            <a:off x="5918200" y="4241800"/>
            <a:ext cx="355600" cy="228600"/>
          </a:xfrm>
          <a:prstGeom prst="downArrow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90AA64-F3AD-6046-A507-8A8F095EC51A}"/>
              </a:ext>
            </a:extLst>
          </p:cNvPr>
          <p:cNvSpPr/>
          <p:nvPr/>
        </p:nvSpPr>
        <p:spPr>
          <a:xfrm>
            <a:off x="2667000" y="4432300"/>
            <a:ext cx="6858000" cy="711200"/>
          </a:xfrm>
          <a:prstGeom prst="roundRect">
            <a:avLst/>
          </a:prstGeom>
          <a:solidFill>
            <a:srgbClr val="45376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E946C-E9B1-924C-B5BF-8843445B0B9F}"/>
              </a:ext>
            </a:extLst>
          </p:cNvPr>
          <p:cNvSpPr/>
          <p:nvPr/>
        </p:nvSpPr>
        <p:spPr>
          <a:xfrm>
            <a:off x="2844800" y="4610100"/>
            <a:ext cx="1397000" cy="355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TASK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C85530-59CE-AF46-86DB-6B07DDADE60C}"/>
              </a:ext>
            </a:extLst>
          </p:cNvPr>
          <p:cNvSpPr txBox="1"/>
          <p:nvPr/>
        </p:nvSpPr>
        <p:spPr>
          <a:xfrm>
            <a:off x="4445000" y="45339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Your Prompt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0B243-4EAE-3C40-BF7C-7BA772FF5303}"/>
              </a:ext>
            </a:extLst>
          </p:cNvPr>
          <p:cNvSpPr txBox="1"/>
          <p:nvPr/>
        </p:nvSpPr>
        <p:spPr>
          <a:xfrm>
            <a:off x="4445000" y="48133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8E4F0"/>
                </a:solidFill>
                <a:latin typeface="Open Sans"/>
                <a:ea typeface="Open Sans"/>
                <a:cs typeface="Open Sans"/>
              </a:rPr>
              <a:t>What you're asking Claude to do right now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977C0D-8B24-3C48-A9BB-4A2572E0C6EF}"/>
              </a:ext>
            </a:extLst>
          </p:cNvPr>
          <p:cNvSpPr txBox="1"/>
          <p:nvPr/>
        </p:nvSpPr>
        <p:spPr>
          <a:xfrm>
            <a:off x="889000" y="24765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PERSISTENT
FILES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A79B5-573F-764C-A55C-B137841F8E8D}"/>
              </a:ext>
            </a:extLst>
          </p:cNvPr>
          <p:cNvSpPr txBox="1"/>
          <p:nvPr/>
        </p:nvSpPr>
        <p:spPr>
          <a:xfrm>
            <a:off x="889000" y="46355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EPHEMERAL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A282E4-8479-FF44-877C-ABC04B46F741}"/>
              </a:ext>
            </a:extLst>
          </p:cNvPr>
          <p:cNvSpPr txBox="1"/>
          <p:nvPr/>
        </p:nvSpPr>
        <p:spPr>
          <a:xfrm>
            <a:off x="9779000" y="2794000"/>
            <a:ext cx="165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Claude reads
all four
at session start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92DB4B-F55C-A343-A43E-52FE12167F0B}"/>
              </a:ext>
            </a:extLst>
          </p:cNvPr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0E1177-2976-AA41-B602-997AB8075BAB}"/>
              </a:ext>
            </a:extLst>
          </p:cNvPr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Each layer narrows the focus. The bottom is what you actually type.</a:t>
            </a:r>
          </a:p>
        </p:txBody>
      </p:sp>
      <p:pic>
        <p:nvPicPr>
          <p:cNvPr id="30" name="Copied Picture 30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39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A3B4A0-50D3-CC46-A3EE-8EB5C4AE08DC}"/>
              </a:ext>
            </a:extLst>
          </p:cNvPr>
          <p:cNvSpPr txBox="1"/>
          <p:nvPr/>
        </p:nvSpPr>
        <p:spPr>
          <a:xfrm>
            <a:off x="635000" y="533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ROLLOUT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9DE66-67F0-0E41-BEB5-08E8613C2046}"/>
              </a:ext>
            </a:extLst>
          </p:cNvPr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What happens next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5AAF71-D8B0-F247-B18E-ED6EC6D8619C}"/>
              </a:ext>
            </a:extLst>
          </p:cNvPr>
          <p:cNvSpPr/>
          <p:nvPr/>
        </p:nvSpPr>
        <p:spPr>
          <a:xfrm>
            <a:off x="635000" y="2095500"/>
            <a:ext cx="2667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A1C1D-0F4D-2A4B-BBA7-586FA51FC688}"/>
              </a:ext>
            </a:extLst>
          </p:cNvPr>
          <p:cNvSpPr/>
          <p:nvPr/>
        </p:nvSpPr>
        <p:spPr>
          <a:xfrm>
            <a:off x="635000" y="2095500"/>
            <a:ext cx="2667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294D35-7549-A044-8D6F-F25877A460A6}"/>
              </a:ext>
            </a:extLst>
          </p:cNvPr>
          <p:cNvSpPr/>
          <p:nvPr/>
        </p:nvSpPr>
        <p:spPr>
          <a:xfrm>
            <a:off x="889000" y="23495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DC910-C870-1848-A789-6BDE1D0C6950}"/>
              </a:ext>
            </a:extLst>
          </p:cNvPr>
          <p:cNvSpPr txBox="1"/>
          <p:nvPr/>
        </p:nvSpPr>
        <p:spPr>
          <a:xfrm>
            <a:off x="889000" y="29464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THIS WEEK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9EAAE-D4FB-324C-80B3-3DCEABC85D5E}"/>
              </a:ext>
            </a:extLst>
          </p:cNvPr>
          <p:cNvSpPr txBox="1"/>
          <p:nvPr/>
        </p:nvSpPr>
        <p:spPr>
          <a:xfrm>
            <a:off x="889000" y="3200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Repo goes live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3AEF6-EC1C-FA43-8F99-864B72EA07D5}"/>
              </a:ext>
            </a:extLst>
          </p:cNvPr>
          <p:cNvSpPr txBox="1"/>
          <p:nvPr/>
        </p:nvSpPr>
        <p:spPr>
          <a:xfrm>
            <a:off x="889000" y="3619500"/>
            <a:ext cx="228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claude-standards lands with v0 base CLAUDE.md and starter .claude/ assets.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EB1F-2C37-BC48-B4B6-2C1781EC50AF}"/>
              </a:ext>
            </a:extLst>
          </p:cNvPr>
          <p:cNvSpPr/>
          <p:nvPr/>
        </p:nvSpPr>
        <p:spPr>
          <a:xfrm>
            <a:off x="3454400" y="2095500"/>
            <a:ext cx="2667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23969-7D1C-5341-96B9-7EC8E04FB895}"/>
              </a:ext>
            </a:extLst>
          </p:cNvPr>
          <p:cNvSpPr/>
          <p:nvPr/>
        </p:nvSpPr>
        <p:spPr>
          <a:xfrm>
            <a:off x="3454400" y="2095500"/>
            <a:ext cx="2667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36CD98-0402-6743-9E69-38E591E5CC07}"/>
              </a:ext>
            </a:extLst>
          </p:cNvPr>
          <p:cNvSpPr/>
          <p:nvPr/>
        </p:nvSpPr>
        <p:spPr>
          <a:xfrm>
            <a:off x="3708400" y="23495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8A6C2-D035-C24A-A307-6DE30ED53C5D}"/>
              </a:ext>
            </a:extLst>
          </p:cNvPr>
          <p:cNvSpPr txBox="1"/>
          <p:nvPr/>
        </p:nvSpPr>
        <p:spPr>
          <a:xfrm>
            <a:off x="3708400" y="29464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WEEK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5E6ED-D3AA-F54A-A739-D415244120DE}"/>
              </a:ext>
            </a:extLst>
          </p:cNvPr>
          <p:cNvSpPr txBox="1"/>
          <p:nvPr/>
        </p:nvSpPr>
        <p:spPr>
          <a:xfrm>
            <a:off x="3708400" y="3200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Pilot projects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84C31-7B28-F349-B33F-B3DBDDB2236A}"/>
              </a:ext>
            </a:extLst>
          </p:cNvPr>
          <p:cNvSpPr txBox="1"/>
          <p:nvPr/>
        </p:nvSpPr>
        <p:spPr>
          <a:xfrm>
            <a:off x="3708400" y="3619500"/>
            <a:ext cx="228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Two project teams adopt and push back. We iterate on what's missing.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F35B15C-83BA-0849-BDAF-D731479B13A8}"/>
              </a:ext>
            </a:extLst>
          </p:cNvPr>
          <p:cNvSpPr/>
          <p:nvPr/>
        </p:nvSpPr>
        <p:spPr>
          <a:xfrm>
            <a:off x="6273800" y="2095500"/>
            <a:ext cx="2667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F3A267-E28F-2240-BE56-E9AAAA235E28}"/>
              </a:ext>
            </a:extLst>
          </p:cNvPr>
          <p:cNvSpPr/>
          <p:nvPr/>
        </p:nvSpPr>
        <p:spPr>
          <a:xfrm>
            <a:off x="6273800" y="2095500"/>
            <a:ext cx="2667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E0AA89-46D0-104F-AA93-635EFA200374}"/>
              </a:ext>
            </a:extLst>
          </p:cNvPr>
          <p:cNvSpPr/>
          <p:nvPr/>
        </p:nvSpPr>
        <p:spPr>
          <a:xfrm>
            <a:off x="6527800" y="23495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B06350-3F83-D047-AE70-F51932F646B0}"/>
              </a:ext>
            </a:extLst>
          </p:cNvPr>
          <p:cNvSpPr txBox="1"/>
          <p:nvPr/>
        </p:nvSpPr>
        <p:spPr>
          <a:xfrm>
            <a:off x="6527800" y="29464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WEEK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074271-0427-8D40-A0A4-5F95AD3D8404}"/>
              </a:ext>
            </a:extLst>
          </p:cNvPr>
          <p:cNvSpPr txBox="1"/>
          <p:nvPr/>
        </p:nvSpPr>
        <p:spPr>
          <a:xfrm>
            <a:off x="6527800" y="3200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Full rollout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94CACC-B4A1-F54F-B86F-E31F58BE4879}"/>
              </a:ext>
            </a:extLst>
          </p:cNvPr>
          <p:cNvSpPr txBox="1"/>
          <p:nvPr/>
        </p:nvSpPr>
        <p:spPr>
          <a:xfrm>
            <a:off x="6527800" y="3619500"/>
            <a:ext cx="228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Every project repo wired up. Onboarding doc shipped. MCP config shared.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7114291-A164-8D45-B794-051540791778}"/>
              </a:ext>
            </a:extLst>
          </p:cNvPr>
          <p:cNvSpPr/>
          <p:nvPr/>
        </p:nvSpPr>
        <p:spPr>
          <a:xfrm>
            <a:off x="9093200" y="2095500"/>
            <a:ext cx="2667000" cy="3048000"/>
          </a:xfrm>
          <a:prstGeom prst="round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C50A90-BA8D-8847-8A5D-BC6D2871B564}"/>
              </a:ext>
            </a:extLst>
          </p:cNvPr>
          <p:cNvSpPr/>
          <p:nvPr/>
        </p:nvSpPr>
        <p:spPr>
          <a:xfrm>
            <a:off x="9093200" y="2095500"/>
            <a:ext cx="2667000" cy="508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3E8899-AD02-D34C-B37F-E71A8E79D4B8}"/>
              </a:ext>
            </a:extLst>
          </p:cNvPr>
          <p:cNvSpPr/>
          <p:nvPr/>
        </p:nvSpPr>
        <p:spPr>
          <a:xfrm>
            <a:off x="9347200" y="2349500"/>
            <a:ext cx="457200" cy="457200"/>
          </a:xfrm>
          <a:prstGeom prst="ellipse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2BA48-10A7-C041-9F25-76C4BC9299B6}"/>
              </a:ext>
            </a:extLst>
          </p:cNvPr>
          <p:cNvSpPr txBox="1"/>
          <p:nvPr/>
        </p:nvSpPr>
        <p:spPr>
          <a:xfrm>
            <a:off x="9347200" y="29464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241452"/>
                </a:solidFill>
                <a:latin typeface="Open Sans"/>
                <a:ea typeface="Open Sans"/>
                <a:cs typeface="Open Sans"/>
              </a:rPr>
              <a:t>ONGOING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EAE0C-7995-304E-A76D-EE2D492A9D77}"/>
              </a:ext>
            </a:extLst>
          </p:cNvPr>
          <p:cNvSpPr txBox="1"/>
          <p:nvPr/>
        </p:nvSpPr>
        <p:spPr>
          <a:xfrm>
            <a:off x="9347200" y="3200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Contribute back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E12385-8A30-EB45-BB8B-B461C77D8C8D}"/>
              </a:ext>
            </a:extLst>
          </p:cNvPr>
          <p:cNvSpPr txBox="1"/>
          <p:nvPr/>
        </p:nvSpPr>
        <p:spPr>
          <a:xfrm>
            <a:off x="9347200" y="3619500"/>
            <a:ext cx="228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Every team owns improving the standards. PRs &gt; complaints.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8599F9B-8336-5F48-A44E-8BDB0B261776}"/>
              </a:ext>
            </a:extLst>
          </p:cNvPr>
          <p:cNvSpPr/>
          <p:nvPr/>
        </p:nvSpPr>
        <p:spPr>
          <a:xfrm>
            <a:off x="635000" y="5334000"/>
            <a:ext cx="10922000" cy="635000"/>
          </a:xfrm>
          <a:prstGeom prst="round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27C747-F55B-F648-A67F-DB3E2D325793}"/>
              </a:ext>
            </a:extLst>
          </p:cNvPr>
          <p:cNvSpPr txBox="1"/>
          <p:nvPr/>
        </p:nvSpPr>
        <p:spPr>
          <a:xfrm>
            <a:off x="889000" y="5486400"/>
            <a:ext cx="101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A89BC9"/>
                </a:solidFill>
                <a:latin typeface="Open Sans"/>
                <a:ea typeface="Open Sans"/>
                <a:cs typeface="Open Sans"/>
              </a:rPr>
              <a:t>OWNER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750CE-E561-6A42-BBB8-826A97E910E6}"/>
              </a:ext>
            </a:extLst>
          </p:cNvPr>
          <p:cNvSpPr txBox="1"/>
          <p:nvPr/>
        </p:nvSpPr>
        <p:spPr>
          <a:xfrm>
            <a:off x="2032000" y="5486400"/>
            <a:ext cx="939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Jonathan Nesbitt — first-pass owner. Every team is expected to contribute back via PR.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8B0284-CBA8-DE4C-AFC3-513DBE8E0977}"/>
              </a:ext>
            </a:extLst>
          </p:cNvPr>
          <p:cNvSpPr/>
          <p:nvPr/>
        </p:nvSpPr>
        <p:spPr>
          <a:xfrm>
            <a:off x="635000" y="6223000"/>
            <a:ext cx="10922000" cy="381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D69260-D099-8348-9CA9-B890560CA8B8}"/>
              </a:ext>
            </a:extLst>
          </p:cNvPr>
          <p:cNvSpPr txBox="1"/>
          <p:nvPr/>
        </p:nvSpPr>
        <p:spPr>
          <a:xfrm>
            <a:off x="635000" y="63500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Standards aren't a doc — they're a habit. Let's start.</a:t>
            </a:r>
          </a:p>
        </p:txBody>
      </p:sp>
      <p:pic>
        <p:nvPicPr>
          <p:cNvPr id="35" name="Copied Picture 35">
            <a:extLst>
              <a:ext uri="{FF2B5EF4-FFF2-40B4-BE49-F238E27FC236}">
                <a16:creationId xmlns:a16="http://schemas.microsoft.com/office/drawing/2014/main" id="{0763CAE8-A999-825F-39DF-4A39E414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254000"/>
            <a:ext cx="482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0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300300785]">
  <a:themeElements>
    <a:clrScheme name="Office">
      <a:dk1>
        <a:srgbClr val="1A1A2E"/>
      </a:dk1>
      <a:lt1>
        <a:srgbClr val="FFFFFF"/>
      </a:lt1>
      <a:dk2>
        <a:srgbClr val="2D2D44"/>
      </a:dk2>
      <a:lt2>
        <a:srgbClr val="F0EDE8"/>
      </a:lt2>
      <a:accent1>
        <a:srgbClr val="241452"/>
      </a:accent1>
      <a:accent2>
        <a:srgbClr val="5B8A72"/>
      </a:accent2>
      <a:accent3>
        <a:srgbClr val="7B6B8D"/>
      </a:accent3>
      <a:accent4>
        <a:srgbClr val="C4955A"/>
      </a:accent4>
      <a:accent5>
        <a:srgbClr val="5A7D9A"/>
      </a:accent5>
      <a:accent6>
        <a:srgbClr val="8B6E5D"/>
      </a:accent6>
      <a:hlink>
        <a:srgbClr val="467886"/>
      </a:hlink>
      <a:folHlink>
        <a:srgbClr val="96607D"/>
      </a:folHlink>
    </a:clrScheme>
    <a:fontScheme name="Office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834A4D-30A0-414A-8377-EAFAD201014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aa1df8b-a0ee-4b05-b4d7-f87281b88e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4725</TotalTime>
  <Words>3423</Words>
  <Application>Microsoft Macintosh PowerPoint</Application>
  <PresentationFormat>Widescreen</PresentationFormat>
  <Paragraphs>393</Paragraphs>
  <Slides>25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Consolas</vt:lpstr>
      <vt:lpstr>Courier New</vt:lpstr>
      <vt:lpstr>Open Sans</vt:lpstr>
      <vt:lpstr>Raleway</vt:lpstr>
      <vt:lpstr>Office Theme [1777300300785]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Nesbitt</dc:creator>
  <cp:lastModifiedBy>Jonathan Nesbitt</cp:lastModifiedBy>
  <cp:revision>7</cp:revision>
  <dcterms:created xsi:type="dcterms:W3CDTF">2026-04-27T14:20:28Z</dcterms:created>
  <dcterms:modified xsi:type="dcterms:W3CDTF">2026-04-30T21:08:53Z</dcterms:modified>
</cp:coreProperties>
</file>