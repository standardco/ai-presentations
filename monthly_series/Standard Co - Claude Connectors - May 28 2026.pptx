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8" r:id="rId2"/>
    <p:sldId id="260" r:id="rId3"/>
    <p:sldId id="288" r:id="rId4"/>
    <p:sldId id="306" r:id="rId5"/>
    <p:sldId id="284" r:id="rId6"/>
    <p:sldId id="274" r:id="rId7"/>
    <p:sldId id="297" r:id="rId8"/>
    <p:sldId id="314" r:id="rId9"/>
    <p:sldId id="287" r:id="rId10"/>
    <p:sldId id="276" r:id="rId11"/>
    <p:sldId id="277" r:id="rId12"/>
    <p:sldId id="299" r:id="rId13"/>
    <p:sldId id="300" r:id="rId14"/>
    <p:sldId id="304" r:id="rId15"/>
    <p:sldId id="301" r:id="rId16"/>
    <p:sldId id="302" r:id="rId17"/>
    <p:sldId id="303" r:id="rId18"/>
    <p:sldId id="312" r:id="rId19"/>
    <p:sldId id="279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03"/>
    <p:restoredTop sz="94673"/>
  </p:normalViewPr>
  <p:slideViewPr>
    <p:cSldViewPr snapToGrid="0">
      <p:cViewPr varScale="1">
        <p:scale>
          <a:sx n="120" d="100"/>
          <a:sy n="120" d="100"/>
        </p:scale>
        <p:origin x="1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4E79-84A9-6F3F-2C96-0138235E5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3AE9E-9FF2-38D2-8328-11955BF82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FBACE-65DA-BD4C-58CD-BD798C7F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BBC88-3BF6-58F0-6C0D-346CE767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541DD-D0A7-F150-2FB1-C45E35DC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7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E337-7354-8CCC-273B-49886C75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F5DAA-2662-C71C-32B0-60FDB65CE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08D8-5C18-6A13-C660-AB823B37E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706FB-8FF0-6D82-C907-DCFBB26E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DEBA2-3C47-7DDC-DFC5-A1FB4C1F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6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42DD-C8C2-2E14-833A-C8362314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9FFDE-C044-FC28-7AC1-301823BCA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7BB0F-0A1F-B346-D31C-D094A4EC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1E037-AC65-B2A8-6959-5A7F978C2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0D289-B35B-A6D3-FFAB-0779CD2A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4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BE12-6736-E880-74DF-BC9E9CFA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ADCA7-3B56-377F-5D52-CD4AFC077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2646E-E4DB-65E6-922B-F7BEEA42F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B3B21-986A-4383-C613-96F890BB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547A8-1C83-DF2B-DB69-5B4A6A5A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7514A-3046-D895-F250-DD1C1FE2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2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CEF0-055F-12A4-C05C-0F743D624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90C12-3174-776D-A5CE-F4FEEB204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E665F-8BDF-7D9D-98BF-41F2FF116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6EF85-813F-4096-D5A1-09119829C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27E069-4CF7-2455-F198-DADE5E4CB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7B667F-7ADD-E1B2-AB81-4253C9B4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F189D-732C-A1CD-02DA-F0F0B061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F594E-E7C6-B8CC-AF7C-A55B1F88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9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6C18-7FF0-F6F8-6AA4-2E52BE45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1C4E5-AEF8-6FAA-728F-37293C0D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F1E62-A5FA-2013-6872-A8C4A7C7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168E5-54A5-32D7-F5CF-7A4F2575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4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DF3D0-003B-AC4F-80A0-F4EDC2DF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99728-04E3-8F0D-CE33-6CFC9142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1B204-DE8B-ECD0-83AD-B295BB98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7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1369-47B5-D60D-A40B-7A951EA9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B464-675C-3A22-CDAE-C77631BA2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049E0-8725-4058-8A6D-DE809CD2C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06D67-BC96-DC7A-D709-C3D8C47C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3E1E3-98CB-B4BD-F7E3-0A3357EC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34748-8720-D8FF-441B-950F288F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9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1372-6B00-7763-7494-7ABC6E1F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D7ECC-A1F1-CC9B-1D7E-B2B613E99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18676-EC2D-BB05-54BA-AAA0B083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7AEAB-DF3A-B47C-EBB3-0EF8D145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8A2C9-D085-44B0-095D-C14E12B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32514-6AE7-BDB8-8BB0-D4017EBE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1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17E63-6FB2-ADD1-0963-2028036E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62117-A864-E253-5152-ADF290A14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9BEC9-FFB4-1DD9-738A-D0FB7B09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66035-B7D0-FDAF-28E9-3F47883E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CC45E-19C5-1066-4558-C3C63F81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0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8DDC8-6B00-09C0-673B-573806506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E8D02-32FD-2CD4-8F81-9B99A6D99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7045E-3F48-B6CD-3244-ABCFF3F6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83A4-4F53-6F27-6022-03357C86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1FBE-85B9-88E1-B00C-DE51CB00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6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8D192-68FE-305C-E880-1B56E6D4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34E2A-47EE-85FA-E53A-9EA10D07C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BFF75-5498-8473-B425-19C34A58B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BD2AE-0AD3-0E47-946F-0963A7766FE9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5625D-CD5F-5864-BA0E-5C7F638C8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3FC2F-3D97-2C2A-C1A4-E4A7AC1C1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0F274-5F33-E345-AFC7-780CF7466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8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43C6-4071-2665-CCCC-F538CA847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540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5400" b="1" dirty="0">
                <a:solidFill>
                  <a:srgbClr val="1A1A2E"/>
                </a:solidFill>
                <a:latin typeface="Open Sans"/>
              </a:rPr>
              <a:t>Claude Connectors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4985F-0920-F052-1E7A-F2F01E64F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683000"/>
            <a:ext cx="10668000" cy="508000"/>
          </a:xfrm>
        </p:spPr>
        <p:txBody>
          <a:bodyPr/>
          <a:lstStyle/>
          <a:p>
            <a:pPr algn="l">
              <a:buNone/>
            </a:pPr>
            <a:r>
              <a:rPr lang="en-US" sz="2400" dirty="0">
                <a:solidFill>
                  <a:srgbClr val="241452"/>
                </a:solidFill>
                <a:latin typeface="Open Sans"/>
              </a:rPr>
              <a:t>Connecting Claude to Your Tools</a:t>
            </a:r>
          </a:p>
        </p:txBody>
      </p:sp>
      <p:sp>
        <p:nvSpPr>
          <p:cNvPr id="100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01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6 MONTH AI SERIES · SESSION 3</a:t>
            </a:r>
          </a:p>
        </p:txBody>
      </p:sp>
      <p:sp>
        <p:nvSpPr>
          <p:cNvPr id="102" name="Accent"/>
          <p:cNvSpPr/>
          <p:nvPr/>
        </p:nvSpPr>
        <p:spPr>
          <a:xfrm>
            <a:off x="762000" y="4572000"/>
            <a:ext cx="1016000" cy="508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Meta"/>
          <p:cNvSpPr txBox="1"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5A7D9A"/>
                </a:solidFill>
                <a:latin typeface="Open Sans"/>
              </a:rPr>
              <a:t>Jonathan Nesbitt &amp; TJ Muehleman  |  May 28, 2026</a:t>
            </a:r>
          </a:p>
        </p:txBody>
      </p:sp>
    </p:spTree>
    <p:extLst>
      <p:ext uri="{BB962C8B-B14F-4D97-AF65-F5344CB8AC3E}">
        <p14:creationId xmlns:p14="http://schemas.microsoft.com/office/powerpoint/2010/main" val="62173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0C68-62D9-E423-D2FC-8C143F67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Where we’ve been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RECAP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200" name="Card1"/>
          <p:cNvSpPr/>
          <p:nvPr/>
        </p:nvSpPr>
        <p:spPr>
          <a:xfrm>
            <a:off x="762000" y="2540000"/>
            <a:ext cx="3429000" cy="3048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Month1"/>
          <p:cNvSpPr txBox="1"/>
          <p:nvPr/>
        </p:nvSpPr>
        <p:spPr>
          <a:xfrm>
            <a:off x="1066800" y="28448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241452"/>
                </a:solidFill>
                <a:latin typeface="Open Sans"/>
              </a:rPr>
              <a:t>MARCH</a:t>
            </a:r>
          </a:p>
        </p:txBody>
      </p:sp>
      <p:sp>
        <p:nvSpPr>
          <p:cNvPr id="202" name="Sess1"/>
          <p:cNvSpPr txBox="1"/>
          <p:nvPr/>
        </p:nvSpPr>
        <p:spPr>
          <a:xfrm>
            <a:off x="1066800" y="3200400"/>
            <a:ext cx="28194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A1A2E"/>
                </a:solidFill>
                <a:latin typeface="Open Sans"/>
              </a:rPr>
              <a:t>Session 1</a:t>
            </a:r>
          </a:p>
        </p:txBody>
      </p:sp>
      <p:sp>
        <p:nvSpPr>
          <p:cNvPr id="203" name="Head1"/>
          <p:cNvSpPr txBox="1"/>
          <p:nvPr/>
        </p:nvSpPr>
        <p:spPr>
          <a:xfrm>
            <a:off x="1066800" y="3708400"/>
            <a:ext cx="28194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Claude Code + Cowork</a:t>
            </a:r>
          </a:p>
        </p:txBody>
      </p:sp>
      <p:sp>
        <p:nvSpPr>
          <p:cNvPr id="204" name="Body1"/>
          <p:cNvSpPr txBox="1"/>
          <p:nvPr/>
        </p:nvSpPr>
        <p:spPr>
          <a:xfrm>
            <a:off x="1066800" y="4699000"/>
            <a:ext cx="2819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4A4A5E"/>
                </a:solidFill>
                <a:latin typeface="Open Sans"/>
              </a:rPr>
              <a:t>Met Claude. Learned the interface.</a:t>
            </a:r>
          </a:p>
        </p:txBody>
      </p:sp>
      <p:sp>
        <p:nvSpPr>
          <p:cNvPr id="210" name="Card2"/>
          <p:cNvSpPr/>
          <p:nvPr/>
        </p:nvSpPr>
        <p:spPr>
          <a:xfrm>
            <a:off x="4381500" y="2540000"/>
            <a:ext cx="3429000" cy="3048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Month2"/>
          <p:cNvSpPr txBox="1"/>
          <p:nvPr/>
        </p:nvSpPr>
        <p:spPr>
          <a:xfrm>
            <a:off x="4686300" y="28448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241452"/>
                </a:solidFill>
                <a:latin typeface="Open Sans"/>
              </a:rPr>
              <a:t>APRIL</a:t>
            </a:r>
          </a:p>
        </p:txBody>
      </p:sp>
      <p:sp>
        <p:nvSpPr>
          <p:cNvPr id="212" name="Sess2"/>
          <p:cNvSpPr txBox="1"/>
          <p:nvPr/>
        </p:nvSpPr>
        <p:spPr>
          <a:xfrm>
            <a:off x="4686300" y="3200400"/>
            <a:ext cx="28194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A1A2E"/>
                </a:solidFill>
                <a:latin typeface="Open Sans"/>
              </a:rPr>
              <a:t>Session 2</a:t>
            </a:r>
          </a:p>
        </p:txBody>
      </p:sp>
      <p:sp>
        <p:nvSpPr>
          <p:cNvPr id="213" name="Head2"/>
          <p:cNvSpPr txBox="1"/>
          <p:nvPr/>
        </p:nvSpPr>
        <p:spPr>
          <a:xfrm>
            <a:off x="4686300" y="3708400"/>
            <a:ext cx="28194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CLAUDE.md + ./claude/</a:t>
            </a:r>
          </a:p>
        </p:txBody>
      </p:sp>
      <p:sp>
        <p:nvSpPr>
          <p:cNvPr id="214" name="Body2"/>
          <p:cNvSpPr txBox="1"/>
          <p:nvPr/>
        </p:nvSpPr>
        <p:spPr>
          <a:xfrm>
            <a:off x="4686300" y="4699000"/>
            <a:ext cx="2819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4A4A5E"/>
                </a:solidFill>
                <a:latin typeface="Open Sans"/>
              </a:rPr>
              <a:t>Gave Claude lasting project context.</a:t>
            </a:r>
          </a:p>
        </p:txBody>
      </p:sp>
      <p:sp>
        <p:nvSpPr>
          <p:cNvPr id="220" name="Card3"/>
          <p:cNvSpPr/>
          <p:nvPr/>
        </p:nvSpPr>
        <p:spPr>
          <a:xfrm>
            <a:off x="8001000" y="2540000"/>
            <a:ext cx="3429000" cy="3048000"/>
          </a:xfrm>
          <a:prstGeom prst="round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Month3"/>
          <p:cNvSpPr txBox="1"/>
          <p:nvPr/>
        </p:nvSpPr>
        <p:spPr>
          <a:xfrm>
            <a:off x="8305800" y="28448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C4955A"/>
                </a:solidFill>
                <a:latin typeface="Open Sans"/>
              </a:rPr>
              <a:t>MAY</a:t>
            </a:r>
          </a:p>
        </p:txBody>
      </p:sp>
      <p:sp>
        <p:nvSpPr>
          <p:cNvPr id="222" name="Sess3"/>
          <p:cNvSpPr txBox="1"/>
          <p:nvPr/>
        </p:nvSpPr>
        <p:spPr>
          <a:xfrm>
            <a:off x="8305800" y="3200400"/>
            <a:ext cx="28194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Open Sans"/>
              </a:rPr>
              <a:t>Session 3</a:t>
            </a:r>
          </a:p>
        </p:txBody>
      </p:sp>
      <p:sp>
        <p:nvSpPr>
          <p:cNvPr id="223" name="Head3"/>
          <p:cNvSpPr txBox="1"/>
          <p:nvPr/>
        </p:nvSpPr>
        <p:spPr>
          <a:xfrm>
            <a:off x="8305800" y="3708400"/>
            <a:ext cx="28194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Open Sans"/>
              </a:rPr>
              <a:t>Connectors</a:t>
            </a:r>
          </a:p>
        </p:txBody>
      </p:sp>
      <p:sp>
        <p:nvSpPr>
          <p:cNvPr id="224" name="Body3"/>
          <p:cNvSpPr txBox="1"/>
          <p:nvPr/>
        </p:nvSpPr>
        <p:spPr>
          <a:xfrm>
            <a:off x="8305800" y="4699000"/>
            <a:ext cx="2819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0EDE8"/>
                </a:solidFill>
                <a:latin typeface="Open Sans"/>
              </a:rPr>
              <a:t>Let Claude reach your tools.</a:t>
            </a:r>
          </a:p>
        </p:txBody>
      </p:sp>
      <p:sp>
        <p:nvSpPr>
          <p:cNvPr id="300" name="Arrow0"/>
          <p:cNvSpPr/>
          <p:nvPr/>
        </p:nvSpPr>
        <p:spPr>
          <a:xfrm>
            <a:off x="4203700" y="3987800"/>
            <a:ext cx="165100" cy="152400"/>
          </a:xfrm>
          <a:prstGeom prst="rightArrow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Arrow1"/>
          <p:cNvSpPr/>
          <p:nvPr/>
        </p:nvSpPr>
        <p:spPr>
          <a:xfrm>
            <a:off x="7823200" y="3987800"/>
            <a:ext cx="165100" cy="152400"/>
          </a:xfrm>
          <a:prstGeom prst="rightArrow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425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5DD4-6688-9AD8-7098-6C3891A1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41452"/>
                </a:solidFill>
              </a:rPr>
              <a:t>MCP vs Connectors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97D21-17C4-E24D-89B7-57228F7AF5BA}"/>
              </a:ext>
            </a:extLst>
          </p:cNvPr>
          <p:cNvSpPr txBox="1"/>
          <p:nvPr/>
        </p:nvSpPr>
        <p:spPr>
          <a:xfrm>
            <a:off x="838200" y="1639094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 dirty="0" err="1">
                <a:solidFill>
                  <a:srgbClr val="241452"/>
                </a:solidFill>
              </a:rPr>
              <a:t>Anthropic's</a:t>
            </a:r>
            <a:r>
              <a:rPr lang="en-US" sz="1600" i="1" dirty="0">
                <a:solidFill>
                  <a:srgbClr val="241452"/>
                </a:solidFill>
              </a:rPr>
              <a:t> analogy: MCP is a USB-C port for AI applications. An MCP provides a single, standardized way for different AI models to connect to diverse data sources and tools. </a:t>
            </a:r>
          </a:p>
        </p:txBody>
      </p:sp>
      <p:sp>
        <p:nvSpPr>
          <p:cNvPr id="4" name="MCPCard">
            <a:extLst>
              <a:ext uri="{FF2B5EF4-FFF2-40B4-BE49-F238E27FC236}">
                <a16:creationId xmlns:a16="http://schemas.microsoft.com/office/drawing/2014/main" id="{A2728049-DDA0-F84A-BD00-6FDC9FBC091D}"/>
              </a:ext>
            </a:extLst>
          </p:cNvPr>
          <p:cNvSpPr/>
          <p:nvPr/>
        </p:nvSpPr>
        <p:spPr>
          <a:xfrm>
            <a:off x="838200" y="2603500"/>
            <a:ext cx="5080000" cy="3238500"/>
          </a:xfrm>
          <a:prstGeom prst="roundRect">
            <a:avLst/>
          </a:prstGeom>
          <a:solidFill>
            <a:srgbClr val="F0EDE8"/>
          </a:solidFill>
          <a:ln w="25400" cap="flat" cmpd="sng" algn="ctr">
            <a:solidFill>
              <a:srgbClr val="5B8A7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MCPBar">
            <a:extLst>
              <a:ext uri="{FF2B5EF4-FFF2-40B4-BE49-F238E27FC236}">
                <a16:creationId xmlns:a16="http://schemas.microsoft.com/office/drawing/2014/main" id="{0FE3559B-7713-9D49-B0A6-5BE27211B09F}"/>
              </a:ext>
            </a:extLst>
          </p:cNvPr>
          <p:cNvSpPr/>
          <p:nvPr/>
        </p:nvSpPr>
        <p:spPr>
          <a:xfrm>
            <a:off x="838200" y="2589212"/>
            <a:ext cx="5080000" cy="101600"/>
          </a:xfrm>
          <a:prstGeom prst="rect">
            <a:avLst/>
          </a:prstGeom>
          <a:solidFill>
            <a:srgbClr val="5B8A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A72A3-3AB2-604C-8805-14EF8148D19D}"/>
              </a:ext>
            </a:extLst>
          </p:cNvPr>
          <p:cNvSpPr txBox="1"/>
          <p:nvPr/>
        </p:nvSpPr>
        <p:spPr>
          <a:xfrm>
            <a:off x="1143000" y="2882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8A72"/>
                </a:solidFill>
              </a:rPr>
              <a:t>THE STANDARD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751B8-1D1A-6A47-831B-2FC5E357874D}"/>
              </a:ext>
            </a:extLst>
          </p:cNvPr>
          <p:cNvSpPr txBox="1"/>
          <p:nvPr/>
        </p:nvSpPr>
        <p:spPr>
          <a:xfrm>
            <a:off x="1143000" y="3187700"/>
            <a:ext cx="4470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241452"/>
                </a:solidFill>
              </a:rPr>
              <a:t>MCP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8BCB4-371A-784D-843A-6476CF4C8030}"/>
              </a:ext>
            </a:extLst>
          </p:cNvPr>
          <p:cNvSpPr txBox="1"/>
          <p:nvPr/>
        </p:nvSpPr>
        <p:spPr>
          <a:xfrm>
            <a:off x="11430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Model Context Protocol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B6B67-2712-A944-B93C-105AB7C4B015}"/>
              </a:ext>
            </a:extLst>
          </p:cNvPr>
          <p:cNvSpPr txBox="1"/>
          <p:nvPr/>
        </p:nvSpPr>
        <p:spPr>
          <a:xfrm>
            <a:off x="1143000" y="41783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An open standard from Anthropic that defines how AI applications talk to external systems — the protocol everyone builds against.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BF904-6B94-A943-ABD2-541099F2BA64}"/>
              </a:ext>
            </a:extLst>
          </p:cNvPr>
          <p:cNvSpPr txBox="1"/>
          <p:nvPr/>
        </p:nvSpPr>
        <p:spPr>
          <a:xfrm>
            <a:off x="1143000" y="5270500"/>
            <a:ext cx="4470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5B8A72"/>
                </a:solidFill>
              </a:rPr>
              <a:t>You don't "use" MCP directly. You use connectors built on it.</a:t>
            </a:r>
          </a:p>
        </p:txBody>
      </p:sp>
      <p:sp>
        <p:nvSpPr>
          <p:cNvPr id="11" name="ConCard">
            <a:extLst>
              <a:ext uri="{FF2B5EF4-FFF2-40B4-BE49-F238E27FC236}">
                <a16:creationId xmlns:a16="http://schemas.microsoft.com/office/drawing/2014/main" id="{9B243CC1-B313-224D-9177-15B90B89F427}"/>
              </a:ext>
            </a:extLst>
          </p:cNvPr>
          <p:cNvSpPr/>
          <p:nvPr/>
        </p:nvSpPr>
        <p:spPr>
          <a:xfrm>
            <a:off x="6273800" y="2603500"/>
            <a:ext cx="5080000" cy="3238500"/>
          </a:xfrm>
          <a:prstGeom prst="roundRect">
            <a:avLst/>
          </a:prstGeom>
          <a:solidFill>
            <a:srgbClr val="F0EDE8"/>
          </a:solidFill>
          <a:ln w="25400" cap="flat" cmpd="sng" algn="ctr">
            <a:solidFill>
              <a:srgbClr val="2414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onBar">
            <a:extLst>
              <a:ext uri="{FF2B5EF4-FFF2-40B4-BE49-F238E27FC236}">
                <a16:creationId xmlns:a16="http://schemas.microsoft.com/office/drawing/2014/main" id="{DB0CF494-0A7C-A741-9690-77F6E623570C}"/>
              </a:ext>
            </a:extLst>
          </p:cNvPr>
          <p:cNvSpPr/>
          <p:nvPr/>
        </p:nvSpPr>
        <p:spPr>
          <a:xfrm>
            <a:off x="6273800" y="2589212"/>
            <a:ext cx="5080000" cy="1016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A8C19-0373-B94E-A511-85A48271215F}"/>
              </a:ext>
            </a:extLst>
          </p:cNvPr>
          <p:cNvSpPr txBox="1"/>
          <p:nvPr/>
        </p:nvSpPr>
        <p:spPr>
          <a:xfrm>
            <a:off x="6578600" y="2882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</a:rPr>
              <a:t>THE IMPLEMENTATION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545C8-3DEA-C547-8FD1-3242CA698C00}"/>
              </a:ext>
            </a:extLst>
          </p:cNvPr>
          <p:cNvSpPr txBox="1"/>
          <p:nvPr/>
        </p:nvSpPr>
        <p:spPr>
          <a:xfrm>
            <a:off x="6578600" y="3187700"/>
            <a:ext cx="4470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241452"/>
                </a:solidFill>
              </a:rPr>
              <a:t>Connectors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B917C-8CE9-8341-B3C0-CD051664DB13}"/>
              </a:ext>
            </a:extLst>
          </p:cNvPr>
          <p:cNvSpPr txBox="1"/>
          <p:nvPr/>
        </p:nvSpPr>
        <p:spPr>
          <a:xfrm>
            <a:off x="65786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MCP servers for specific tools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FE96A-3686-5744-A29B-8136D55D2F18}"/>
              </a:ext>
            </a:extLst>
          </p:cNvPr>
          <p:cNvSpPr txBox="1"/>
          <p:nvPr/>
        </p:nvSpPr>
        <p:spPr>
          <a:xfrm>
            <a:off x="6578600" y="41783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Concrete MCP servers — one per tool — that let Claude read from and write to Notion, Slack, GitHub, your internal systems, etc.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F96AF-D497-D842-BDF9-590CE1230D0E}"/>
              </a:ext>
            </a:extLst>
          </p:cNvPr>
          <p:cNvSpPr txBox="1"/>
          <p:nvPr/>
        </p:nvSpPr>
        <p:spPr>
          <a:xfrm>
            <a:off x="6578600" y="5270500"/>
            <a:ext cx="4470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241452"/>
                </a:solidFill>
              </a:rPr>
              <a:t>This is what you install, configure, and click "Connect" 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EA5DB-0ECA-D946-8858-64AF6C2CB0B1}"/>
              </a:ext>
            </a:extLst>
          </p:cNvPr>
          <p:cNvSpPr txBox="1"/>
          <p:nvPr/>
        </p:nvSpPr>
        <p:spPr>
          <a:xfrm>
            <a:off x="838200" y="60960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41452"/>
                </a:solidFill>
              </a:rPr>
              <a:t>→  MCP is the spec. Connectors are how you actually plug Claude into your stack.</a:t>
            </a:r>
          </a:p>
        </p:txBody>
      </p:sp>
    </p:spTree>
    <p:extLst>
      <p:ext uri="{BB962C8B-B14F-4D97-AF65-F5344CB8AC3E}">
        <p14:creationId xmlns:p14="http://schemas.microsoft.com/office/powerpoint/2010/main" val="174604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D771-3823-D8B6-6632-2544A8ED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Claude is powerful, but isolated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THE PROBLEM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200" name="Hub"/>
          <p:cNvSpPr/>
          <p:nvPr/>
        </p:nvSpPr>
        <p:spPr>
          <a:xfrm>
            <a:off x="1270000" y="3175000"/>
            <a:ext cx="2159000" cy="1143000"/>
          </a:xfrm>
          <a:prstGeom prst="round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HubText"/>
          <p:cNvSpPr txBox="1"/>
          <p:nvPr/>
        </p:nvSpPr>
        <p:spPr>
          <a:xfrm>
            <a:off x="1270000" y="3175000"/>
            <a:ext cx="2159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  <a:latin typeface="Open Sans"/>
              </a:rPr>
              <a:t>Claude</a:t>
            </a:r>
          </a:p>
          <a:p>
            <a:pPr algn="ctr">
              <a:buNone/>
            </a:pPr>
            <a:r>
              <a:rPr lang="en-US" sz="1100" dirty="0">
                <a:solidFill>
                  <a:srgbClr val="C4955A"/>
                </a:solidFill>
                <a:latin typeface="Open Sans"/>
              </a:rPr>
              <a:t>can only see what you paste in</a:t>
            </a:r>
          </a:p>
        </p:txBody>
      </p:sp>
      <p:sp>
        <p:nvSpPr>
          <p:cNvPr id="300" name="Tool0"/>
          <p:cNvSpPr/>
          <p:nvPr/>
        </p:nvSpPr>
        <p:spPr>
          <a:xfrm>
            <a:off x="5207000" y="2540000"/>
            <a:ext cx="1905000" cy="76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oolName0"/>
          <p:cNvSpPr txBox="1"/>
          <p:nvPr/>
        </p:nvSpPr>
        <p:spPr>
          <a:xfrm>
            <a:off x="5664200" y="25400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A1A2E"/>
                </a:solidFill>
                <a:latin typeface="Open Sans"/>
              </a:rPr>
              <a:t>Notion</a:t>
            </a:r>
          </a:p>
        </p:txBody>
      </p:sp>
      <p:sp>
        <p:nvSpPr>
          <p:cNvPr id="310" name="Tool1"/>
          <p:cNvSpPr/>
          <p:nvPr/>
        </p:nvSpPr>
        <p:spPr>
          <a:xfrm>
            <a:off x="7302500" y="2540000"/>
            <a:ext cx="1905000" cy="76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ToolName1"/>
          <p:cNvSpPr txBox="1"/>
          <p:nvPr/>
        </p:nvSpPr>
        <p:spPr>
          <a:xfrm>
            <a:off x="7759700" y="25400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A1A2E"/>
                </a:solidFill>
                <a:latin typeface="Open Sans"/>
              </a:rPr>
              <a:t>Slack</a:t>
            </a:r>
          </a:p>
        </p:txBody>
      </p:sp>
      <p:sp>
        <p:nvSpPr>
          <p:cNvPr id="320" name="Tool2"/>
          <p:cNvSpPr/>
          <p:nvPr/>
        </p:nvSpPr>
        <p:spPr>
          <a:xfrm>
            <a:off x="9398000" y="2540000"/>
            <a:ext cx="1905000" cy="76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ToolName2"/>
          <p:cNvSpPr txBox="1"/>
          <p:nvPr/>
        </p:nvSpPr>
        <p:spPr>
          <a:xfrm>
            <a:off x="9855200" y="25400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A1A2E"/>
                </a:solidFill>
                <a:latin typeface="Open Sans"/>
              </a:rPr>
              <a:t>Google Drive</a:t>
            </a:r>
          </a:p>
        </p:txBody>
      </p:sp>
      <p:sp>
        <p:nvSpPr>
          <p:cNvPr id="330" name="Tool3"/>
          <p:cNvSpPr/>
          <p:nvPr/>
        </p:nvSpPr>
        <p:spPr>
          <a:xfrm>
            <a:off x="5207000" y="3492500"/>
            <a:ext cx="1905000" cy="76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ToolName3"/>
          <p:cNvSpPr txBox="1"/>
          <p:nvPr/>
        </p:nvSpPr>
        <p:spPr>
          <a:xfrm>
            <a:off x="5664200" y="34925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4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340" name="Tool4"/>
          <p:cNvSpPr/>
          <p:nvPr/>
        </p:nvSpPr>
        <p:spPr>
          <a:xfrm>
            <a:off x="7302500" y="3492500"/>
            <a:ext cx="1905000" cy="76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ToolName4"/>
          <p:cNvSpPr txBox="1"/>
          <p:nvPr/>
        </p:nvSpPr>
        <p:spPr>
          <a:xfrm>
            <a:off x="7759700" y="34925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A1A2E"/>
                </a:solidFill>
                <a:latin typeface="Open Sans"/>
              </a:rPr>
              <a:t>Help Scout</a:t>
            </a:r>
          </a:p>
        </p:txBody>
      </p:sp>
      <p:sp>
        <p:nvSpPr>
          <p:cNvPr id="350" name="Tool5"/>
          <p:cNvSpPr/>
          <p:nvPr/>
        </p:nvSpPr>
        <p:spPr>
          <a:xfrm>
            <a:off x="9398000" y="3492500"/>
            <a:ext cx="1905000" cy="76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ToolName5"/>
          <p:cNvSpPr txBox="1"/>
          <p:nvPr/>
        </p:nvSpPr>
        <p:spPr>
          <a:xfrm>
            <a:off x="9855200" y="3492500"/>
            <a:ext cx="127000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1A1A2E"/>
                </a:solidFill>
                <a:latin typeface="Open Sans"/>
              </a:rPr>
              <a:t>Databases</a:t>
            </a:r>
          </a:p>
        </p:txBody>
      </p:sp>
      <p:sp>
        <p:nvSpPr>
          <p:cNvPr id="400" name="Gap"/>
          <p:cNvSpPr txBox="1"/>
          <p:nvPr/>
        </p:nvSpPr>
        <p:spPr>
          <a:xfrm>
            <a:off x="3556000" y="3492500"/>
            <a:ext cx="152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i="1" dirty="0">
                <a:solidFill>
                  <a:srgbClr val="A0A0AE"/>
                </a:solidFill>
                <a:latin typeface="Open Sans"/>
              </a:rPr>
              <a:t>✕  ✕  ✕</a:t>
            </a:r>
          </a:p>
          <a:p>
            <a:pPr algn="ctr">
              <a:buNone/>
            </a:pPr>
            <a:r>
              <a:rPr lang="en-US" sz="1100" i="1" dirty="0">
                <a:solidFill>
                  <a:srgbClr val="A0A0AE"/>
                </a:solidFill>
                <a:latin typeface="Open Sans"/>
              </a:rPr>
              <a:t>no connection</a:t>
            </a:r>
          </a:p>
        </p:txBody>
      </p:sp>
      <p:sp>
        <p:nvSpPr>
          <p:cNvPr id="500" name="Takeaway"/>
          <p:cNvSpPr txBox="1"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4A4A5E"/>
                </a:solidFill>
                <a:latin typeface="Open Sans"/>
              </a:rPr>
              <a:t>Every copy-paste is integration work you’re doing by hand.</a:t>
            </a:r>
          </a:p>
        </p:txBody>
      </p:sp>
      <p:pic>
        <p:nvPicPr>
          <p:cNvPr id="501" name="Graphic 501" descr="No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6700" y="2781300"/>
            <a:ext cx="279400" cy="279400"/>
          </a:xfrm>
          <a:prstGeom prst="rect">
            <a:avLst/>
          </a:prstGeom>
        </p:spPr>
      </p:pic>
      <p:pic>
        <p:nvPicPr>
          <p:cNvPr id="502" name="Graphic 502" descr="Slack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2200" y="2781300"/>
            <a:ext cx="279400" cy="279400"/>
          </a:xfrm>
          <a:prstGeom prst="rect">
            <a:avLst/>
          </a:prstGeom>
        </p:spPr>
      </p:pic>
      <p:pic>
        <p:nvPicPr>
          <p:cNvPr id="503" name="Graphic 503" descr="Google Driv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7700" y="2781300"/>
            <a:ext cx="279400" cy="279400"/>
          </a:xfrm>
          <a:prstGeom prst="rect">
            <a:avLst/>
          </a:prstGeom>
        </p:spPr>
      </p:pic>
      <p:pic>
        <p:nvPicPr>
          <p:cNvPr id="504" name="Graphic 504" descr="GitHub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6700" y="3733800"/>
            <a:ext cx="279400" cy="279400"/>
          </a:xfrm>
          <a:prstGeom prst="rect">
            <a:avLst/>
          </a:prstGeom>
        </p:spPr>
      </p:pic>
      <p:pic>
        <p:nvPicPr>
          <p:cNvPr id="506" name="Graphic 506" descr="Databas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7700" y="3733800"/>
            <a:ext cx="279400" cy="279400"/>
          </a:xfrm>
          <a:prstGeom prst="rect">
            <a:avLst/>
          </a:prstGeom>
        </p:spPr>
      </p:pic>
      <p:pic>
        <p:nvPicPr>
          <p:cNvPr id="507" name="Graphic 507" descr="Hel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2200" y="37338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9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8D80-AC86-EB57-3A75-962EB363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Connectors let Claude use your tools directly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WHAT ARE CONNECTORS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ClaudeBox"/>
          <p:cNvSpPr/>
          <p:nvPr/>
        </p:nvSpPr>
        <p:spPr>
          <a:xfrm>
            <a:off x="1778000" y="2222500"/>
            <a:ext cx="2286000" cy="889000"/>
          </a:xfrm>
          <a:prstGeom prst="roundRect">
            <a:avLst/>
          </a:prstGeom>
          <a:solidFill>
            <a:srgbClr val="241452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/>
              </a:rPr>
              <a:t>Claude</a:t>
            </a:r>
          </a:p>
        </p:txBody>
      </p:sp>
      <p:sp>
        <p:nvSpPr>
          <p:cNvPr id="111" name="ConnBox"/>
          <p:cNvSpPr/>
          <p:nvPr/>
        </p:nvSpPr>
        <p:spPr>
          <a:xfrm>
            <a:off x="4953000" y="2222500"/>
            <a:ext cx="2286000" cy="889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241452"/>
                </a:solidFill>
                <a:latin typeface="Open Sans"/>
              </a:rPr>
              <a:t>Connector</a:t>
            </a:r>
          </a:p>
        </p:txBody>
      </p:sp>
      <p:sp>
        <p:nvSpPr>
          <p:cNvPr id="112" name="ToolBox"/>
          <p:cNvSpPr/>
          <p:nvPr/>
        </p:nvSpPr>
        <p:spPr>
          <a:xfrm>
            <a:off x="8128000" y="2222500"/>
            <a:ext cx="2286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7D9A"/>
            </a:solidFill>
          </a:ln>
        </p:spPr>
        <p:txBody>
          <a:bodyPr wrap="square" lIns="101600" tIns="76200" rIns="101600" bIns="76200" anchor="ctr"/>
          <a:lstStyle/>
          <a:p>
            <a:pPr algn="ctr">
              <a:lnSpc>
                <a:spcPts val="14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External tool</a:t>
            </a:r>
            <a:br>
              <a:rPr lang="en-US" sz="1400" dirty="0"/>
            </a:br>
            <a:r>
              <a:rPr lang="en-US" sz="1200" dirty="0">
                <a:solidFill>
                  <a:schemeClr val="tx1"/>
                </a:solidFill>
              </a:rPr>
              <a:t>Notion, Slack, GitHub…</a:t>
            </a:r>
          </a:p>
        </p:txBody>
      </p:sp>
      <p:sp>
        <p:nvSpPr>
          <p:cNvPr id="201" name="B1"/>
          <p:cNvSpPr/>
          <p:nvPr/>
        </p:nvSpPr>
        <p:spPr>
          <a:xfrm>
            <a:off x="762000" y="3873500"/>
            <a:ext cx="5080000" cy="889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txBody>
          <a:bodyPr wrap="square" lIns="228600" tIns="127000" rIns="228600" bIns="127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1452"/>
                </a:solidFill>
                <a:latin typeface="Open Sans"/>
              </a:rPr>
              <a:t>→  </a:t>
            </a:r>
            <a:r>
              <a:rPr lang="en-US" sz="1500" dirty="0">
                <a:solidFill>
                  <a:srgbClr val="1A1A2E"/>
                </a:solidFill>
                <a:latin typeface="Open Sans"/>
              </a:rPr>
              <a:t>Claude reads from and writes to external tools</a:t>
            </a:r>
          </a:p>
        </p:txBody>
      </p:sp>
      <p:sp>
        <p:nvSpPr>
          <p:cNvPr id="202" name="B2"/>
          <p:cNvSpPr/>
          <p:nvPr/>
        </p:nvSpPr>
        <p:spPr>
          <a:xfrm>
            <a:off x="6350000" y="3873500"/>
            <a:ext cx="5080000" cy="889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txBody>
          <a:bodyPr wrap="square" lIns="228600" tIns="127000" rIns="228600" bIns="127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1452"/>
                </a:solidFill>
                <a:latin typeface="Open Sans"/>
              </a:rPr>
              <a:t>→  </a:t>
            </a:r>
            <a:r>
              <a:rPr lang="en-US" sz="1500" dirty="0">
                <a:solidFill>
                  <a:srgbClr val="1A1A2E"/>
                </a:solidFill>
                <a:latin typeface="Open Sans"/>
              </a:rPr>
              <a:t>Built on MCP (Model Context Protocol) — an open standard</a:t>
            </a:r>
          </a:p>
        </p:txBody>
      </p:sp>
      <p:sp>
        <p:nvSpPr>
          <p:cNvPr id="203" name="B3"/>
          <p:cNvSpPr/>
          <p:nvPr/>
        </p:nvSpPr>
        <p:spPr>
          <a:xfrm>
            <a:off x="762000" y="4940300"/>
            <a:ext cx="5080000" cy="889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txBody>
          <a:bodyPr wrap="square" lIns="228600" tIns="127000" rIns="228600" bIns="127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1452"/>
                </a:solidFill>
                <a:latin typeface="Open Sans"/>
              </a:rPr>
              <a:t>→  </a:t>
            </a:r>
            <a:r>
              <a:rPr lang="en-US" sz="1500" dirty="0">
                <a:solidFill>
                  <a:srgbClr val="1A1A2E"/>
                </a:solidFill>
                <a:latin typeface="Open Sans"/>
              </a:rPr>
              <a:t>200+ pre-built connectors in the directory</a:t>
            </a:r>
          </a:p>
        </p:txBody>
      </p:sp>
      <p:sp>
        <p:nvSpPr>
          <p:cNvPr id="204" name="B4"/>
          <p:cNvSpPr/>
          <p:nvPr/>
        </p:nvSpPr>
        <p:spPr>
          <a:xfrm>
            <a:off x="6350000" y="4940300"/>
            <a:ext cx="5080000" cy="889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txBody>
          <a:bodyPr wrap="square" lIns="228600" tIns="127000" rIns="228600" bIns="12700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1452"/>
                </a:solidFill>
                <a:latin typeface="Open Sans"/>
              </a:rPr>
              <a:t>→  </a:t>
            </a:r>
            <a:r>
              <a:rPr lang="en-US" sz="1500" dirty="0">
                <a:solidFill>
                  <a:srgbClr val="1A1A2E"/>
                </a:solidFill>
                <a:latin typeface="Open Sans"/>
              </a:rPr>
              <a:t>Build custom connectors for your internal tools</a:t>
            </a:r>
          </a:p>
        </p:txBody>
      </p:sp>
      <p:sp>
        <p:nvSpPr>
          <p:cNvPr id="3" name="Arr1">
            <a:extLst>
              <a:ext uri="{FF2B5EF4-FFF2-40B4-BE49-F238E27FC236}">
                <a16:creationId xmlns:a16="http://schemas.microsoft.com/office/drawing/2014/main" id="{321376D5-B404-6B4D-8330-A7FA9C4EDFAB}"/>
              </a:ext>
            </a:extLst>
          </p:cNvPr>
          <p:cNvSpPr/>
          <p:nvPr/>
        </p:nvSpPr>
        <p:spPr>
          <a:xfrm>
            <a:off x="4064000" y="2578100"/>
            <a:ext cx="889000" cy="177800"/>
          </a:xfrm>
          <a:prstGeom prst="leftRightArrow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Arr2">
            <a:extLst>
              <a:ext uri="{FF2B5EF4-FFF2-40B4-BE49-F238E27FC236}">
                <a16:creationId xmlns:a16="http://schemas.microsoft.com/office/drawing/2014/main" id="{C81B802C-47E0-B74B-B838-62F4031646B2}"/>
              </a:ext>
            </a:extLst>
          </p:cNvPr>
          <p:cNvSpPr/>
          <p:nvPr/>
        </p:nvSpPr>
        <p:spPr>
          <a:xfrm>
            <a:off x="7239000" y="2578100"/>
            <a:ext cx="889000" cy="177800"/>
          </a:xfrm>
          <a:prstGeom prst="leftRightArrow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4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BBEE-A69D-90A2-6886-FD190E77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Available everywhere Claude runs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WHERE THEY RUN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1714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5A7D9A"/>
                </a:solidFill>
                <a:latin typeface="Open Sans"/>
              </a:rPr>
              <a:t>Same protocol, four surfaces. Setup differs slightly; the concept is the same.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2476500"/>
            <a:ext cx="50800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1"/>
          <p:cNvSpPr/>
          <p:nvPr/>
        </p:nvSpPr>
        <p:spPr>
          <a:xfrm>
            <a:off x="762000" y="2476500"/>
            <a:ext cx="76200" cy="16510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202"/>
          <p:cNvSpPr txBox="1"/>
          <p:nvPr/>
        </p:nvSpPr>
        <p:spPr>
          <a:xfrm>
            <a:off x="1066800" y="27559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Claude.ai (Web)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066800" y="32385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Built-in Connectors Directory — toggle on from settings</a:t>
            </a:r>
          </a:p>
        </p:txBody>
      </p:sp>
      <p:sp>
        <p:nvSpPr>
          <p:cNvPr id="204" name="S204"/>
          <p:cNvSpPr/>
          <p:nvPr/>
        </p:nvSpPr>
        <p:spPr>
          <a:xfrm>
            <a:off x="6096000" y="2476500"/>
            <a:ext cx="50800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S205"/>
          <p:cNvSpPr/>
          <p:nvPr/>
        </p:nvSpPr>
        <p:spPr>
          <a:xfrm>
            <a:off x="6096000" y="2476500"/>
            <a:ext cx="76200" cy="16510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206"/>
          <p:cNvSpPr txBox="1"/>
          <p:nvPr/>
        </p:nvSpPr>
        <p:spPr>
          <a:xfrm>
            <a:off x="6400800" y="27559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Claude Desktop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6400800" y="32385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Connectors + Extensions for local MCP servers</a:t>
            </a:r>
          </a:p>
        </p:txBody>
      </p:sp>
      <p:sp>
        <p:nvSpPr>
          <p:cNvPr id="208" name="S208"/>
          <p:cNvSpPr/>
          <p:nvPr/>
        </p:nvSpPr>
        <p:spPr>
          <a:xfrm>
            <a:off x="762000" y="4356100"/>
            <a:ext cx="50800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S209"/>
          <p:cNvSpPr/>
          <p:nvPr/>
        </p:nvSpPr>
        <p:spPr>
          <a:xfrm>
            <a:off x="762000" y="4356100"/>
            <a:ext cx="76200" cy="1651000"/>
          </a:xfrm>
          <a:prstGeom prst="rect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210"/>
          <p:cNvSpPr txBox="1"/>
          <p:nvPr/>
        </p:nvSpPr>
        <p:spPr>
          <a:xfrm>
            <a:off x="1066800" y="46355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Claude Code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1066800" y="51181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Configure per-project in .claude/settings.json or user</a:t>
            </a:r>
          </a:p>
        </p:txBody>
      </p:sp>
      <p:sp>
        <p:nvSpPr>
          <p:cNvPr id="212" name="S212"/>
          <p:cNvSpPr/>
          <p:nvPr/>
        </p:nvSpPr>
        <p:spPr>
          <a:xfrm>
            <a:off x="6096000" y="4356100"/>
            <a:ext cx="50800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213"/>
          <p:cNvSpPr/>
          <p:nvPr/>
        </p:nvSpPr>
        <p:spPr>
          <a:xfrm>
            <a:off x="6096000" y="4356100"/>
            <a:ext cx="76200" cy="1651000"/>
          </a:xfrm>
          <a:prstGeom prst="rect">
            <a:avLst/>
          </a:prstGeom>
          <a:solidFill>
            <a:srgbClr val="7B6B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214"/>
          <p:cNvSpPr txBox="1"/>
          <p:nvPr/>
        </p:nvSpPr>
        <p:spPr>
          <a:xfrm>
            <a:off x="6400800" y="46355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Claude API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6400800" y="51181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MCP Connector parameter for programmatic agents</a:t>
            </a:r>
          </a:p>
        </p:txBody>
      </p:sp>
    </p:spTree>
    <p:extLst>
      <p:ext uri="{BB962C8B-B14F-4D97-AF65-F5344CB8AC3E}">
        <p14:creationId xmlns:p14="http://schemas.microsoft.com/office/powerpoint/2010/main" val="36600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26A4-9923-3019-2C7D-DAF8F3D4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241452"/>
                </a:solidFill>
              </a:rPr>
              <a:t>Setup once, then use every day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0E7F95B1-B23F-6847-92DD-0F728ECB51B8}"/>
              </a:ext>
            </a:extLst>
          </p:cNvPr>
          <p:cNvSpPr txBox="1"/>
          <p:nvPr/>
        </p:nvSpPr>
        <p:spPr>
          <a:xfrm>
            <a:off x="838200" y="1841500"/>
            <a:ext cx="10515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5B8A72"/>
                </a:solidFill>
              </a:rPr>
              <a:t>HOW WE ACTUALLY USE THEM</a:t>
            </a:r>
          </a:p>
        </p:txBody>
      </p:sp>
      <p:sp>
        <p:nvSpPr>
          <p:cNvPr id="4" name="LeftCard">
            <a:extLst>
              <a:ext uri="{FF2B5EF4-FFF2-40B4-BE49-F238E27FC236}">
                <a16:creationId xmlns:a16="http://schemas.microsoft.com/office/drawing/2014/main" id="{517539F7-9572-AB4C-AF93-19EE480E8756}"/>
              </a:ext>
            </a:extLst>
          </p:cNvPr>
          <p:cNvSpPr/>
          <p:nvPr/>
        </p:nvSpPr>
        <p:spPr>
          <a:xfrm>
            <a:off x="838200" y="2286000"/>
            <a:ext cx="5080000" cy="2921000"/>
          </a:xfrm>
          <a:prstGeom prst="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LeftBar">
            <a:extLst>
              <a:ext uri="{FF2B5EF4-FFF2-40B4-BE49-F238E27FC236}">
                <a16:creationId xmlns:a16="http://schemas.microsoft.com/office/drawing/2014/main" id="{9CC7C0EB-C8D8-5C44-8CA7-4CD3C67D826C}"/>
              </a:ext>
            </a:extLst>
          </p:cNvPr>
          <p:cNvSpPr/>
          <p:nvPr/>
        </p:nvSpPr>
        <p:spPr>
          <a:xfrm>
            <a:off x="838200" y="2286000"/>
            <a:ext cx="76200" cy="2921000"/>
          </a:xfrm>
          <a:prstGeom prst="rect">
            <a:avLst/>
          </a:prstGeom>
          <a:solidFill>
            <a:srgbClr val="5B8A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eftKicker">
            <a:extLst>
              <a:ext uri="{FF2B5EF4-FFF2-40B4-BE49-F238E27FC236}">
                <a16:creationId xmlns:a16="http://schemas.microsoft.com/office/drawing/2014/main" id="{662C4520-6842-1B4B-AD3A-8E5D32AD860B}"/>
              </a:ext>
            </a:extLst>
          </p:cNvPr>
          <p:cNvSpPr txBox="1"/>
          <p:nvPr/>
        </p:nvSpPr>
        <p:spPr>
          <a:xfrm>
            <a:off x="1143000" y="2489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5B8A72"/>
                </a:solidFill>
              </a:rPr>
              <a:t>ONE-TIME</a:t>
            </a:r>
          </a:p>
        </p:txBody>
      </p:sp>
      <p:sp>
        <p:nvSpPr>
          <p:cNvPr id="7" name="LeftTitle">
            <a:extLst>
              <a:ext uri="{FF2B5EF4-FFF2-40B4-BE49-F238E27FC236}">
                <a16:creationId xmlns:a16="http://schemas.microsoft.com/office/drawing/2014/main" id="{B4DCD77D-C168-0C4E-85DD-0931A2585871}"/>
              </a:ext>
            </a:extLst>
          </p:cNvPr>
          <p:cNvSpPr txBox="1"/>
          <p:nvPr/>
        </p:nvSpPr>
        <p:spPr>
          <a:xfrm>
            <a:off x="1143000" y="27305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241452"/>
                </a:solidFill>
              </a:rPr>
              <a:t>Setup</a:t>
            </a:r>
          </a:p>
        </p:txBody>
      </p:sp>
      <p:sp>
        <p:nvSpPr>
          <p:cNvPr id="8" name="LeftBody">
            <a:extLst>
              <a:ext uri="{FF2B5EF4-FFF2-40B4-BE49-F238E27FC236}">
                <a16:creationId xmlns:a16="http://schemas.microsoft.com/office/drawing/2014/main" id="{EDBAAC9B-02A3-2C4F-99A4-70B301D8EE4E}"/>
              </a:ext>
            </a:extLst>
          </p:cNvPr>
          <p:cNvSpPr txBox="1"/>
          <p:nvPr/>
        </p:nvSpPr>
        <p:spPr>
          <a:xfrm>
            <a:off x="1143000" y="3276600"/>
            <a:ext cx="4572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US" sz="1500" b="1" dirty="0">
                <a:solidFill>
                  <a:srgbClr val="241452"/>
                </a:solidFill>
              </a:rPr>
              <a:t>Team Leaders </a:t>
            </a:r>
            <a:r>
              <a:rPr lang="en-US" sz="1500" dirty="0">
                <a:solidFill>
                  <a:srgbClr val="241452"/>
                </a:solidFill>
              </a:rPr>
              <a:t>configure connectors in our Cowork workspace</a:t>
            </a:r>
          </a:p>
          <a:p>
            <a:pPr marL="171450" indent="-17145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41452"/>
                </a:solidFill>
              </a:rPr>
              <a:t>Notion, Slack, QuickBooks — authenticated once, scoped to the team</a:t>
            </a:r>
          </a:p>
          <a:p>
            <a:pPr marL="171450" indent="-171450">
              <a:lnSpc>
                <a:spcPts val="1900"/>
              </a:lnSpc>
              <a:buFont typeface="Arial"/>
              <a:buChar char="•"/>
            </a:pPr>
            <a:r>
              <a:rPr lang="en-US" sz="1500" dirty="0">
                <a:solidFill>
                  <a:srgbClr val="241452"/>
                </a:solidFill>
              </a:rPr>
              <a:t>Every Cowork session now has access</a:t>
            </a:r>
          </a:p>
        </p:txBody>
      </p:sp>
      <p:sp>
        <p:nvSpPr>
          <p:cNvPr id="9" name="RightCard">
            <a:extLst>
              <a:ext uri="{FF2B5EF4-FFF2-40B4-BE49-F238E27FC236}">
                <a16:creationId xmlns:a16="http://schemas.microsoft.com/office/drawing/2014/main" id="{D9916D85-0DF5-034B-93B0-1694E94DB235}"/>
              </a:ext>
            </a:extLst>
          </p:cNvPr>
          <p:cNvSpPr/>
          <p:nvPr/>
        </p:nvSpPr>
        <p:spPr>
          <a:xfrm>
            <a:off x="6273800" y="2286000"/>
            <a:ext cx="5080000" cy="2921000"/>
          </a:xfrm>
          <a:prstGeom prst="rect">
            <a:avLst/>
          </a:prstGeom>
          <a:solidFill>
            <a:srgbClr val="F0ED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ightBar">
            <a:extLst>
              <a:ext uri="{FF2B5EF4-FFF2-40B4-BE49-F238E27FC236}">
                <a16:creationId xmlns:a16="http://schemas.microsoft.com/office/drawing/2014/main" id="{376A7DC7-220C-644B-A1AA-39499CC14D9E}"/>
              </a:ext>
            </a:extLst>
          </p:cNvPr>
          <p:cNvSpPr/>
          <p:nvPr/>
        </p:nvSpPr>
        <p:spPr>
          <a:xfrm>
            <a:off x="6273800" y="2286000"/>
            <a:ext cx="76200" cy="29210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Kicker">
            <a:extLst>
              <a:ext uri="{FF2B5EF4-FFF2-40B4-BE49-F238E27FC236}">
                <a16:creationId xmlns:a16="http://schemas.microsoft.com/office/drawing/2014/main" id="{22734CCD-C0AC-7241-B479-5356D98AA293}"/>
              </a:ext>
            </a:extLst>
          </p:cNvPr>
          <p:cNvSpPr txBox="1"/>
          <p:nvPr/>
        </p:nvSpPr>
        <p:spPr>
          <a:xfrm>
            <a:off x="6578600" y="2489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241452"/>
                </a:solidFill>
              </a:rPr>
              <a:t>EVERY DAY</a:t>
            </a:r>
          </a:p>
        </p:txBody>
      </p:sp>
      <p:sp>
        <p:nvSpPr>
          <p:cNvPr id="12" name="RightTitle">
            <a:extLst>
              <a:ext uri="{FF2B5EF4-FFF2-40B4-BE49-F238E27FC236}">
                <a16:creationId xmlns:a16="http://schemas.microsoft.com/office/drawing/2014/main" id="{EEF50937-F014-734C-9B5B-1C3CBDD53AC4}"/>
              </a:ext>
            </a:extLst>
          </p:cNvPr>
          <p:cNvSpPr txBox="1"/>
          <p:nvPr/>
        </p:nvSpPr>
        <p:spPr>
          <a:xfrm>
            <a:off x="6578600" y="27305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241452"/>
                </a:solidFill>
              </a:rPr>
              <a:t>Daily use</a:t>
            </a:r>
          </a:p>
        </p:txBody>
      </p:sp>
      <p:sp>
        <p:nvSpPr>
          <p:cNvPr id="13" name="RightBody">
            <a:extLst>
              <a:ext uri="{FF2B5EF4-FFF2-40B4-BE49-F238E27FC236}">
                <a16:creationId xmlns:a16="http://schemas.microsoft.com/office/drawing/2014/main" id="{42A08CAA-B561-0142-96B0-8F6BA84F67EE}"/>
              </a:ext>
            </a:extLst>
          </p:cNvPr>
          <p:cNvSpPr txBox="1"/>
          <p:nvPr/>
        </p:nvSpPr>
        <p:spPr>
          <a:xfrm>
            <a:off x="6578600" y="3276600"/>
            <a:ext cx="4572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US" sz="1500" b="1" dirty="0">
                <a:solidFill>
                  <a:srgbClr val="241452"/>
                </a:solidFill>
              </a:rPr>
              <a:t>The whole team</a:t>
            </a:r>
            <a:r>
              <a:rPr lang="en-US" sz="1500" dirty="0">
                <a:solidFill>
                  <a:srgbClr val="241452"/>
                </a:solidFill>
              </a:rPr>
              <a:t>, in every Claude session</a:t>
            </a:r>
          </a:p>
          <a:p>
            <a:pPr marL="171450" indent="-171450">
              <a:lnSpc>
                <a:spcPts val="1900"/>
              </a:lnSpc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41452"/>
                </a:solidFill>
              </a:rPr>
              <a:t>Read context, do the work, write results back through the same connector</a:t>
            </a:r>
          </a:p>
          <a:p>
            <a:pPr marL="171450" indent="-171450">
              <a:lnSpc>
                <a:spcPts val="1900"/>
              </a:lnSpc>
              <a:buFont typeface="Arial"/>
              <a:buChar char="•"/>
            </a:pPr>
            <a:r>
              <a:rPr lang="en-US" sz="1500" dirty="0">
                <a:solidFill>
                  <a:srgbClr val="241452"/>
                </a:solidFill>
              </a:rPr>
              <a:t>Claude participates in the workflow — no copy-paste handoff</a:t>
            </a:r>
          </a:p>
        </p:txBody>
      </p:sp>
      <p:sp>
        <p:nvSpPr>
          <p:cNvPr id="14" name="ExBand">
            <a:extLst>
              <a:ext uri="{FF2B5EF4-FFF2-40B4-BE49-F238E27FC236}">
                <a16:creationId xmlns:a16="http://schemas.microsoft.com/office/drawing/2014/main" id="{5414E0C2-6752-584A-84E5-9BE0CF062228}"/>
              </a:ext>
            </a:extLst>
          </p:cNvPr>
          <p:cNvSpPr/>
          <p:nvPr/>
        </p:nvSpPr>
        <p:spPr>
          <a:xfrm>
            <a:off x="838200" y="5461000"/>
            <a:ext cx="10515600" cy="10160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ExLabel">
            <a:extLst>
              <a:ext uri="{FF2B5EF4-FFF2-40B4-BE49-F238E27FC236}">
                <a16:creationId xmlns:a16="http://schemas.microsoft.com/office/drawing/2014/main" id="{8F68F108-A9FA-B947-8E00-A88C4D7227ED}"/>
              </a:ext>
            </a:extLst>
          </p:cNvPr>
          <p:cNvSpPr txBox="1"/>
          <p:nvPr/>
        </p:nvSpPr>
        <p:spPr>
          <a:xfrm>
            <a:off x="1092200" y="56134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</a:rPr>
              <a:t>IN PRACTICE — NOTION CONNECTOR</a:t>
            </a:r>
          </a:p>
        </p:txBody>
      </p:sp>
      <p:sp>
        <p:nvSpPr>
          <p:cNvPr id="16" name="ExBody">
            <a:extLst>
              <a:ext uri="{FF2B5EF4-FFF2-40B4-BE49-F238E27FC236}">
                <a16:creationId xmlns:a16="http://schemas.microsoft.com/office/drawing/2014/main" id="{A9BD0476-E119-BA40-8121-B535D60605BA}"/>
              </a:ext>
            </a:extLst>
          </p:cNvPr>
          <p:cNvSpPr txBox="1"/>
          <p:nvPr/>
        </p:nvSpPr>
        <p:spPr>
          <a:xfrm>
            <a:off x="1092200" y="5842000"/>
            <a:ext cx="10007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Claude pulls open tasks from Notion → does the work → updates task status back in Notion. One connector, both directions, no manual handoff.</a:t>
            </a:r>
          </a:p>
        </p:txBody>
      </p:sp>
    </p:spTree>
    <p:extLst>
      <p:ext uri="{BB962C8B-B14F-4D97-AF65-F5344CB8AC3E}">
        <p14:creationId xmlns:p14="http://schemas.microsoft.com/office/powerpoint/2010/main" val="420874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72D3FF-1FF0-C200-6371-3FE889330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0"/>
            <a:ext cx="4459202" cy="3683000"/>
          </a:xfrm>
          <a:prstGeom prst="rect">
            <a:avLst/>
          </a:prstGeom>
        </p:spPr>
      </p:pic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KNOW WHAT'S CONNECTED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241452"/>
                </a:solidFill>
                <a:latin typeface="Open Sans"/>
              </a:rPr>
              <a:t>STANDARD CO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762000" y="889000"/>
            <a:ext cx="10668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Run /mcp to see what's wired up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62000" y="1752600"/>
            <a:ext cx="10668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i="1" dirty="0">
                <a:solidFill>
                  <a:srgbClr val="241452"/>
                </a:solidFill>
                <a:latin typeface="Open Sans"/>
              </a:rPr>
              <a:t>One command in Claude Code lists every MCP server it can reach — and what level it's coming from.</a:t>
            </a:r>
          </a:p>
        </p:txBody>
      </p:sp>
      <p:sp>
        <p:nvSpPr>
          <p:cNvPr id="105" name="Row1"/>
          <p:cNvSpPr txBox="1"/>
          <p:nvPr/>
        </p:nvSpPr>
        <p:spPr>
          <a:xfrm>
            <a:off x="5588000" y="2540000"/>
            <a:ext cx="58420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241452"/>
                </a:solidFill>
                <a:latin typeface="Open Sans"/>
              </a:rPr>
              <a:t>Every server, at a glance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  <a:latin typeface="Open Sans"/>
              </a:rPr>
              <a:t>Each row shows a connector and its state — </a:t>
            </a:r>
            <a:r>
              <a:rPr lang="en-US" sz="1400" b="1" dirty="0">
                <a:solidFill>
                  <a:srgbClr val="5B8A72"/>
                </a:solidFill>
                <a:latin typeface="Open Sans"/>
              </a:rPr>
              <a:t>✓ connected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 or </a:t>
            </a:r>
            <a:r>
              <a:rPr lang="en-US" sz="1400" b="1" dirty="0">
                <a:solidFill>
                  <a:srgbClr val="C4955A"/>
                </a:solidFill>
                <a:latin typeface="Open Sans"/>
              </a:rPr>
              <a:t>⚠ needs authentication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. Here, Gmail and Notion are live; the rest are toggled on but unauthenticated.</a:t>
            </a:r>
          </a:p>
        </p:txBody>
      </p:sp>
      <p:sp>
        <p:nvSpPr>
          <p:cNvPr id="106" name="Row2"/>
          <p:cNvSpPr txBox="1"/>
          <p:nvPr/>
        </p:nvSpPr>
        <p:spPr>
          <a:xfrm>
            <a:off x="5588000" y="3683000"/>
            <a:ext cx="58420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241452"/>
                </a:solidFill>
                <a:latin typeface="Open Sans"/>
              </a:rPr>
              <a:t>The source tells you the scope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  <a:latin typeface="Open Sans"/>
              </a:rPr>
              <a:t>Every server here is prefixed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claude.ai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 — meaning account-level. They follow my sign-in across machines. Local servers would show up under a different source label.</a:t>
            </a:r>
          </a:p>
        </p:txBody>
      </p:sp>
      <p:sp>
        <p:nvSpPr>
          <p:cNvPr id="107" name="Row3"/>
          <p:cNvSpPr txBox="1"/>
          <p:nvPr/>
        </p:nvSpPr>
        <p:spPr>
          <a:xfrm>
            <a:off x="5588000" y="4826000"/>
            <a:ext cx="58420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241452"/>
                </a:solidFill>
                <a:latin typeface="Open Sans"/>
              </a:rPr>
              <a:t>Use it before you debug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  <a:latin typeface="Open Sans"/>
              </a:rPr>
              <a:t>When a tool call "doesn't work," run /mcp first. Nine times out of ten the connector is either not authenticated or not connected at the level you thought.</a:t>
            </a:r>
          </a:p>
        </p:txBody>
      </p:sp>
      <p:sp>
        <p:nvSpPr>
          <p:cNvPr id="400" name="BottomCallout"/>
          <p:cNvSpPr txBox="1"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41452"/>
                </a:solidFill>
                <a:latin typeface="Open Sans"/>
              </a:rPr>
              <a:t>→  If it's not in /mcp, Claude can't reach it. Start there.</a:t>
            </a:r>
          </a:p>
        </p:txBody>
      </p:sp>
    </p:spTree>
    <p:extLst>
      <p:ext uri="{BB962C8B-B14F-4D97-AF65-F5344CB8AC3E}">
        <p14:creationId xmlns:p14="http://schemas.microsoft.com/office/powerpoint/2010/main" val="337876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115B-5413-4964-9B9C-7049762A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What can you actually do with this?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USE CASES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1714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5A7D9A"/>
                </a:solidFill>
                <a:latin typeface="Open Sans"/>
              </a:rPr>
              <a:t>Four categories where connectors pay off immediately for our team.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2476500"/>
            <a:ext cx="5080000" cy="1778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1"/>
          <p:cNvSpPr/>
          <p:nvPr/>
        </p:nvSpPr>
        <p:spPr>
          <a:xfrm>
            <a:off x="762000" y="2476500"/>
            <a:ext cx="76200" cy="17780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202"/>
          <p:cNvSpPr txBox="1"/>
          <p:nvPr/>
        </p:nvSpPr>
        <p:spPr>
          <a:xfrm>
            <a:off x="1066800" y="27051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241452"/>
                </a:solidFill>
                <a:latin typeface="Open Sans"/>
              </a:rPr>
              <a:t>DOCS &amp; KNOWLEDGE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066800" y="29845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Notion as context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1066800" y="34417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Pull wiki pages, project docs, and meeting notes into Claude with full context — no copy-paste.</a:t>
            </a:r>
          </a:p>
        </p:txBody>
      </p:sp>
      <p:sp>
        <p:nvSpPr>
          <p:cNvPr id="205" name="S205"/>
          <p:cNvSpPr/>
          <p:nvPr/>
        </p:nvSpPr>
        <p:spPr>
          <a:xfrm>
            <a:off x="6096000" y="2476500"/>
            <a:ext cx="5080000" cy="1778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6"/>
          <p:cNvSpPr/>
          <p:nvPr/>
        </p:nvSpPr>
        <p:spPr>
          <a:xfrm>
            <a:off x="6096000" y="2476500"/>
            <a:ext cx="76200" cy="17780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6400800" y="27051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b="1" spc="200" dirty="0">
                <a:solidFill>
                  <a:schemeClr val="accent2"/>
                </a:solidFill>
              </a:rPr>
              <a:t>CODE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6400800" y="29845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GitHub + Claude Cowork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6400800" y="34417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Review PRs, triage issues, and pair with Cowork on changes — all grounded in the actual repo state.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4483100"/>
            <a:ext cx="5080000" cy="1778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211"/>
          <p:cNvSpPr/>
          <p:nvPr/>
        </p:nvSpPr>
        <p:spPr>
          <a:xfrm>
            <a:off x="762000" y="4483100"/>
            <a:ext cx="76200" cy="1778000"/>
          </a:xfrm>
          <a:prstGeom prst="rect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1066800" y="47117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C4955A"/>
                </a:solidFill>
                <a:latin typeface="Open Sans"/>
              </a:rPr>
              <a:t>CHAT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1066800" y="49911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Slack history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1066800" y="54483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Search threads, summarize long conversations, and draft replies grounded in real context.</a:t>
            </a:r>
          </a:p>
        </p:txBody>
      </p:sp>
      <p:sp>
        <p:nvSpPr>
          <p:cNvPr id="215" name="S215"/>
          <p:cNvSpPr/>
          <p:nvPr/>
        </p:nvSpPr>
        <p:spPr>
          <a:xfrm>
            <a:off x="6096000" y="4483100"/>
            <a:ext cx="5080000" cy="1778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S216"/>
          <p:cNvSpPr/>
          <p:nvPr/>
        </p:nvSpPr>
        <p:spPr>
          <a:xfrm>
            <a:off x="6096000" y="4483100"/>
            <a:ext cx="76200" cy="1778000"/>
          </a:xfrm>
          <a:prstGeom prst="rect">
            <a:avLst/>
          </a:prstGeom>
          <a:solidFill>
            <a:srgbClr val="7B6B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T217"/>
          <p:cNvSpPr txBox="1"/>
          <p:nvPr/>
        </p:nvSpPr>
        <p:spPr>
          <a:xfrm>
            <a:off x="6400800" y="47117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7B6B8D"/>
                </a:solidFill>
                <a:latin typeface="Open Sans"/>
              </a:rPr>
              <a:t>INTERNAL TOOLS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6400800" y="4991100"/>
            <a:ext cx="4572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Custom connectors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6400800" y="54483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Bridge Claude to your own APIs, dashboards, and databases via the MCP SDK.</a:t>
            </a:r>
          </a:p>
        </p:txBody>
      </p:sp>
    </p:spTree>
    <p:extLst>
      <p:ext uri="{BB962C8B-B14F-4D97-AF65-F5344CB8AC3E}">
        <p14:creationId xmlns:p14="http://schemas.microsoft.com/office/powerpoint/2010/main" val="296436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A8D5-26B6-8A0C-533B-1F717426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Let’s see it in action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DEMOS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1714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5A7D9A"/>
                </a:solidFill>
                <a:latin typeface="Open Sans"/>
              </a:rPr>
              <a:t>Two live demos. The first reads and writes. The second chains tools together.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2476500"/>
            <a:ext cx="5080000" cy="330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201"/>
          <p:cNvSpPr txBox="1"/>
          <p:nvPr/>
        </p:nvSpPr>
        <p:spPr>
          <a:xfrm>
            <a:off x="1117600" y="2781300"/>
            <a:ext cx="1270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241452"/>
                </a:solidFill>
                <a:latin typeface="Open Sans"/>
              </a:rPr>
              <a:t>01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1117600" y="3746500"/>
            <a:ext cx="4368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1A1A2E"/>
                </a:solidFill>
                <a:latin typeface="Open Sans"/>
              </a:rPr>
              <a:t>Notion Connector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117600" y="4305300"/>
            <a:ext cx="436880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Claude reads task data from our Notion workspace, then updates a card’s status — live, from Claude Code.</a:t>
            </a:r>
          </a:p>
        </p:txBody>
      </p:sp>
      <p:sp>
        <p:nvSpPr>
          <p:cNvPr id="204" name="S204"/>
          <p:cNvSpPr/>
          <p:nvPr/>
        </p:nvSpPr>
        <p:spPr>
          <a:xfrm>
            <a:off x="6350000" y="2476500"/>
            <a:ext cx="5080000" cy="3302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6705600" y="2781300"/>
            <a:ext cx="1270000" cy="71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5B8A72"/>
                </a:solidFill>
                <a:latin typeface="Open Sans"/>
              </a:rPr>
              <a:t>02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6705600" y="3746500"/>
            <a:ext cx="4368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1A1A2E"/>
                </a:solidFill>
                <a:latin typeface="Open Sans"/>
              </a:rPr>
              <a:t>End-to-end workflow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6705600" y="4305300"/>
            <a:ext cx="436880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Connect a second source, chain tools, complete a real task: doc → task → Slack summary.</a:t>
            </a:r>
          </a:p>
        </p:txBody>
      </p:sp>
    </p:spTree>
    <p:extLst>
      <p:ext uri="{BB962C8B-B14F-4D97-AF65-F5344CB8AC3E}">
        <p14:creationId xmlns:p14="http://schemas.microsoft.com/office/powerpoint/2010/main" val="130018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C4DE-9F15-34B5-F53F-C6F434BE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97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400" b="1" dirty="0">
                <a:solidFill>
                  <a:srgbClr val="1A1A2E"/>
                </a:solidFill>
                <a:latin typeface="Open Sans"/>
              </a:rPr>
              <a:t>Notion Connector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DEMO 01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25400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dirty="0">
                <a:solidFill>
                  <a:srgbClr val="5A7D9A"/>
                </a:solidFill>
                <a:latin typeface="Open Sans"/>
              </a:rPr>
              <a:t>Claude Code reads tasks from our workspace and writes status back.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3556000"/>
            <a:ext cx="1219200" cy="457200"/>
          </a:xfrm>
          <a:prstGeom prst="round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201"/>
          <p:cNvSpPr txBox="1"/>
          <p:nvPr/>
        </p:nvSpPr>
        <p:spPr>
          <a:xfrm>
            <a:off x="762000" y="3556000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spc="200" dirty="0">
                <a:solidFill>
                  <a:srgbClr val="FFFFFF"/>
                </a:solidFill>
                <a:latin typeface="Open Sans"/>
              </a:rPr>
              <a:t>LIVE DEMO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445000"/>
            <a:ext cx="32512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T301"/>
          <p:cNvSpPr txBox="1"/>
          <p:nvPr/>
        </p:nvSpPr>
        <p:spPr>
          <a:xfrm>
            <a:off x="1270000" y="4673600"/>
            <a:ext cx="508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241452"/>
                </a:solidFill>
                <a:latin typeface="Open Sans"/>
              </a:rPr>
              <a:t>1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1778000" y="4724400"/>
            <a:ext cx="22352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Pull task list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1778000" y="5181600"/>
            <a:ext cx="22352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Claude reads Notion page structure</a:t>
            </a:r>
          </a:p>
        </p:txBody>
      </p:sp>
      <p:sp>
        <p:nvSpPr>
          <p:cNvPr id="304" name="S304"/>
          <p:cNvSpPr/>
          <p:nvPr/>
        </p:nvSpPr>
        <p:spPr>
          <a:xfrm>
            <a:off x="4470400" y="4445000"/>
            <a:ext cx="32512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4724400" y="4673600"/>
            <a:ext cx="508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241452"/>
                </a:solidFill>
                <a:latin typeface="Open Sans"/>
              </a:rPr>
              <a:t>2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5232400" y="4724400"/>
            <a:ext cx="22352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Update a status</a:t>
            </a:r>
          </a:p>
        </p:txBody>
      </p:sp>
      <p:sp>
        <p:nvSpPr>
          <p:cNvPr id="307" name="T307"/>
          <p:cNvSpPr txBox="1"/>
          <p:nvPr/>
        </p:nvSpPr>
        <p:spPr>
          <a:xfrm>
            <a:off x="5232400" y="5181600"/>
            <a:ext cx="22352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Claude writes back to the card</a:t>
            </a:r>
          </a:p>
        </p:txBody>
      </p:sp>
      <p:sp>
        <p:nvSpPr>
          <p:cNvPr id="308" name="S308"/>
          <p:cNvSpPr/>
          <p:nvPr/>
        </p:nvSpPr>
        <p:spPr>
          <a:xfrm>
            <a:off x="7924800" y="4445000"/>
            <a:ext cx="3251200" cy="1651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T309"/>
          <p:cNvSpPr txBox="1"/>
          <p:nvPr/>
        </p:nvSpPr>
        <p:spPr>
          <a:xfrm>
            <a:off x="8178800" y="4673600"/>
            <a:ext cx="508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241452"/>
                </a:solidFill>
                <a:latin typeface="Open Sans"/>
              </a:rPr>
              <a:t>3</a:t>
            </a:r>
          </a:p>
        </p:txBody>
      </p:sp>
      <p:sp>
        <p:nvSpPr>
          <p:cNvPr id="310" name="T310"/>
          <p:cNvSpPr txBox="1"/>
          <p:nvPr/>
        </p:nvSpPr>
        <p:spPr>
          <a:xfrm>
            <a:off x="8686800" y="4724400"/>
            <a:ext cx="22352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Verify in Notion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8686800" y="5181600"/>
            <a:ext cx="22352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Change appears in the workspace</a:t>
            </a:r>
          </a:p>
        </p:txBody>
      </p:sp>
    </p:spTree>
    <p:extLst>
      <p:ext uri="{BB962C8B-B14F-4D97-AF65-F5344CB8AC3E}">
        <p14:creationId xmlns:p14="http://schemas.microsoft.com/office/powerpoint/2010/main" val="1615661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12BF-4D39-BC02-2798-38D328847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97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400" b="1" dirty="0">
                <a:solidFill>
                  <a:srgbClr val="1A1A2E"/>
                </a:solidFill>
                <a:latin typeface="Open Sans"/>
              </a:rPr>
              <a:t>Claude × Help Scout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DEMO 02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25400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dirty="0">
                <a:solidFill>
                  <a:srgbClr val="5A7D9A"/>
                </a:solidFill>
                <a:latin typeface="Open Sans"/>
              </a:rPr>
              <a:t>TJ walks through Claude reading and acting on live Help Scout tickets.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3556000"/>
            <a:ext cx="1219200" cy="457200"/>
          </a:xfrm>
          <a:prstGeom prst="round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201"/>
          <p:cNvSpPr txBox="1"/>
          <p:nvPr/>
        </p:nvSpPr>
        <p:spPr>
          <a:xfrm>
            <a:off x="762000" y="3556000"/>
            <a:ext cx="1219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spc="200" dirty="0">
                <a:solidFill>
                  <a:srgbClr val="FFFFFF"/>
                </a:solidFill>
                <a:latin typeface="Open Sans"/>
              </a:rPr>
              <a:t>LIVE DEMO</a:t>
            </a:r>
          </a:p>
        </p:txBody>
      </p:sp>
      <p:sp>
        <p:nvSpPr>
          <p:cNvPr id="300" name="S300"/>
          <p:cNvSpPr/>
          <p:nvPr/>
        </p:nvSpPr>
        <p:spPr>
          <a:xfrm>
            <a:off x="927100" y="4572000"/>
            <a:ext cx="2222500" cy="1397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S301"/>
          <p:cNvSpPr/>
          <p:nvPr/>
        </p:nvSpPr>
        <p:spPr>
          <a:xfrm>
            <a:off x="927100" y="4572000"/>
            <a:ext cx="50800" cy="1397000"/>
          </a:xfrm>
          <a:prstGeom prst="rect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1104900" y="4851400"/>
            <a:ext cx="18669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Help Scout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1104900" y="5283200"/>
            <a:ext cx="18669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Ask Claude a question in plain English</a:t>
            </a:r>
          </a:p>
        </p:txBody>
      </p:sp>
      <p:sp>
        <p:nvSpPr>
          <p:cNvPr id="304" name="S304"/>
          <p:cNvSpPr/>
          <p:nvPr/>
        </p:nvSpPr>
        <p:spPr>
          <a:xfrm>
            <a:off x="3225800" y="5118100"/>
            <a:ext cx="330200" cy="304800"/>
          </a:xfrm>
          <a:prstGeom prst="rightArrow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S305"/>
          <p:cNvSpPr/>
          <p:nvPr/>
        </p:nvSpPr>
        <p:spPr>
          <a:xfrm>
            <a:off x="3632200" y="4572000"/>
            <a:ext cx="2222500" cy="1397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6" name="S306"/>
          <p:cNvSpPr/>
          <p:nvPr/>
        </p:nvSpPr>
        <p:spPr>
          <a:xfrm>
            <a:off x="3632200" y="4572000"/>
            <a:ext cx="50800" cy="13970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7" name="T307"/>
          <p:cNvSpPr txBox="1"/>
          <p:nvPr/>
        </p:nvSpPr>
        <p:spPr>
          <a:xfrm>
            <a:off x="3810000" y="4851400"/>
            <a:ext cx="18669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Read tickets</a:t>
            </a:r>
          </a:p>
        </p:txBody>
      </p:sp>
      <p:sp>
        <p:nvSpPr>
          <p:cNvPr id="308" name="T308"/>
          <p:cNvSpPr txBox="1"/>
          <p:nvPr/>
        </p:nvSpPr>
        <p:spPr>
          <a:xfrm>
            <a:off x="3810000" y="5283200"/>
            <a:ext cx="18669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Claude pulls tickets, threads, customers</a:t>
            </a:r>
          </a:p>
        </p:txBody>
      </p:sp>
      <p:sp>
        <p:nvSpPr>
          <p:cNvPr id="309" name="S309"/>
          <p:cNvSpPr/>
          <p:nvPr/>
        </p:nvSpPr>
        <p:spPr>
          <a:xfrm>
            <a:off x="5930900" y="5118100"/>
            <a:ext cx="330200" cy="304800"/>
          </a:xfrm>
          <a:prstGeom prst="rightArrow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S310"/>
          <p:cNvSpPr/>
          <p:nvPr/>
        </p:nvSpPr>
        <p:spPr>
          <a:xfrm>
            <a:off x="6337300" y="4572000"/>
            <a:ext cx="2222500" cy="1397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S311"/>
          <p:cNvSpPr/>
          <p:nvPr/>
        </p:nvSpPr>
        <p:spPr>
          <a:xfrm>
            <a:off x="6337300" y="4572000"/>
            <a:ext cx="50800" cy="13970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T312"/>
          <p:cNvSpPr txBox="1"/>
          <p:nvPr/>
        </p:nvSpPr>
        <p:spPr>
          <a:xfrm>
            <a:off x="6515100" y="4851400"/>
            <a:ext cx="18669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Do the work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6515100" y="5283200"/>
            <a:ext cx="18669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Triage, draft a reply, summarize</a:t>
            </a:r>
          </a:p>
        </p:txBody>
      </p:sp>
      <p:sp>
        <p:nvSpPr>
          <p:cNvPr id="314" name="S314"/>
          <p:cNvSpPr/>
          <p:nvPr/>
        </p:nvSpPr>
        <p:spPr>
          <a:xfrm>
            <a:off x="8636000" y="5118100"/>
            <a:ext cx="330200" cy="304800"/>
          </a:xfrm>
          <a:prstGeom prst="rightArrow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S315"/>
          <p:cNvSpPr/>
          <p:nvPr/>
        </p:nvSpPr>
        <p:spPr>
          <a:xfrm>
            <a:off x="9042400" y="4572000"/>
            <a:ext cx="2222500" cy="1397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6" name="S316"/>
          <p:cNvSpPr/>
          <p:nvPr/>
        </p:nvSpPr>
        <p:spPr>
          <a:xfrm>
            <a:off x="9042400" y="4572000"/>
            <a:ext cx="50800" cy="1397000"/>
          </a:xfrm>
          <a:prstGeom prst="rect">
            <a:avLst/>
          </a:prstGeom>
          <a:solidFill>
            <a:srgbClr val="7B6B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T317"/>
          <p:cNvSpPr txBox="1"/>
          <p:nvPr/>
        </p:nvSpPr>
        <p:spPr>
          <a:xfrm>
            <a:off x="9220200" y="4851400"/>
            <a:ext cx="18669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A1A2E"/>
                </a:solidFill>
                <a:latin typeface="Open Sans"/>
              </a:rPr>
              <a:t>Write it back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9220200" y="5283200"/>
            <a:ext cx="18669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Post a note, export to Sheets, hand off</a:t>
            </a:r>
          </a:p>
        </p:txBody>
      </p:sp>
    </p:spTree>
    <p:extLst>
      <p:ext uri="{BB962C8B-B14F-4D97-AF65-F5344CB8AC3E}">
        <p14:creationId xmlns:p14="http://schemas.microsoft.com/office/powerpoint/2010/main" val="3598385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Local MCPs live on this machine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LOCAL MCPS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62000" y="1750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l"/>
            <a:r>
              <a:rPr lang="en-US" sz="1600" i="1" dirty="0">
                <a:solidFill>
                  <a:srgbClr val="241452"/>
                </a:solidFill>
              </a:rPr>
              <a:t>My other Mac’s Claude Desktop sidebar. Same account, signed in here too — but none of this shows up.</a:t>
            </a:r>
          </a:p>
        </p:txBody>
      </p:sp>
      <p:pic>
        <p:nvPicPr>
          <p:cNvPr id="103" name="Desktop MCP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00000"/>
            <a:ext cx="3800000" cy="2815000"/>
          </a:xfrm>
          <a:prstGeom prst="rect">
            <a:avLst/>
          </a:prstGeom>
          <a:ln w="12700">
            <a:solidFill>
              <a:srgbClr val="241452"/>
            </a:solidFill>
          </a:ln>
        </p:spPr>
      </p:pic>
      <p:sp>
        <p:nvSpPr>
          <p:cNvPr id="104" name="ImageCaption"/>
          <p:cNvSpPr txBox="1"/>
          <p:nvPr/>
        </p:nvSpPr>
        <p:spPr>
          <a:xfrm>
            <a:off x="762000" y="5470000"/>
            <a:ext cx="380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i="1" dirty="0">
                <a:solidFill>
                  <a:srgbClr val="5B8A72"/>
                </a:solidFill>
              </a:rPr>
              <a:t>Claude Desktop › Connectors panel, my work Mac</a:t>
            </a:r>
          </a:p>
        </p:txBody>
      </p:sp>
      <p:sp>
        <p:nvSpPr>
          <p:cNvPr id="105" name="Row1"/>
          <p:cNvSpPr txBox="1"/>
          <p:nvPr/>
        </p:nvSpPr>
        <p:spPr>
          <a:xfrm>
            <a:off x="4900000" y="2600000"/>
            <a:ext cx="653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41452"/>
                </a:solidFill>
              </a:rPr>
              <a:t>Configured per machine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Each one lives in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claude_desktop_config.json</a:t>
            </a:r>
            <a:r>
              <a:rPr lang="en-US" sz="1400" dirty="0">
                <a:solidFill>
                  <a:srgbClr val="241452"/>
                </a:solidFill>
              </a:rPr>
              <a:t> or as a Desktop plugin on this specific computer.</a:t>
            </a:r>
          </a:p>
        </p:txBody>
      </p:sp>
      <p:sp>
        <p:nvSpPr>
          <p:cNvPr id="106" name="Row2"/>
          <p:cNvSpPr txBox="1"/>
          <p:nvPr/>
        </p:nvSpPr>
        <p:spPr>
          <a:xfrm>
            <a:off x="4900000" y="3550000"/>
            <a:ext cx="653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41452"/>
                </a:solidFill>
              </a:rPr>
              <a:t>Doesn’t sync with your account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Account-level remote connectors follow you across devices. Local servers and Desktop plugins don’t — that’s why this list is empty on a second Mac.</a:t>
            </a:r>
          </a:p>
        </p:txBody>
      </p:sp>
      <p:sp>
        <p:nvSpPr>
          <p:cNvPr id="107" name="Row3"/>
          <p:cNvSpPr txBox="1"/>
          <p:nvPr/>
        </p:nvSpPr>
        <p:spPr>
          <a:xfrm>
            <a:off x="4900000" y="4640000"/>
            <a:ext cx="653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41452"/>
                </a:solidFill>
              </a:rPr>
              <a:t>Best for machine-bound or in-progress work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OS-specific tools (iMessage), browser control, dev servers (the </a:t>
            </a:r>
            <a:r>
              <a:rPr lang="en-US" sz="1400" b="1" dirty="0">
                <a:solidFill>
                  <a:srgbClr val="5B8A72"/>
                </a:solidFill>
              </a:rPr>
              <a:t>LOCAL DEV</a:t>
            </a:r>
            <a:r>
              <a:rPr lang="en-US" sz="1400" dirty="0">
                <a:solidFill>
                  <a:srgbClr val="241452"/>
                </a:solidFill>
              </a:rPr>
              <a:t> badge), or anything you’re still building.</a:t>
            </a:r>
          </a:p>
        </p:txBody>
      </p:sp>
      <p:sp>
        <p:nvSpPr>
          <p:cNvPr id="108" name="BottomCallout"/>
          <p:cNvSpPr txBox="1"/>
          <p:nvPr/>
        </p:nvSpPr>
        <p:spPr>
          <a:xfrm>
            <a:off x="762000" y="6100000"/>
            <a:ext cx="10668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dirty="0">
                <a:solidFill>
                  <a:srgbClr val="241452"/>
                </a:solidFill>
              </a:rPr>
              <a:t>→  Want it to follow you everywhere? Rewrite it as a remote MCP server — then it becomes account-level.</a:t>
            </a:r>
          </a:p>
        </p:txBody>
      </p:sp>
    </p:spTree>
    <p:extLst>
      <p:ext uri="{BB962C8B-B14F-4D97-AF65-F5344CB8AC3E}">
        <p14:creationId xmlns:p14="http://schemas.microsoft.com/office/powerpoint/2010/main" val="174604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5DD4-6688-9AD8-7098-6C3891A1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41452"/>
                </a:solidFill>
              </a:rPr>
              <a:t>Marketplace vs Custom Connectors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97D21-17C4-E24D-89B7-57228F7AF5BA}"/>
              </a:ext>
            </a:extLst>
          </p:cNvPr>
          <p:cNvSpPr txBox="1"/>
          <p:nvPr/>
        </p:nvSpPr>
        <p:spPr>
          <a:xfrm>
            <a:off x="838200" y="1639094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 dirty="0">
                <a:solidFill>
                  <a:srgbClr val="241452"/>
                </a:solidFill>
              </a:rPr>
              <a:t>Two paths to plug Claude into your stack: grab one off the shelf, or build your own when the connector you need doesn’t exist yet.</a:t>
            </a:r>
          </a:p>
        </p:txBody>
      </p:sp>
      <p:sp>
        <p:nvSpPr>
          <p:cNvPr id="4" name="MCPCard">
            <a:extLst>
              <a:ext uri="{FF2B5EF4-FFF2-40B4-BE49-F238E27FC236}">
                <a16:creationId xmlns:a16="http://schemas.microsoft.com/office/drawing/2014/main" id="{A2728049-DDA0-F84A-BD00-6FDC9FBC091D}"/>
              </a:ext>
            </a:extLst>
          </p:cNvPr>
          <p:cNvSpPr/>
          <p:nvPr/>
        </p:nvSpPr>
        <p:spPr>
          <a:xfrm>
            <a:off x="838200" y="2603500"/>
            <a:ext cx="5080000" cy="3238500"/>
          </a:xfrm>
          <a:prstGeom prst="roundRect">
            <a:avLst/>
          </a:prstGeom>
          <a:solidFill>
            <a:srgbClr val="F0EDE8"/>
          </a:solidFill>
          <a:ln w="25400" cap="flat" cmpd="sng" algn="ctr">
            <a:solidFill>
              <a:srgbClr val="5B8A7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MCPBar">
            <a:extLst>
              <a:ext uri="{FF2B5EF4-FFF2-40B4-BE49-F238E27FC236}">
                <a16:creationId xmlns:a16="http://schemas.microsoft.com/office/drawing/2014/main" id="{0FE3559B-7713-9D49-B0A6-5BE27211B09F}"/>
              </a:ext>
            </a:extLst>
          </p:cNvPr>
          <p:cNvSpPr/>
          <p:nvPr/>
        </p:nvSpPr>
        <p:spPr>
          <a:xfrm>
            <a:off x="838200" y="2603500"/>
            <a:ext cx="5080000" cy="101600"/>
          </a:xfrm>
          <a:prstGeom prst="rect">
            <a:avLst/>
          </a:prstGeom>
          <a:solidFill>
            <a:srgbClr val="5B8A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A72A3-3AB2-604C-8805-14EF8148D19D}"/>
              </a:ext>
            </a:extLst>
          </p:cNvPr>
          <p:cNvSpPr txBox="1"/>
          <p:nvPr/>
        </p:nvSpPr>
        <p:spPr>
          <a:xfrm>
            <a:off x="1143000" y="2882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5B8A72"/>
                </a:solidFill>
              </a:rPr>
              <a:t>OFF THE SHELF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751B8-1D1A-6A47-831B-2FC5E357874D}"/>
              </a:ext>
            </a:extLst>
          </p:cNvPr>
          <p:cNvSpPr txBox="1"/>
          <p:nvPr/>
        </p:nvSpPr>
        <p:spPr>
          <a:xfrm>
            <a:off x="1143000" y="3187700"/>
            <a:ext cx="4470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241452"/>
                </a:solidFill>
              </a:rPr>
              <a:t>Marketplace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8BCB4-371A-784D-843A-6476CF4C8030}"/>
              </a:ext>
            </a:extLst>
          </p:cNvPr>
          <p:cNvSpPr txBox="1"/>
          <p:nvPr/>
        </p:nvSpPr>
        <p:spPr>
          <a:xfrm>
            <a:off x="11430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Anthropic &amp; partners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B6B67-2712-A944-B93C-105AB7C4B015}"/>
              </a:ext>
            </a:extLst>
          </p:cNvPr>
          <p:cNvSpPr txBox="1"/>
          <p:nvPr/>
        </p:nvSpPr>
        <p:spPr>
          <a:xfrm>
            <a:off x="1143000" y="41783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Pre-built connectors for the tools most teams already use — Notion, Gmail, Slack, Google Drive, Figma. Browse the directory, toggle on, authorize.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BF904-6B94-A943-ABD2-541099F2BA64}"/>
              </a:ext>
            </a:extLst>
          </p:cNvPr>
          <p:cNvSpPr txBox="1"/>
          <p:nvPr/>
        </p:nvSpPr>
        <p:spPr>
          <a:xfrm>
            <a:off x="1143000" y="5270500"/>
            <a:ext cx="4470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5B8A72"/>
                </a:solidFill>
              </a:rPr>
              <a:t>Click to connect. No code required.</a:t>
            </a:r>
          </a:p>
        </p:txBody>
      </p:sp>
      <p:sp>
        <p:nvSpPr>
          <p:cNvPr id="11" name="ConCard">
            <a:extLst>
              <a:ext uri="{FF2B5EF4-FFF2-40B4-BE49-F238E27FC236}">
                <a16:creationId xmlns:a16="http://schemas.microsoft.com/office/drawing/2014/main" id="{9B243CC1-B313-224D-9177-15B90B89F427}"/>
              </a:ext>
            </a:extLst>
          </p:cNvPr>
          <p:cNvSpPr/>
          <p:nvPr/>
        </p:nvSpPr>
        <p:spPr>
          <a:xfrm>
            <a:off x="6273800" y="2603500"/>
            <a:ext cx="5080000" cy="3238500"/>
          </a:xfrm>
          <a:prstGeom prst="roundRect">
            <a:avLst/>
          </a:prstGeom>
          <a:solidFill>
            <a:srgbClr val="F0EDE8"/>
          </a:solidFill>
          <a:ln w="25400" cap="flat" cmpd="sng" algn="ctr">
            <a:solidFill>
              <a:srgbClr val="2414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onBar">
            <a:extLst>
              <a:ext uri="{FF2B5EF4-FFF2-40B4-BE49-F238E27FC236}">
                <a16:creationId xmlns:a16="http://schemas.microsoft.com/office/drawing/2014/main" id="{DB0CF494-0A7C-A741-9690-77F6E623570C}"/>
              </a:ext>
            </a:extLst>
          </p:cNvPr>
          <p:cNvSpPr/>
          <p:nvPr/>
        </p:nvSpPr>
        <p:spPr>
          <a:xfrm>
            <a:off x="6273800" y="2603500"/>
            <a:ext cx="5080000" cy="101600"/>
          </a:xfrm>
          <a:prstGeom prst="rect">
            <a:avLst/>
          </a:prstGeom>
          <a:solidFill>
            <a:srgbClr val="2414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4A8C19-0373-B94E-A511-85A48271215F}"/>
              </a:ext>
            </a:extLst>
          </p:cNvPr>
          <p:cNvSpPr txBox="1"/>
          <p:nvPr/>
        </p:nvSpPr>
        <p:spPr>
          <a:xfrm>
            <a:off x="6578600" y="2882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241452"/>
                </a:solidFill>
              </a:rPr>
              <a:t>BUILD YOUR 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545C8-3DEA-C547-8FD1-3242CA698C00}"/>
              </a:ext>
            </a:extLst>
          </p:cNvPr>
          <p:cNvSpPr txBox="1"/>
          <p:nvPr/>
        </p:nvSpPr>
        <p:spPr>
          <a:xfrm>
            <a:off x="6578600" y="3187700"/>
            <a:ext cx="4470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241452"/>
                </a:solidFill>
              </a:rPr>
              <a:t>Custom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B917C-8CE9-8341-B3C0-CD051664DB13}"/>
              </a:ext>
            </a:extLst>
          </p:cNvPr>
          <p:cNvSpPr txBox="1"/>
          <p:nvPr/>
        </p:nvSpPr>
        <p:spPr>
          <a:xfrm>
            <a:off x="65786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Your tools, your APIs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FE96A-3686-5744-A29B-8136D55D2F18}"/>
              </a:ext>
            </a:extLst>
          </p:cNvPr>
          <p:cNvSpPr txBox="1"/>
          <p:nvPr/>
        </p:nvSpPr>
        <p:spPr>
          <a:xfrm>
            <a:off x="6578600" y="41783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41452"/>
                </a:solidFill>
              </a:rPr>
              <a:t>Point Claude at any remote MCP server URL — internal tools, niche apps, anything not in the marketplace yet. You bring the server, Claude brings the model.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F96AF-D497-D842-BDF9-590CE1230D0E}"/>
              </a:ext>
            </a:extLst>
          </p:cNvPr>
          <p:cNvSpPr txBox="1"/>
          <p:nvPr/>
        </p:nvSpPr>
        <p:spPr>
          <a:xfrm>
            <a:off x="6578600" y="5270500"/>
            <a:ext cx="4470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241452"/>
                </a:solidFill>
              </a:rPr>
              <a:t>Paste a URL. Only connect servers you trust.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EA5DB-0ECA-D946-8858-64AF6C2CB0B1}"/>
              </a:ext>
            </a:extLst>
          </p:cNvPr>
          <p:cNvSpPr txBox="1"/>
          <p:nvPr/>
        </p:nvSpPr>
        <p:spPr>
          <a:xfrm>
            <a:off x="838200" y="60960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41452"/>
                </a:solidFill>
              </a:rPr>
              <a:t>→  Start with the marketplace for speed. Reach for custom when no one’s built the connector you need yet.</a:t>
            </a:r>
          </a:p>
        </p:txBody>
      </p:sp>
    </p:spTree>
    <p:extLst>
      <p:ext uri="{BB962C8B-B14F-4D97-AF65-F5344CB8AC3E}">
        <p14:creationId xmlns:p14="http://schemas.microsoft.com/office/powerpoint/2010/main" val="4088877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Read: fetch tickets from Help Scout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DEMO 03 · STEP 1 OF 3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62000" y="1750000"/>
            <a:ext cx="10668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sz="1600" i="1" dirty="0">
                <a:solidFill>
                  <a:srgbClr val="241452"/>
                </a:solidFill>
              </a:rPr>
              <a:t>One prompt, every ticket in the mailbox — no API code, no copy-paste.</a:t>
            </a:r>
          </a:p>
        </p:txBody>
      </p:sp>
      <p:pic>
        <p:nvPicPr>
          <p:cNvPr id="103" name="Read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000"/>
            <a:ext cx="4500000" cy="3568254"/>
          </a:xfrm>
          <a:prstGeom prst="rect">
            <a:avLst/>
          </a:prstGeom>
          <a:ln w="12700">
            <a:solidFill>
              <a:srgbClr val="241452"/>
            </a:solidFill>
          </a:ln>
        </p:spPr>
      </p:pic>
      <p:sp>
        <p:nvSpPr>
          <p:cNvPr id="104" name="Row1"/>
          <p:cNvSpPr txBox="1"/>
          <p:nvPr/>
        </p:nvSpPr>
        <p:spPr>
          <a:xfrm>
            <a:off x="5500000" y="2400000"/>
            <a:ext cx="59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THE PROMPT</a:t>
            </a:r>
          </a:p>
          <a:p>
            <a:pPr algn="l">
              <a:buNone/>
            </a:pPr>
            <a:r>
              <a:rPr lang="en-US" sz="2000" b="1" dirty="0">
                <a:solidFill>
                  <a:srgbClr val="241452"/>
                </a:solidFill>
              </a:rPr>
              <a:t>“Show me all the NTDeliver tickets”</a:t>
            </a:r>
          </a:p>
        </p:txBody>
      </p:sp>
      <p:sp>
        <p:nvSpPr>
          <p:cNvPr id="105" name="Row2"/>
          <p:cNvSpPr txBox="1"/>
          <p:nvPr/>
        </p:nvSpPr>
        <p:spPr>
          <a:xfrm>
            <a:off x="5500000" y="3500000"/>
            <a:ext cx="59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WHAT CLAUDE DID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Recognized “tickets” meant Help Scout. Called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helpscout_list_conversations</a:t>
            </a:r>
            <a:r>
              <a:rPr lang="en-US" sz="1400" dirty="0">
                <a:solidFill>
                  <a:srgbClr val="241452"/>
                </a:solidFill>
              </a:rPr>
              <a:t> across statuses, returned 1 active + 7 closed with ticket #, subject, assignee, and timestamps.</a:t>
            </a:r>
          </a:p>
        </p:txBody>
      </p:sp>
      <p:sp>
        <p:nvSpPr>
          <p:cNvPr id="106" name="Row3"/>
          <p:cNvSpPr txBox="1"/>
          <p:nvPr/>
        </p:nvSpPr>
        <p:spPr>
          <a:xfrm>
            <a:off x="5500000" y="4900000"/>
            <a:ext cx="59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WHY IT MATTERS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This is the most fundamental connector pattern. Ask in plain English → structured data back. Same flow works for Notion pages, Slack threads, QuickBooks invoices, anything else you connect.</a:t>
            </a:r>
          </a:p>
        </p:txBody>
      </p:sp>
      <p:sp>
        <p:nvSpPr>
          <p:cNvPr id="107" name="BottomCallout"/>
          <p:cNvSpPr txBox="1"/>
          <p:nvPr/>
        </p:nvSpPr>
        <p:spPr>
          <a:xfrm>
            <a:off x="762000" y="6300000"/>
            <a:ext cx="10668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dirty="0">
                <a:solidFill>
                  <a:srgbClr val="241452"/>
                </a:solidFill>
              </a:rPr>
              <a:t>→  Step 1: read. Next we’ll write back.</a:t>
            </a:r>
          </a:p>
        </p:txBody>
      </p:sp>
    </p:spTree>
    <p:extLst>
      <p:ext uri="{BB962C8B-B14F-4D97-AF65-F5344CB8AC3E}">
        <p14:creationId xmlns:p14="http://schemas.microsoft.com/office/powerpoint/2010/main" val="1746048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Write: leave a draft reply on the ticket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DEMO 03 · STEP 2 OF 3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62000" y="1750000"/>
            <a:ext cx="10668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sz="1600" i="1" dirty="0">
                <a:solidFill>
                  <a:srgbClr val="241452"/>
                </a:solidFill>
              </a:rPr>
              <a:t>Claude doesn’t just read — it acts. Drafted a reply and posted it as a private note on the ticket.</a:t>
            </a:r>
          </a:p>
        </p:txBody>
      </p:sp>
      <p:pic>
        <p:nvPicPr>
          <p:cNvPr id="103" name="Note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000"/>
            <a:ext cx="6000000" cy="3191489"/>
          </a:xfrm>
          <a:prstGeom prst="rect">
            <a:avLst/>
          </a:prstGeom>
          <a:ln w="12700">
            <a:solidFill>
              <a:srgbClr val="241452"/>
            </a:solidFill>
          </a:ln>
        </p:spPr>
      </p:pic>
      <p:sp>
        <p:nvSpPr>
          <p:cNvPr id="104" name="Row1"/>
          <p:cNvSpPr txBox="1"/>
          <p:nvPr/>
        </p:nvSpPr>
        <p:spPr>
          <a:xfrm>
            <a:off x="7100000" y="2400000"/>
            <a:ext cx="43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THE PROMPT</a:t>
            </a:r>
          </a:p>
          <a:p>
            <a:pPr algn="l">
              <a:buNone/>
            </a:pPr>
            <a:r>
              <a:rPr lang="en-US" sz="1600" b="1" dirty="0">
                <a:solidFill>
                  <a:srgbClr val="241452"/>
                </a:solidFill>
              </a:rPr>
              <a:t>“Draft a reply on the PZQ ticket using our standard order-status response.”</a:t>
            </a:r>
          </a:p>
        </p:txBody>
      </p:sp>
      <p:sp>
        <p:nvSpPr>
          <p:cNvPr id="105" name="Row2"/>
          <p:cNvSpPr txBox="1"/>
          <p:nvPr/>
        </p:nvSpPr>
        <p:spPr>
          <a:xfrm>
            <a:off x="7100000" y="3700000"/>
            <a:ext cx="43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WHAT CLAUDE DID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Composed the reply using our product rule, then called Help Scout’s create-note action. The note shows up directly on the ticket, ready for a human to send.</a:t>
            </a:r>
          </a:p>
        </p:txBody>
      </p:sp>
      <p:sp>
        <p:nvSpPr>
          <p:cNvPr id="106" name="Row3"/>
          <p:cNvSpPr txBox="1"/>
          <p:nvPr/>
        </p:nvSpPr>
        <p:spPr>
          <a:xfrm>
            <a:off x="7100000" y="5000000"/>
            <a:ext cx="433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WHY IT MATTERS</a:t>
            </a:r>
          </a:p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Connectors are two-way. Claude can change state in the systems you connect — create, update, comment — not just read.</a:t>
            </a:r>
          </a:p>
        </p:txBody>
      </p:sp>
      <p:sp>
        <p:nvSpPr>
          <p:cNvPr id="107" name="BottomCallout"/>
          <p:cNvSpPr txBox="1"/>
          <p:nvPr/>
        </p:nvSpPr>
        <p:spPr>
          <a:xfrm>
            <a:off x="762000" y="6300000"/>
            <a:ext cx="10668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1" dirty="0">
                <a:solidFill>
                  <a:srgbClr val="241452"/>
                </a:solidFill>
              </a:rPr>
              <a:t>→  Read + write covers most workflows. Next: chain two connectors together.</a:t>
            </a:r>
          </a:p>
        </p:txBody>
      </p:sp>
    </p:spTree>
    <p:extLst>
      <p:ext uri="{BB962C8B-B14F-4D97-AF65-F5344CB8AC3E}">
        <p14:creationId xmlns:p14="http://schemas.microsoft.com/office/powerpoint/2010/main" val="1746048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Chain: Help Scout × Google Sheets</a:t>
            </a:r>
          </a:p>
        </p:txBody>
      </p:sp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DEMO 03 · STEP 3 OF 3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62000" y="1750000"/>
            <a:ext cx="10668000" cy="50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sz="1600" i="1" dirty="0">
                <a:solidFill>
                  <a:srgbClr val="241452"/>
                </a:solidFill>
              </a:rPr>
              <a:t>One prompt, two connectors. Claude pulls every ticket from Help Scout and spins up a structured export in Google Sheets.</a:t>
            </a:r>
          </a:p>
        </p:txBody>
      </p:sp>
      <p:sp>
        <p:nvSpPr>
          <p:cNvPr id="103" name="LeftLabel"/>
          <p:cNvSpPr txBox="1"/>
          <p:nvPr/>
        </p:nvSpPr>
        <p:spPr>
          <a:xfrm>
            <a:off x="925000" y="2500000"/>
            <a:ext cx="462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1 · IN CLAUDE</a:t>
            </a:r>
          </a:p>
        </p:txBody>
      </p:sp>
      <p:sp>
        <p:nvSpPr>
          <p:cNvPr id="104" name="RightLabel"/>
          <p:cNvSpPr txBox="1"/>
          <p:nvPr/>
        </p:nvSpPr>
        <p:spPr>
          <a:xfrm>
            <a:off x="5745000" y="2500000"/>
            <a:ext cx="5522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2 · IN GOOGLE SHEETS</a:t>
            </a:r>
          </a:p>
        </p:txBody>
      </p:sp>
      <p:pic>
        <p:nvPicPr>
          <p:cNvPr id="105" name="Expor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00" y="2850000"/>
            <a:ext cx="4620000" cy="2200000"/>
          </a:xfrm>
          <a:prstGeom prst="rect">
            <a:avLst/>
          </a:prstGeom>
          <a:ln w="12700">
            <a:solidFill>
              <a:srgbClr val="241452"/>
            </a:solidFill>
          </a:ln>
        </p:spPr>
      </p:pic>
      <p:pic>
        <p:nvPicPr>
          <p:cNvPr id="106" name="Shee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000" y="2850000"/>
            <a:ext cx="5522000" cy="2200000"/>
          </a:xfrm>
          <a:prstGeom prst="rect">
            <a:avLst/>
          </a:prstGeom>
          <a:ln w="12700">
            <a:solidFill>
              <a:srgbClr val="241452"/>
            </a:solidFill>
          </a:ln>
        </p:spPr>
      </p:pic>
      <p:sp>
        <p:nvSpPr>
          <p:cNvPr id="107" name="ToolsLine"/>
          <p:cNvSpPr txBox="1"/>
          <p:nvPr/>
        </p:nvSpPr>
        <p:spPr>
          <a:xfrm>
            <a:off x="762000" y="5350000"/>
            <a:ext cx="106680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spc="150" dirty="0">
                <a:solidFill>
                  <a:srgbClr val="5B8A72"/>
                </a:solidFill>
              </a:rPr>
              <a:t>TOOLS USED ·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helpscout.list_conversations</a:t>
            </a:r>
            <a:r>
              <a:rPr lang="en-US" sz="1400" dirty="0">
                <a:solidFill>
                  <a:srgbClr val="241452"/>
                </a:solidFill>
              </a:rPr>
              <a:t>  → 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gdrive.create_file</a:t>
            </a:r>
          </a:p>
        </p:txBody>
      </p:sp>
      <p:sp>
        <p:nvSpPr>
          <p:cNvPr id="108" name="Explanation"/>
          <p:cNvSpPr txBox="1"/>
          <p:nvPr/>
        </p:nvSpPr>
        <p:spPr>
          <a:xfrm>
            <a:off x="762000" y="5750000"/>
            <a:ext cx="10668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</a:rPr>
              <a:t>Claude held the ticket data from step 1 in context, then handed it to the Drive connector to write a fresh spreadsheet — ticket #, subject, status, customer, assignee, tags, dates, Help Scout ID.</a:t>
            </a:r>
          </a:p>
        </p:txBody>
      </p:sp>
      <p:sp>
        <p:nvSpPr>
          <p:cNvPr id="109" name="BottomCallout"/>
          <p:cNvSpPr txBox="1"/>
          <p:nvPr/>
        </p:nvSpPr>
        <p:spPr>
          <a:xfrm>
            <a:off x="762000" y="6300000"/>
            <a:ext cx="10668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41452"/>
                </a:solidFill>
              </a:rPr>
              <a:t>→  The compounding move. Every new connector multiplies what the others can do.</a:t>
            </a:r>
          </a:p>
        </p:txBody>
      </p:sp>
    </p:spTree>
    <p:extLst>
      <p:ext uri="{BB962C8B-B14F-4D97-AF65-F5344CB8AC3E}">
        <p14:creationId xmlns:p14="http://schemas.microsoft.com/office/powerpoint/2010/main" val="1746048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yebrow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DATABASES</a:t>
            </a:r>
          </a:p>
        </p:txBody>
      </p:sp>
      <p:sp>
        <p:nvSpPr>
          <p:cNvPr id="101" name="Wordmark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dirty="0">
                <a:solidFill>
                  <a:srgbClr val="241452"/>
                </a:solidFill>
                <a:latin typeface="Open Sans"/>
              </a:rPr>
              <a:t>STANDARD CO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762000" y="889000"/>
            <a:ext cx="10668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600" b="1" dirty="0">
                <a:solidFill>
                  <a:srgbClr val="1A1A2E"/>
                </a:solidFill>
                <a:latin typeface="Open Sans"/>
              </a:rPr>
              <a:t>Database MCPs: useful, but not the default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62000" y="1752600"/>
            <a:ext cx="10668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i="1" dirty="0">
                <a:solidFill>
                  <a:srgbClr val="241452"/>
                </a:solidFill>
                <a:latin typeface="Open Sans"/>
              </a:rPr>
              <a:t>For most local dev, Claude Code + the CLI is faster. Reach for an MCP when you get something concrete back.</a:t>
            </a:r>
          </a:p>
        </p:txBody>
      </p:sp>
      <p:sp>
        <p:nvSpPr>
          <p:cNvPr id="200" name="LeftCard"/>
          <p:cNvSpPr/>
          <p:nvPr/>
        </p:nvSpPr>
        <p:spPr>
          <a:xfrm>
            <a:off x="762000" y="2540000"/>
            <a:ext cx="5207000" cy="3556000"/>
          </a:xfrm>
          <a:prstGeom prst="rect">
            <a:avLst/>
          </a:prstGeom>
          <a:solidFill>
            <a:srgbClr val="F0EDE8"/>
          </a:solidFill>
        </p:spPr>
        <p:txBody>
          <a:bodyPr/>
          <a:lstStyle/>
          <a:p>
            <a:endParaRPr lang="en-US"/>
          </a:p>
        </p:txBody>
      </p:sp>
      <p:sp>
        <p:nvSpPr>
          <p:cNvPr id="201" name="LeftBar"/>
          <p:cNvSpPr/>
          <p:nvPr/>
        </p:nvSpPr>
        <p:spPr>
          <a:xfrm>
            <a:off x="762000" y="2540000"/>
            <a:ext cx="50800" cy="3556000"/>
          </a:xfrm>
          <a:prstGeom prst="rect">
            <a:avLst/>
          </a:prstGeom>
          <a:solidFill>
            <a:srgbClr val="5A7D9A"/>
          </a:solidFill>
        </p:spPr>
        <p:txBody>
          <a:bodyPr/>
          <a:lstStyle/>
          <a:p>
            <a:endParaRPr lang="en-US"/>
          </a:p>
        </p:txBody>
      </p:sp>
      <p:sp>
        <p:nvSpPr>
          <p:cNvPr id="202" name="LeftKicker"/>
          <p:cNvSpPr txBox="1"/>
          <p:nvPr/>
        </p:nvSpPr>
        <p:spPr>
          <a:xfrm>
            <a:off x="1016000" y="2768600"/>
            <a:ext cx="469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5A7D9A"/>
                </a:solidFill>
                <a:latin typeface="Open Sans"/>
              </a:rPr>
              <a:t>THE DEFAULT</a:t>
            </a:r>
          </a:p>
        </p:txBody>
      </p:sp>
      <p:sp>
        <p:nvSpPr>
          <p:cNvPr id="203" name="LeftTitle"/>
          <p:cNvSpPr txBox="1"/>
          <p:nvPr/>
        </p:nvSpPr>
        <p:spPr>
          <a:xfrm>
            <a:off x="1016000" y="3073400"/>
            <a:ext cx="4699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CLI + connection string</a:t>
            </a:r>
          </a:p>
        </p:txBody>
      </p:sp>
      <p:sp>
        <p:nvSpPr>
          <p:cNvPr id="204" name="LeftSummary"/>
          <p:cNvSpPr txBox="1"/>
          <p:nvPr/>
        </p:nvSpPr>
        <p:spPr>
          <a:xfrm>
            <a:off x="1016000" y="3556000"/>
            <a:ext cx="4699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  <a:latin typeface="Open Sans"/>
              </a:rPr>
              <a:t>Claude Code runs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psql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,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mysql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,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sqlite3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 directly against your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DATABASE_URL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.</a:t>
            </a:r>
          </a:p>
        </p:txBody>
      </p:sp>
      <p:sp>
        <p:nvSpPr>
          <p:cNvPr id="210" name="LeftBullet1"/>
          <p:cNvSpPr txBox="1"/>
          <p:nvPr/>
        </p:nvSpPr>
        <p:spPr>
          <a:xfrm>
            <a:off x="1016000" y="42926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A7D9A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Zero setup — if it's on your PATH, it works</a:t>
            </a:r>
          </a:p>
        </p:txBody>
      </p:sp>
      <p:sp>
        <p:nvSpPr>
          <p:cNvPr id="211" name="LeftBullet2"/>
          <p:cNvSpPr txBox="1"/>
          <p:nvPr/>
        </p:nvSpPr>
        <p:spPr>
          <a:xfrm>
            <a:off x="1016000" y="46482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A7D9A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Claude knows SQL + these tools cold</a:t>
            </a:r>
          </a:p>
        </p:txBody>
      </p:sp>
      <p:sp>
        <p:nvSpPr>
          <p:cNvPr id="212" name="LeftBullet3"/>
          <p:cNvSpPr txBox="1"/>
          <p:nvPr/>
        </p:nvSpPr>
        <p:spPr>
          <a:xfrm>
            <a:off x="1016000" y="50038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A7D9A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Composes with bash: pipe, redirect, grep</a:t>
            </a:r>
          </a:p>
        </p:txBody>
      </p:sp>
      <p:sp>
        <p:nvSpPr>
          <p:cNvPr id="213" name="LeftBullet4"/>
          <p:cNvSpPr txBox="1"/>
          <p:nvPr/>
        </p:nvSpPr>
        <p:spPr>
          <a:xfrm>
            <a:off x="1016000" y="535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A7D9A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Read-only role on the DB = your real safety net</a:t>
            </a:r>
          </a:p>
        </p:txBody>
      </p:sp>
      <p:sp>
        <p:nvSpPr>
          <p:cNvPr id="300" name="RightCard"/>
          <p:cNvSpPr/>
          <p:nvPr/>
        </p:nvSpPr>
        <p:spPr>
          <a:xfrm>
            <a:off x="6223000" y="2540000"/>
            <a:ext cx="5207000" cy="3556000"/>
          </a:xfrm>
          <a:prstGeom prst="rect">
            <a:avLst/>
          </a:prstGeom>
          <a:solidFill>
            <a:srgbClr val="F0EDE8"/>
          </a:solidFill>
        </p:spPr>
        <p:txBody>
          <a:bodyPr/>
          <a:lstStyle/>
          <a:p>
            <a:endParaRPr lang="en-US"/>
          </a:p>
        </p:txBody>
      </p:sp>
      <p:sp>
        <p:nvSpPr>
          <p:cNvPr id="301" name="RightBar"/>
          <p:cNvSpPr/>
          <p:nvPr/>
        </p:nvSpPr>
        <p:spPr>
          <a:xfrm>
            <a:off x="6223000" y="2540000"/>
            <a:ext cx="50800" cy="3556000"/>
          </a:xfrm>
          <a:prstGeom prst="rect">
            <a:avLst/>
          </a:prstGeom>
          <a:solidFill>
            <a:srgbClr val="5B8A72"/>
          </a:solidFill>
        </p:spPr>
        <p:txBody>
          <a:bodyPr/>
          <a:lstStyle/>
          <a:p>
            <a:endParaRPr lang="en-US"/>
          </a:p>
        </p:txBody>
      </p:sp>
      <p:sp>
        <p:nvSpPr>
          <p:cNvPr id="302" name="RightKicker"/>
          <p:cNvSpPr txBox="1"/>
          <p:nvPr/>
        </p:nvSpPr>
        <p:spPr>
          <a:xfrm>
            <a:off x="6477000" y="2768600"/>
            <a:ext cx="4699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5B8A72"/>
                </a:solidFill>
                <a:latin typeface="Open Sans"/>
              </a:rPr>
              <a:t>WHEN MCP EARNS ITS KEEP</a:t>
            </a:r>
          </a:p>
        </p:txBody>
      </p:sp>
      <p:sp>
        <p:nvSpPr>
          <p:cNvPr id="303" name="RightTitle"/>
          <p:cNvSpPr txBox="1"/>
          <p:nvPr/>
        </p:nvSpPr>
        <p:spPr>
          <a:xfrm>
            <a:off x="6477000" y="3073400"/>
            <a:ext cx="4699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Database MCP server</a:t>
            </a:r>
          </a:p>
        </p:txBody>
      </p:sp>
      <p:sp>
        <p:nvSpPr>
          <p:cNvPr id="304" name="RightSummary"/>
          <p:cNvSpPr txBox="1"/>
          <p:nvPr/>
        </p:nvSpPr>
        <p:spPr>
          <a:xfrm>
            <a:off x="6477000" y="3556000"/>
            <a:ext cx="46990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241452"/>
                </a:solidFill>
                <a:latin typeface="Open Sans"/>
              </a:rPr>
              <a:t>A server (Postgres, Snowflake, BigQuery, etc.) exposes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list_tables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,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describe_table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, </a:t>
            </a:r>
            <a:r>
              <a:rPr lang="en-US" sz="1400" dirty="0">
                <a:solidFill>
                  <a:srgbClr val="241452"/>
                </a:solidFill>
                <a:latin typeface="Consolas"/>
              </a:rPr>
              <a:t>read_query</a:t>
            </a:r>
            <a:r>
              <a:rPr lang="en-US" sz="1400" dirty="0">
                <a:solidFill>
                  <a:srgbClr val="241452"/>
                </a:solidFill>
                <a:latin typeface="Open Sans"/>
              </a:rPr>
              <a:t>.</a:t>
            </a:r>
          </a:p>
        </p:txBody>
      </p:sp>
      <p:sp>
        <p:nvSpPr>
          <p:cNvPr id="310" name="RightBullet1"/>
          <p:cNvSpPr txBox="1"/>
          <p:nvPr/>
        </p:nvSpPr>
        <p:spPr>
          <a:xfrm>
            <a:off x="6477000" y="42926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B8A72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Schema introspection as a structured tool call</a:t>
            </a:r>
          </a:p>
        </p:txBody>
      </p:sp>
      <p:sp>
        <p:nvSpPr>
          <p:cNvPr id="311" name="RightBullet2"/>
          <p:cNvSpPr txBox="1"/>
          <p:nvPr/>
        </p:nvSpPr>
        <p:spPr>
          <a:xfrm>
            <a:off x="6477000" y="46482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B8A72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Warehouses without a nice CLI (Snowflake, BigQuery)</a:t>
            </a:r>
          </a:p>
        </p:txBody>
      </p:sp>
      <p:sp>
        <p:nvSpPr>
          <p:cNvPr id="312" name="RightBullet3"/>
          <p:cNvSpPr txBox="1"/>
          <p:nvPr/>
        </p:nvSpPr>
        <p:spPr>
          <a:xfrm>
            <a:off x="6477000" y="50038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B8A72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Multiple DBs in one session, cleanly named</a:t>
            </a:r>
          </a:p>
        </p:txBody>
      </p:sp>
      <p:sp>
        <p:nvSpPr>
          <p:cNvPr id="313" name="RightBullet4"/>
          <p:cNvSpPr txBox="1"/>
          <p:nvPr/>
        </p:nvSpPr>
        <p:spPr>
          <a:xfrm>
            <a:off x="6477000" y="535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5B8A72"/>
                </a:solidFill>
                <a:latin typeface="Open Sans"/>
              </a:rPr>
              <a:t>→  </a:t>
            </a:r>
            <a:r>
              <a:rPr lang="en-US" sz="1300" dirty="0">
                <a:solidFill>
                  <a:srgbClr val="241452"/>
                </a:solidFill>
                <a:latin typeface="Open Sans"/>
              </a:rPr>
              <a:t>Available in Claude.ai, not just Claude Code</a:t>
            </a:r>
          </a:p>
        </p:txBody>
      </p:sp>
      <p:sp>
        <p:nvSpPr>
          <p:cNvPr id="400" name="BottomCallout"/>
          <p:cNvSpPr txBox="1"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241452"/>
                </a:solidFill>
                <a:latin typeface="Open Sans"/>
              </a:rPr>
              <a:t>→  Start with the CLI. Add a DB MCP when introspection, warehouses, or Claude.ai access actually buy you something.</a:t>
            </a:r>
          </a:p>
        </p:txBody>
      </p:sp>
    </p:spTree>
    <p:extLst>
      <p:ext uri="{BB962C8B-B14F-4D97-AF65-F5344CB8AC3E}">
        <p14:creationId xmlns:p14="http://schemas.microsoft.com/office/powerpoint/2010/main" val="2765830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B457-7963-0F74-F30B-3A4ACE44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Connectors are permission-aware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SAFETY &amp; PERMISSIONS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1714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5A7D9A"/>
                </a:solidFill>
                <a:latin typeface="Open Sans"/>
              </a:rPr>
              <a:t>You decide what Claude can see, what it can do, and when to confirm before it acts.</a:t>
            </a:r>
          </a:p>
        </p:txBody>
      </p:sp>
      <p:sp>
        <p:nvSpPr>
          <p:cNvPr id="200" name="S200"/>
          <p:cNvSpPr/>
          <p:nvPr/>
        </p:nvSpPr>
        <p:spPr>
          <a:xfrm>
            <a:off x="1016000" y="2476500"/>
            <a:ext cx="3251200" cy="3556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1"/>
          <p:cNvSpPr/>
          <p:nvPr/>
        </p:nvSpPr>
        <p:spPr>
          <a:xfrm>
            <a:off x="1016000" y="2476500"/>
            <a:ext cx="76200" cy="35560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202"/>
          <p:cNvSpPr txBox="1"/>
          <p:nvPr/>
        </p:nvSpPr>
        <p:spPr>
          <a:xfrm>
            <a:off x="1320800" y="2781300"/>
            <a:ext cx="2641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241452"/>
                </a:solidFill>
                <a:latin typeface="Open Sans"/>
              </a:rPr>
              <a:t>01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320800" y="3390900"/>
            <a:ext cx="2641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Scoped access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1320800" y="3949700"/>
            <a:ext cx="26416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Each connector only sees what you approve. A Notion connector doesn’t get your whole workspace — you scope it to specific pages or databases.</a:t>
            </a:r>
          </a:p>
        </p:txBody>
      </p:sp>
      <p:sp>
        <p:nvSpPr>
          <p:cNvPr id="205" name="S205"/>
          <p:cNvSpPr/>
          <p:nvPr/>
        </p:nvSpPr>
        <p:spPr>
          <a:xfrm>
            <a:off x="4470400" y="2476500"/>
            <a:ext cx="3251200" cy="3556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6"/>
          <p:cNvSpPr/>
          <p:nvPr/>
        </p:nvSpPr>
        <p:spPr>
          <a:xfrm>
            <a:off x="4470400" y="2476500"/>
            <a:ext cx="76200" cy="35560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4775200" y="2781300"/>
            <a:ext cx="2641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5B8A72"/>
                </a:solidFill>
                <a:latin typeface="Open Sans"/>
              </a:rPr>
              <a:t>02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4775200" y="3390900"/>
            <a:ext cx="2641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Least privilege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4775200" y="3949700"/>
            <a:ext cx="26416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Grant only the permissions the task actually needs. If Claude just reads tickets, don’t give it write access.</a:t>
            </a:r>
          </a:p>
        </p:txBody>
      </p:sp>
      <p:sp>
        <p:nvSpPr>
          <p:cNvPr id="210" name="S210"/>
          <p:cNvSpPr/>
          <p:nvPr/>
        </p:nvSpPr>
        <p:spPr>
          <a:xfrm>
            <a:off x="7924800" y="2476500"/>
            <a:ext cx="3251200" cy="3556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211"/>
          <p:cNvSpPr/>
          <p:nvPr/>
        </p:nvSpPr>
        <p:spPr>
          <a:xfrm>
            <a:off x="7924800" y="2476500"/>
            <a:ext cx="76200" cy="3556000"/>
          </a:xfrm>
          <a:prstGeom prst="rect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8229600" y="2781300"/>
            <a:ext cx="2641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C4955A"/>
                </a:solidFill>
                <a:latin typeface="Open Sans"/>
              </a:rPr>
              <a:t>03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8229600" y="3390900"/>
            <a:ext cx="2641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A1A2E"/>
                </a:solidFill>
                <a:latin typeface="Open Sans"/>
              </a:rPr>
              <a:t>User control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8229600" y="3949700"/>
            <a:ext cx="26416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For sensitive actions — deletes, public posts, anything destructive — Claude asks before executing. You stay in the loop.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762000" y="6286500"/>
            <a:ext cx="1066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i="1" dirty="0">
                <a:solidFill>
                  <a:srgbClr val="5A7D9A"/>
                </a:solidFill>
                <a:latin typeface="Open Sans"/>
              </a:rPr>
              <a:t>Tip: your CLAUDE.md from Session 2 can carry rules about which connectors are allowed where.</a:t>
            </a:r>
          </a:p>
        </p:txBody>
      </p:sp>
    </p:spTree>
    <p:extLst>
      <p:ext uri="{BB962C8B-B14F-4D97-AF65-F5344CB8AC3E}">
        <p14:creationId xmlns:p14="http://schemas.microsoft.com/office/powerpoint/2010/main" val="3701805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B138-01B6-FD18-B91D-A4A95D13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Try it this week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GETTING STARTED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1714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5A7D9A"/>
                </a:solidFill>
                <a:latin typeface="Open Sans"/>
              </a:rPr>
              <a:t>Connect at least one tool. Pick the path that matches how you work.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2476500"/>
            <a:ext cx="10668000" cy="1143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1"/>
          <p:cNvSpPr/>
          <p:nvPr/>
        </p:nvSpPr>
        <p:spPr>
          <a:xfrm>
            <a:off x="1016000" y="2705100"/>
            <a:ext cx="1219200" cy="355600"/>
          </a:xfrm>
          <a:prstGeom prst="round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202"/>
          <p:cNvSpPr txBox="1"/>
          <p:nvPr/>
        </p:nvSpPr>
        <p:spPr>
          <a:xfrm>
            <a:off x="1016000" y="2705100"/>
            <a:ext cx="1219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200" dirty="0">
                <a:solidFill>
                  <a:srgbClr val="FFFFFF"/>
                </a:solidFill>
                <a:latin typeface="Open Sans"/>
              </a:rPr>
              <a:t>EASIEST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2540000" y="2654300"/>
            <a:ext cx="33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1A1A2E"/>
                </a:solidFill>
                <a:latin typeface="Open Sans"/>
              </a:rPr>
              <a:t>Claude.ai / Desktop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2540000" y="3111500"/>
            <a:ext cx="8636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Settings › Connectors › browse the directory › toggle on › authorize.</a:t>
            </a:r>
          </a:p>
        </p:txBody>
      </p:sp>
      <p:sp>
        <p:nvSpPr>
          <p:cNvPr id="205" name="S205"/>
          <p:cNvSpPr/>
          <p:nvPr/>
        </p:nvSpPr>
        <p:spPr>
          <a:xfrm>
            <a:off x="762000" y="3797300"/>
            <a:ext cx="10668000" cy="1143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6"/>
          <p:cNvSpPr/>
          <p:nvPr/>
        </p:nvSpPr>
        <p:spPr>
          <a:xfrm>
            <a:off x="1016000" y="4025900"/>
            <a:ext cx="1219200" cy="355600"/>
          </a:xfrm>
          <a:prstGeom prst="round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1016000" y="4025900"/>
            <a:ext cx="1219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200" dirty="0">
                <a:solidFill>
                  <a:srgbClr val="FFFFFF"/>
                </a:solidFill>
                <a:latin typeface="Open Sans"/>
              </a:rPr>
              <a:t>PROJECT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2540000" y="3975100"/>
            <a:ext cx="33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1A1A2E"/>
                </a:solidFill>
                <a:latin typeface="Open Sans"/>
              </a:rPr>
              <a:t>Claude Code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2540000" y="4432300"/>
            <a:ext cx="8636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Add connector config to .claude/settings.json (per-project) or your user settings.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5118100"/>
            <a:ext cx="10668000" cy="1143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211"/>
          <p:cNvSpPr/>
          <p:nvPr/>
        </p:nvSpPr>
        <p:spPr>
          <a:xfrm>
            <a:off x="1016000" y="5346700"/>
            <a:ext cx="1219200" cy="355600"/>
          </a:xfrm>
          <a:prstGeom prst="roundRect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1016000" y="5346700"/>
            <a:ext cx="1219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100" b="1" spc="200" dirty="0">
                <a:solidFill>
                  <a:srgbClr val="FFFFFF"/>
                </a:solidFill>
                <a:latin typeface="Open Sans"/>
              </a:rPr>
              <a:t>CUSTOM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2540000" y="5295900"/>
            <a:ext cx="33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1A1A2E"/>
                </a:solidFill>
                <a:latin typeface="Open Sans"/>
              </a:rPr>
              <a:t>Build your own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2540000" y="5753100"/>
            <a:ext cx="8636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dirty="0">
                <a:solidFill>
                  <a:srgbClr val="1A1A2E"/>
                </a:solidFill>
                <a:latin typeface="Open Sans"/>
              </a:rPr>
              <a:t>Use the MCP SDK to connect Claude to an internal tool that doesn’t have a connector yet.</a:t>
            </a:r>
          </a:p>
        </p:txBody>
      </p:sp>
    </p:spTree>
    <p:extLst>
      <p:ext uri="{BB962C8B-B14F-4D97-AF65-F5344CB8AC3E}">
        <p14:creationId xmlns:p14="http://schemas.microsoft.com/office/powerpoint/2010/main" val="2428553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6F64-8877-1C3B-6D28-F849CFEF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89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1A1A2E"/>
                </a:solidFill>
                <a:latin typeface="Open Sans"/>
              </a:rPr>
              <a:t>Coming up in the series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WHAT’S NEXT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762000" y="1714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5A7D9A"/>
                </a:solidFill>
                <a:latin typeface="Open Sans"/>
              </a:rPr>
              <a:t>Three more sessions. Each builds on what we’ve covered so far.</a:t>
            </a:r>
          </a:p>
        </p:txBody>
      </p:sp>
      <p:sp>
        <p:nvSpPr>
          <p:cNvPr id="200" name="S200"/>
          <p:cNvSpPr/>
          <p:nvPr/>
        </p:nvSpPr>
        <p:spPr>
          <a:xfrm>
            <a:off x="723900" y="2476500"/>
            <a:ext cx="3429000" cy="3556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S201"/>
          <p:cNvSpPr/>
          <p:nvPr/>
        </p:nvSpPr>
        <p:spPr>
          <a:xfrm>
            <a:off x="723900" y="2476500"/>
            <a:ext cx="3429000" cy="76200"/>
          </a:xfrm>
          <a:prstGeom prst="rect">
            <a:avLst/>
          </a:prstGeom>
          <a:solidFill>
            <a:srgbClr val="5B8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202"/>
          <p:cNvSpPr txBox="1"/>
          <p:nvPr/>
        </p:nvSpPr>
        <p:spPr>
          <a:xfrm>
            <a:off x="1028700" y="27813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5B8A72"/>
                </a:solidFill>
                <a:latin typeface="Open Sans"/>
              </a:rPr>
              <a:t>JUNE · SESSION 4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028700" y="3187700"/>
            <a:ext cx="2819400" cy="86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Open Sans"/>
              </a:rPr>
              <a:t>Building a Claude Agent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1028700" y="4229100"/>
            <a:ext cx="28194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How Standard Co built an agent for customer success — humans in the loop, a real case study from our own work.</a:t>
            </a:r>
          </a:p>
        </p:txBody>
      </p:sp>
      <p:sp>
        <p:nvSpPr>
          <p:cNvPr id="205" name="S205"/>
          <p:cNvSpPr/>
          <p:nvPr/>
        </p:nvSpPr>
        <p:spPr>
          <a:xfrm>
            <a:off x="4381500" y="2476500"/>
            <a:ext cx="3429000" cy="3556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S206"/>
          <p:cNvSpPr/>
          <p:nvPr/>
        </p:nvSpPr>
        <p:spPr>
          <a:xfrm>
            <a:off x="4381500" y="2476500"/>
            <a:ext cx="3429000" cy="76200"/>
          </a:xfrm>
          <a:prstGeom prst="rect">
            <a:avLst/>
          </a:prstGeom>
          <a:solidFill>
            <a:srgbClr val="C495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4686300" y="27813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C4955A"/>
                </a:solidFill>
                <a:latin typeface="Open Sans"/>
              </a:rPr>
              <a:t>JULY · SESSION 5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4686300" y="3187700"/>
            <a:ext cx="2819400" cy="86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Open Sans"/>
              </a:rPr>
              <a:t>GitHub &amp; deployments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4686300" y="4229100"/>
            <a:ext cx="28194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Workflow integrations: pull requests, deployments, release notes — Claude across the dev lifecycle.</a:t>
            </a:r>
          </a:p>
        </p:txBody>
      </p:sp>
      <p:sp>
        <p:nvSpPr>
          <p:cNvPr id="210" name="S210"/>
          <p:cNvSpPr/>
          <p:nvPr/>
        </p:nvSpPr>
        <p:spPr>
          <a:xfrm>
            <a:off x="8039100" y="2476500"/>
            <a:ext cx="3429000" cy="3556000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S211"/>
          <p:cNvSpPr/>
          <p:nvPr/>
        </p:nvSpPr>
        <p:spPr>
          <a:xfrm>
            <a:off x="8039100" y="2476500"/>
            <a:ext cx="3429000" cy="76200"/>
          </a:xfrm>
          <a:prstGeom prst="rect">
            <a:avLst/>
          </a:prstGeom>
          <a:solidFill>
            <a:srgbClr val="7B6B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T212"/>
          <p:cNvSpPr txBox="1"/>
          <p:nvPr/>
        </p:nvSpPr>
        <p:spPr>
          <a:xfrm>
            <a:off x="8343900" y="2781300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b="1" spc="200" dirty="0">
                <a:solidFill>
                  <a:srgbClr val="7B6B8D"/>
                </a:solidFill>
                <a:latin typeface="Open Sans"/>
              </a:rPr>
              <a:t>AUGUST · SESSION 6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8343900" y="3187700"/>
            <a:ext cx="2819400" cy="86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Open Sans"/>
              </a:rPr>
              <a:t>Chrome, cloud &amp; sharing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8343900" y="4229100"/>
            <a:ext cx="28194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Open Sans"/>
              </a:rPr>
              <a:t>Chrome extension, AWS/Azure integrations, and sharing context across a team. Series wrap-up.</a:t>
            </a:r>
          </a:p>
        </p:txBody>
      </p:sp>
    </p:spTree>
    <p:extLst>
      <p:ext uri="{BB962C8B-B14F-4D97-AF65-F5344CB8AC3E}">
        <p14:creationId xmlns:p14="http://schemas.microsoft.com/office/powerpoint/2010/main" val="2090119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9996-58F9-D8A6-0A4D-747E52F2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/>
          <a:lstStyle/>
          <a:p>
            <a:pPr algn="ctr">
              <a:buNone/>
            </a:pPr>
            <a:r>
              <a:rPr lang="en-US" sz="8000" b="1" dirty="0">
                <a:solidFill>
                  <a:srgbClr val="1A1A2E"/>
                </a:solidFill>
                <a:latin typeface="Open Sans"/>
              </a:rPr>
              <a:t>Questions?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762000" y="457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41452"/>
                </a:solidFill>
                <a:latin typeface="Open Sans"/>
              </a:rPr>
              <a:t>SESSION 3 · MAY 28, 2026</a:t>
            </a:r>
          </a:p>
        </p:txBody>
      </p:sp>
      <p:sp>
        <p:nvSpPr>
          <p:cNvPr id="101" name="T101"/>
          <p:cNvSpPr txBox="1"/>
          <p:nvPr/>
        </p:nvSpPr>
        <p:spPr>
          <a:xfrm>
            <a:off x="9144000" y="4572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200" b="1" spc="200" dirty="0">
                <a:solidFill>
                  <a:srgbClr val="241452"/>
                </a:solidFill>
                <a:latin typeface="Raleway"/>
              </a:rPr>
              <a:t>STANDARD CO</a:t>
            </a:r>
          </a:p>
        </p:txBody>
      </p:sp>
      <p:sp>
        <p:nvSpPr>
          <p:cNvPr id="200" name="S200"/>
          <p:cNvSpPr/>
          <p:nvPr/>
        </p:nvSpPr>
        <p:spPr>
          <a:xfrm>
            <a:off x="5486400" y="4191000"/>
            <a:ext cx="1219200" cy="508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201"/>
          <p:cNvSpPr txBox="1"/>
          <p:nvPr/>
        </p:nvSpPr>
        <p:spPr>
          <a:xfrm>
            <a:off x="762000" y="45720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dirty="0">
                <a:solidFill>
                  <a:srgbClr val="5A7D9A"/>
                </a:solidFill>
                <a:latin typeface="Open Sans"/>
              </a:rPr>
              <a:t>Security, custom connectors, cost, where to start — anything.</a:t>
            </a:r>
          </a:p>
        </p:txBody>
      </p:sp>
    </p:spTree>
    <p:extLst>
      <p:ext uri="{BB962C8B-B14F-4D97-AF65-F5344CB8AC3E}">
        <p14:creationId xmlns:p14="http://schemas.microsoft.com/office/powerpoint/2010/main" val="135478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896628780]">
  <a:themeElements>
    <a:clrScheme name="Office">
      <a:dk1>
        <a:srgbClr val="1A1A2E"/>
      </a:dk1>
      <a:lt1>
        <a:srgbClr val="FFFFFF"/>
      </a:lt1>
      <a:dk2>
        <a:srgbClr val="241452"/>
      </a:dk2>
      <a:lt2>
        <a:srgbClr val="F0EDE8"/>
      </a:lt2>
      <a:accent1>
        <a:srgbClr val="241452"/>
      </a:accent1>
      <a:accent2>
        <a:srgbClr val="5B8A72"/>
      </a:accent2>
      <a:accent3>
        <a:srgbClr val="7B6B8D"/>
      </a:accent3>
      <a:accent4>
        <a:srgbClr val="C4955A"/>
      </a:accent4>
      <a:accent5>
        <a:srgbClr val="5A7D9A"/>
      </a:accent5>
      <a:accent6>
        <a:srgbClr val="8B6E5D"/>
      </a:accent6>
      <a:hlink>
        <a:srgbClr val="467886"/>
      </a:hlink>
      <a:folHlink>
        <a:srgbClr val="96607D"/>
      </a:folHlink>
    </a:clrScheme>
    <a:fontScheme name="Office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23D320-8D47-9543-8DFA-22E272E12D3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0e8e616-7939-4c32-beac-9c4aab2ba8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2160</Words>
  <Application>Microsoft Macintosh PowerPoint</Application>
  <PresentationFormat>Widescreen</PresentationFormat>
  <Paragraphs>266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Consolas</vt:lpstr>
      <vt:lpstr>Open Sans</vt:lpstr>
      <vt:lpstr>Raleway</vt:lpstr>
      <vt:lpstr>Office Theme [1779896628780]</vt:lpstr>
      <vt:lpstr>Claude Connectors</vt:lpstr>
      <vt:lpstr>Where we’ve been</vt:lpstr>
      <vt:lpstr>MCP vs Connectors</vt:lpstr>
      <vt:lpstr>Claude is powerful, but isolated</vt:lpstr>
      <vt:lpstr>Connectors let Claude use your tools directly</vt:lpstr>
      <vt:lpstr>Available everywhere Claude runs</vt:lpstr>
      <vt:lpstr>Setup once, then use every day</vt:lpstr>
      <vt:lpstr>PowerPoint Presentation</vt:lpstr>
      <vt:lpstr>What can you actually do with this?</vt:lpstr>
      <vt:lpstr>Let’s see it in action</vt:lpstr>
      <vt:lpstr>Notion Connector</vt:lpstr>
      <vt:lpstr>Claude × Help Scout</vt:lpstr>
      <vt:lpstr>Local MCPs live on this machine</vt:lpstr>
      <vt:lpstr>Marketplace vs Custom Connectors</vt:lpstr>
      <vt:lpstr>Read: fetch tickets from Help Scout</vt:lpstr>
      <vt:lpstr>Write: leave a draft reply on the ticket</vt:lpstr>
      <vt:lpstr>Chain: Help Scout × Google Sheets</vt:lpstr>
      <vt:lpstr>PowerPoint Presentation</vt:lpstr>
      <vt:lpstr>Connectors are permission-aware</vt:lpstr>
      <vt:lpstr>Try it this week</vt:lpstr>
      <vt:lpstr>Coming up in the series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Nesbitt</dc:creator>
  <cp:lastModifiedBy>Jonathan Nesbitt</cp:lastModifiedBy>
  <cp:revision>7</cp:revision>
  <dcterms:created xsi:type="dcterms:W3CDTF">2026-05-27T15:38:58Z</dcterms:created>
  <dcterms:modified xsi:type="dcterms:W3CDTF">2026-05-28T21:06:29Z</dcterms:modified>
</cp:coreProperties>
</file>